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12192000" cy="6858000"/>
  <p:notesSz cx="6858000" cy="9144000"/>
  <p:defaultTex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Updated from supplied Planwise status screenshots dated 22 October 2026. Total Segments summed by release: R1 rows 2–4 = 7+20+7 = 34; R2 rows 5–32 = 27 single-segment rows plus one 3-segment row = 30; R3 rows 33–40 = 7 single-segment rows plus one 6-segment row = 13; R4 rows 41–47 = 6 single-segment rows plus one 4-segment row = 10; R5 rows 48–52 = 1+1+3+3+4 = 12. Total scope = 99 segments. R2 deployment and business approval completed. Other scope totals do not imply release completion. File counts are not inferred from segment counts. Historic July POC milestone retained from supplied deck. Layout and images preserved.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0D4DE4A-D903-4D9F-BB51-55862E6E3DB6}"/>
              </a:ext>
            </a:extLst>
          </p:cNvPr>
          <p:cNvSpPr>
            <a:spLocks noGrp="1"/>
          </p:cNvSpPr>
          <p:nvPr/>
        </p:nvSpPr>
        <p:spPr>
          <a:xfrm>
            <a:off x="0" y="0"/>
            <a:ext cx="12191695" cy="530352"/>
          </a:xfrm>
          <a:prstGeom prst="rect">
            <a:avLst/>
          </a:prstGeom>
          <a:solidFill>
            <a:srgbClr val="17266D"/>
          </a:solidFill>
          <a:ln w="12700">
            <a:solidFill>
              <a:srgbClr val="17266D"/>
            </a:solidFill>
            <a:prstDash val="solid"/>
          </a:ln>
        </p:spPr>
        <p:txBody>
          <a:bodyPr/>
          <a:lstStyle/>
          <a:p>
            <a:endParaRPr/>
          </a:p>
        </p:txBody>
      </p:sp>
      <p:sp>
        <p:nvSpPr>
          <p:cNvPr id="3" name="Text 1">
            <a:extLst>
              <a:ext uri="{FF2B5EF4-FFF2-40B4-BE49-F238E27FC236}">
                <a16:creationId xmlns:a16="http://schemas.microsoft.com/office/drawing/2014/main" id="{7680279D-6C53-49E2-8194-6B46A5043BFA}"/>
              </a:ext>
            </a:extLst>
          </p:cNvPr>
          <p:cNvSpPr>
            <a:spLocks noGrp="1"/>
          </p:cNvSpPr>
          <p:nvPr/>
        </p:nvSpPr>
        <p:spPr>
          <a:xfrm>
            <a:off x="228600" y="73152"/>
            <a:ext cx="4937760" cy="256032"/>
          </a:xfrm>
          <a:prstGeom prst="rect">
            <a:avLst/>
          </a:prstGeom>
          <a:noFill/>
        </p:spPr>
        <p:txBody>
          <a:bodyPr wrap="square" lIns="0" tIns="0" rIns="0" bIns="0" anchor="ctr">
            <a:normAutofit fontScale="92500" lnSpcReduction="20000"/>
          </a:bodyPr>
          <a:lstStyle/>
          <a:p>
            <a:pPr marL="0" indent="0" algn="l">
              <a:buNone/>
            </a:pPr>
            <a:r>
              <a:rPr sz="2200" b="1">
                <a:solidFill>
                  <a:srgbClr val="FFFFFF"/>
                </a:solidFill>
                <a:latin typeface="Aptos Display"/>
                <a:ea typeface="Aptos Display"/>
                <a:cs typeface="Aptos Display"/>
              </a:rPr>
              <a:t>CSRA FS Automation Project</a:t>
            </a:r>
            <a:endParaRPr sz="2200"/>
          </a:p>
        </p:txBody>
      </p:sp>
      <p:sp>
        <p:nvSpPr>
          <p:cNvPr id="4" name="Text 2">
            <a:extLst>
              <a:ext uri="{FF2B5EF4-FFF2-40B4-BE49-F238E27FC236}">
                <a16:creationId xmlns:a16="http://schemas.microsoft.com/office/drawing/2014/main" id="{9B5964C1-9060-4877-B7AD-3E8B76173893}"/>
              </a:ext>
            </a:extLst>
          </p:cNvPr>
          <p:cNvSpPr>
            <a:spLocks noGrp="1"/>
          </p:cNvSpPr>
          <p:nvPr/>
        </p:nvSpPr>
        <p:spPr>
          <a:xfrm>
            <a:off x="237744" y="356616"/>
            <a:ext cx="8778240" cy="137160"/>
          </a:xfrm>
          <a:prstGeom prst="rect">
            <a:avLst/>
          </a:prstGeom>
          <a:noFill/>
        </p:spPr>
        <p:txBody>
          <a:bodyPr wrap="square" lIns="0" tIns="0" rIns="0" bIns="0" anchor="ctr">
            <a:normAutofit/>
          </a:bodyPr>
          <a:lstStyle/>
          <a:p>
            <a:pPr marL="0" indent="0" algn="l">
              <a:buNone/>
            </a:pPr>
            <a:r>
              <a:rPr sz="900">
                <a:solidFill>
                  <a:srgbClr val="FFFFFF"/>
                </a:solidFill>
                <a:latin typeface="Calibri"/>
                <a:ea typeface="Calibri"/>
                <a:cs typeface="Calibri"/>
              </a:rPr>
              <a:t>Standardizing and automating the CSRA fee schedule process to improve accuracy, efficiency, and scalability.</a:t>
            </a:r>
            <a:endParaRPr sz="900">
              <a:latin typeface="Calibri"/>
              <a:ea typeface="Calibri"/>
              <a:cs typeface="Calibri"/>
            </a:endParaRPr>
          </a:p>
        </p:txBody>
      </p:sp>
      <p:sp>
        <p:nvSpPr>
          <p:cNvPr id="5" name="Shape 3">
            <a:extLst>
              <a:ext uri="{FF2B5EF4-FFF2-40B4-BE49-F238E27FC236}">
                <a16:creationId xmlns:a16="http://schemas.microsoft.com/office/drawing/2014/main" id="{EE8BE296-93D3-49A5-A88D-D8A3FCC43F01}"/>
              </a:ext>
            </a:extLst>
          </p:cNvPr>
          <p:cNvSpPr>
            <a:spLocks noGrp="1"/>
          </p:cNvSpPr>
          <p:nvPr/>
        </p:nvSpPr>
        <p:spPr>
          <a:xfrm>
            <a:off x="164592" y="658368"/>
            <a:ext cx="11868912" cy="749808"/>
          </a:xfrm>
          <a:prstGeom prst="roundRect">
            <a:avLst>
              <a:gd name="adj" fmla="val 7317"/>
            </a:avLst>
          </a:prstGeom>
          <a:solidFill>
            <a:srgbClr val="F8FCFF"/>
          </a:solidFill>
          <a:ln w="8890">
            <a:solidFill>
              <a:srgbClr val="A7D4F8"/>
            </a:solidFill>
            <a:prstDash val="solid"/>
          </a:ln>
        </p:spPr>
        <p:txBody>
          <a:bodyPr/>
          <a:lstStyle/>
          <a:p>
            <a:endParaRPr/>
          </a:p>
        </p:txBody>
      </p:sp>
      <p:sp>
        <p:nvSpPr>
          <p:cNvPr id="6" name="Shape 4">
            <a:extLst>
              <a:ext uri="{FF2B5EF4-FFF2-40B4-BE49-F238E27FC236}">
                <a16:creationId xmlns:a16="http://schemas.microsoft.com/office/drawing/2014/main" id="{0AF1BFE1-2779-4E22-B9E1-FF88FAC06E87}"/>
              </a:ext>
            </a:extLst>
          </p:cNvPr>
          <p:cNvSpPr>
            <a:spLocks noGrp="1"/>
          </p:cNvSpPr>
          <p:nvPr/>
        </p:nvSpPr>
        <p:spPr>
          <a:xfrm>
            <a:off x="164592" y="658368"/>
            <a:ext cx="11868912" cy="228600"/>
          </a:xfrm>
          <a:prstGeom prst="rect">
            <a:avLst/>
          </a:prstGeom>
          <a:solidFill>
            <a:srgbClr val="0070C0"/>
          </a:solidFill>
          <a:ln w="12700">
            <a:solidFill>
              <a:srgbClr val="0070C0"/>
            </a:solidFill>
            <a:prstDash val="solid"/>
          </a:ln>
        </p:spPr>
        <p:txBody>
          <a:bodyPr/>
          <a:lstStyle/>
          <a:p>
            <a:endParaRPr/>
          </a:p>
        </p:txBody>
      </p:sp>
      <p:sp>
        <p:nvSpPr>
          <p:cNvPr id="7" name="Text 5">
            <a:extLst>
              <a:ext uri="{FF2B5EF4-FFF2-40B4-BE49-F238E27FC236}">
                <a16:creationId xmlns:a16="http://schemas.microsoft.com/office/drawing/2014/main" id="{69EF1838-8645-45F8-8AE0-3AD8F2153EF9}"/>
              </a:ext>
            </a:extLst>
          </p:cNvPr>
          <p:cNvSpPr>
            <a:spLocks noGrp="1"/>
          </p:cNvSpPr>
          <p:nvPr/>
        </p:nvSpPr>
        <p:spPr>
          <a:xfrm>
            <a:off x="274320" y="704088"/>
            <a:ext cx="11649456" cy="182880"/>
          </a:xfrm>
          <a:prstGeom prst="rect">
            <a:avLst/>
          </a:prstGeom>
          <a:noFill/>
        </p:spPr>
        <p:txBody>
          <a:bodyPr wrap="square" lIns="254" tIns="254" rIns="254" bIns="254" anchor="ctr">
            <a:normAutofit lnSpcReduction="10000"/>
          </a:bodyPr>
          <a:lstStyle/>
          <a:p>
            <a:pPr marL="0" indent="0">
              <a:buNone/>
            </a:pPr>
            <a:r>
              <a:rPr sz="1200" b="1">
                <a:solidFill>
                  <a:srgbClr val="FFFFFF"/>
                </a:solidFill>
                <a:latin typeface="Aptos Display"/>
                <a:ea typeface="Aptos Display"/>
                <a:cs typeface="Aptos Display"/>
              </a:rPr>
              <a:t>Objective</a:t>
            </a:r>
            <a:endParaRPr sz="1200"/>
          </a:p>
        </p:txBody>
      </p:sp>
      <p:sp>
        <p:nvSpPr>
          <p:cNvPr id="8" name="Text 6">
            <a:extLst>
              <a:ext uri="{FF2B5EF4-FFF2-40B4-BE49-F238E27FC236}">
                <a16:creationId xmlns:a16="http://schemas.microsoft.com/office/drawing/2014/main" id="{C1FDA4E2-790C-4604-9370-1BD9F5D5AA56}"/>
              </a:ext>
            </a:extLst>
          </p:cNvPr>
          <p:cNvSpPr>
            <a:spLocks noGrp="1"/>
          </p:cNvSpPr>
          <p:nvPr/>
        </p:nvSpPr>
        <p:spPr>
          <a:xfrm>
            <a:off x="320040" y="960120"/>
            <a:ext cx="11521440" cy="237744"/>
          </a:xfrm>
          <a:prstGeom prst="rect">
            <a:avLst/>
          </a:prstGeom>
          <a:noFill/>
        </p:spPr>
        <p:txBody>
          <a:bodyPr wrap="square" lIns="0" tIns="0" rIns="0" bIns="0" anchor="ctr">
            <a:noAutofit/>
          </a:bodyPr>
          <a:lstStyle/>
          <a:p>
            <a:pPr marL="0" indent="0" algn="l">
              <a:buNone/>
            </a:pPr>
            <a:r>
              <a:rPr sz="1000" dirty="0">
                <a:solidFill>
                  <a:srgbClr val="17266D"/>
                </a:solidFill>
                <a:latin typeface="Calibri"/>
                <a:ea typeface="Calibri"/>
                <a:cs typeface="Calibri"/>
              </a:rPr>
              <a:t>Standardize and automate the CSRA fee schedule process across CMS state file download, SOP review and update, master file / QNXT validation, data-load preparation, and latest fee update in QNXT.</a:t>
            </a:r>
            <a:endParaRPr sz="1000" dirty="0">
              <a:latin typeface="Calibri"/>
              <a:ea typeface="Calibri"/>
              <a:cs typeface="Calibri"/>
            </a:endParaRPr>
          </a:p>
        </p:txBody>
      </p:sp>
      <p:sp>
        <p:nvSpPr>
          <p:cNvPr id="9" name="Shape 7">
            <a:extLst>
              <a:ext uri="{FF2B5EF4-FFF2-40B4-BE49-F238E27FC236}">
                <a16:creationId xmlns:a16="http://schemas.microsoft.com/office/drawing/2014/main" id="{C0BDA1D4-E71A-4473-A226-90E2BFEC7366}"/>
              </a:ext>
            </a:extLst>
          </p:cNvPr>
          <p:cNvSpPr>
            <a:spLocks noGrp="1"/>
          </p:cNvSpPr>
          <p:nvPr/>
        </p:nvSpPr>
        <p:spPr>
          <a:xfrm>
            <a:off x="164592" y="1508760"/>
            <a:ext cx="11868912" cy="804672"/>
          </a:xfrm>
          <a:prstGeom prst="roundRect">
            <a:avLst>
              <a:gd name="adj" fmla="val 6818"/>
            </a:avLst>
          </a:prstGeom>
          <a:solidFill>
            <a:srgbClr val="FFFFFF"/>
          </a:solidFill>
          <a:ln w="8890">
            <a:solidFill>
              <a:srgbClr val="D4E4F2"/>
            </a:solidFill>
            <a:prstDash val="solid"/>
          </a:ln>
        </p:spPr>
        <p:txBody>
          <a:bodyPr/>
          <a:lstStyle/>
          <a:p>
            <a:endParaRPr/>
          </a:p>
        </p:txBody>
      </p:sp>
      <p:sp>
        <p:nvSpPr>
          <p:cNvPr id="10" name="Shape 8">
            <a:extLst>
              <a:ext uri="{FF2B5EF4-FFF2-40B4-BE49-F238E27FC236}">
                <a16:creationId xmlns:a16="http://schemas.microsoft.com/office/drawing/2014/main" id="{7D741E93-398C-4D23-A779-C9D18DA45286}"/>
              </a:ext>
            </a:extLst>
          </p:cNvPr>
          <p:cNvSpPr>
            <a:spLocks noGrp="1"/>
          </p:cNvSpPr>
          <p:nvPr/>
        </p:nvSpPr>
        <p:spPr>
          <a:xfrm>
            <a:off x="164592" y="1508760"/>
            <a:ext cx="11868912" cy="237744"/>
          </a:xfrm>
          <a:prstGeom prst="rect">
            <a:avLst/>
          </a:prstGeom>
          <a:solidFill>
            <a:srgbClr val="0070C0"/>
          </a:solidFill>
          <a:ln w="12700">
            <a:solidFill>
              <a:srgbClr val="0070C0"/>
            </a:solidFill>
            <a:prstDash val="solid"/>
          </a:ln>
        </p:spPr>
        <p:txBody>
          <a:bodyPr/>
          <a:lstStyle/>
          <a:p>
            <a:endParaRPr/>
          </a:p>
        </p:txBody>
      </p:sp>
      <p:sp>
        <p:nvSpPr>
          <p:cNvPr id="11" name="Text 9">
            <a:extLst>
              <a:ext uri="{FF2B5EF4-FFF2-40B4-BE49-F238E27FC236}">
                <a16:creationId xmlns:a16="http://schemas.microsoft.com/office/drawing/2014/main" id="{170007BE-B4C9-439F-8BC8-E7EB1934FE89}"/>
              </a:ext>
            </a:extLst>
          </p:cNvPr>
          <p:cNvSpPr>
            <a:spLocks noGrp="1"/>
          </p:cNvSpPr>
          <p:nvPr/>
        </p:nvSpPr>
        <p:spPr>
          <a:xfrm>
            <a:off x="274320" y="1554480"/>
            <a:ext cx="11649456" cy="192024"/>
          </a:xfrm>
          <a:prstGeom prst="rect">
            <a:avLst/>
          </a:prstGeom>
          <a:noFill/>
        </p:spPr>
        <p:txBody>
          <a:bodyPr wrap="square" lIns="254" tIns="254" rIns="254" bIns="254" anchor="ctr">
            <a:normAutofit/>
          </a:bodyPr>
          <a:lstStyle/>
          <a:p>
            <a:pPr marL="0" indent="0">
              <a:buNone/>
            </a:pPr>
            <a:r>
              <a:rPr sz="1200" b="1">
                <a:solidFill>
                  <a:srgbClr val="FFFFFF"/>
                </a:solidFill>
                <a:latin typeface="Aptos Display"/>
                <a:ea typeface="Aptos Display"/>
                <a:cs typeface="Aptos Display"/>
              </a:rPr>
              <a:t>Top-Level Metrics / Summary</a:t>
            </a:r>
            <a:endParaRPr sz="1200"/>
          </a:p>
        </p:txBody>
      </p:sp>
      <p:sp>
        <p:nvSpPr>
          <p:cNvPr id="12" name="Shape 10">
            <a:extLst>
              <a:ext uri="{FF2B5EF4-FFF2-40B4-BE49-F238E27FC236}">
                <a16:creationId xmlns:a16="http://schemas.microsoft.com/office/drawing/2014/main" id="{58125422-8822-4647-A559-CDCC5E9EE3C0}"/>
              </a:ext>
            </a:extLst>
          </p:cNvPr>
          <p:cNvSpPr>
            <a:spLocks noGrp="1"/>
          </p:cNvSpPr>
          <p:nvPr/>
        </p:nvSpPr>
        <p:spPr>
          <a:xfrm>
            <a:off x="320040" y="1746504"/>
            <a:ext cx="2487168" cy="438912"/>
          </a:xfrm>
          <a:prstGeom prst="roundRect">
            <a:avLst>
              <a:gd name="adj" fmla="val 12500"/>
            </a:avLst>
          </a:prstGeom>
          <a:solidFill>
            <a:srgbClr val="F4FAFF"/>
          </a:solidFill>
          <a:ln w="8890">
            <a:solidFill>
              <a:srgbClr val="DAE9F7"/>
            </a:solidFill>
            <a:prstDash val="solid"/>
          </a:ln>
          <a:effectLst>
            <a:outerShdw blurRad="12700" dist="50800" dir="2700000" algn="bl" rotWithShape="0">
              <a:srgbClr val="D9E6F2">
                <a:alpha val="25000"/>
              </a:srgbClr>
            </a:outerShdw>
          </a:effectLst>
        </p:spPr>
        <p:txBody>
          <a:bodyPr/>
          <a:lstStyle/>
          <a:p>
            <a:endParaRPr/>
          </a:p>
        </p:txBody>
      </p:sp>
      <p:pic>
        <p:nvPicPr>
          <p:cNvPr id="13" name="Image 0">
            <a:extLst>
              <a:ext uri="{FF2B5EF4-FFF2-40B4-BE49-F238E27FC236}">
                <a16:creationId xmlns:a16="http://schemas.microsoft.com/office/drawing/2014/main" id="{2D31CEDD-0684-4C6D-8961-553CF4E978D5}"/>
              </a:ext>
            </a:extLst>
          </p:cNvPr>
          <p:cNvPicPr>
            <a:picLocks noChangeAspect="1"/>
          </p:cNvPicPr>
          <p:nvPr/>
        </p:nvPicPr>
        <p:blipFill>
          <a:blip r:embed="rId3"/>
          <a:stretch>
            <a:fillRect/>
          </a:stretch>
        </p:blipFill>
        <p:spPr>
          <a:xfrm>
            <a:off x="438912" y="1760220"/>
            <a:ext cx="438912" cy="438912"/>
          </a:xfrm>
          <a:prstGeom prst="rect">
            <a:avLst/>
          </a:prstGeom>
        </p:spPr>
      </p:pic>
      <p:sp>
        <p:nvSpPr>
          <p:cNvPr id="14" name="Text 11">
            <a:extLst>
              <a:ext uri="{FF2B5EF4-FFF2-40B4-BE49-F238E27FC236}">
                <a16:creationId xmlns:a16="http://schemas.microsoft.com/office/drawing/2014/main" id="{003D5BD1-07F8-4895-B454-AF42FB7F16CE}"/>
              </a:ext>
            </a:extLst>
          </p:cNvPr>
          <p:cNvSpPr>
            <a:spLocks noGrp="1"/>
          </p:cNvSpPr>
          <p:nvPr/>
        </p:nvSpPr>
        <p:spPr>
          <a:xfrm>
            <a:off x="886968" y="1801368"/>
            <a:ext cx="713232" cy="210312"/>
          </a:xfrm>
          <a:prstGeom prst="rect">
            <a:avLst/>
          </a:prstGeom>
          <a:noFill/>
        </p:spPr>
        <p:txBody>
          <a:bodyPr wrap="square" lIns="0" tIns="0" rIns="0" bIns="0" anchor="ctr">
            <a:normAutofit fontScale="83148" lnSpcReduction="20000"/>
          </a:bodyPr>
          <a:lstStyle>
            <a:defPPr>
              <a:defRPr sz="2025"/>
            </a:defPPr>
            <a:lvl1pPr>
              <a:buNone/>
              <a:defRPr sz="2025"/>
            </a:lvl1pPr>
            <a:lvl2pPr>
              <a:buNone/>
              <a:defRPr sz="2025"/>
            </a:lvl2pPr>
            <a:lvl3pPr>
              <a:buNone/>
              <a:defRPr sz="2025"/>
            </a:lvl3pPr>
            <a:lvl4pPr>
              <a:buNone/>
              <a:defRPr sz="2025"/>
            </a:lvl4pPr>
            <a:lvl5pPr>
              <a:buNone/>
              <a:defRPr sz="2025"/>
            </a:lvl5pPr>
            <a:lvl6pPr>
              <a:buNone/>
              <a:defRPr sz="2025"/>
            </a:lvl6pPr>
            <a:lvl7pPr>
              <a:buNone/>
              <a:defRPr sz="2025"/>
            </a:lvl7pPr>
            <a:lvl8pPr>
              <a:buNone/>
              <a:defRPr sz="2025"/>
            </a:lvl8pPr>
            <a:lvl9pPr>
              <a:buNone/>
              <a:defRPr sz="2025"/>
            </a:lvl9pPr>
          </a:lstStyle>
          <a:p>
            <a:pPr marL="0" indent="0">
              <a:buNone/>
            </a:pPr>
            <a:r>
              <a:rPr sz="2025" b="1">
                <a:solidFill>
                  <a:srgbClr val="0068B7"/>
                </a:solidFill>
                <a:latin typeface="Aptos Display"/>
                <a:ea typeface="Aptos Display"/>
                <a:cs typeface="Aptos Display"/>
              </a:rPr>
              <a:t>99</a:t>
            </a:r>
            <a:endParaRPr sz="2000"/>
          </a:p>
        </p:txBody>
      </p:sp>
      <p:sp>
        <p:nvSpPr>
          <p:cNvPr id="15" name="Text 12">
            <a:extLst>
              <a:ext uri="{FF2B5EF4-FFF2-40B4-BE49-F238E27FC236}">
                <a16:creationId xmlns:a16="http://schemas.microsoft.com/office/drawing/2014/main" id="{C55FBB8C-72BF-4E9D-B4FD-E22E3A5D9B88}"/>
              </a:ext>
            </a:extLst>
          </p:cNvPr>
          <p:cNvSpPr>
            <a:spLocks noGrp="1"/>
          </p:cNvSpPr>
          <p:nvPr/>
        </p:nvSpPr>
        <p:spPr>
          <a:xfrm>
            <a:off x="905256" y="2011680"/>
            <a:ext cx="1463040" cy="137160"/>
          </a:xfrm>
          <a:prstGeom prst="rect">
            <a:avLst/>
          </a:prstGeom>
          <a:noFill/>
        </p:spPr>
        <p:txBody>
          <a:bodyPr wrap="square" lIns="0" tIns="0" rIns="0" bIns="0" anchor="ctr">
            <a:normAutofit/>
          </a:bodyPr>
          <a:lstStyle/>
          <a:p>
            <a:pPr marL="0" indent="0">
              <a:buNone/>
            </a:pPr>
            <a:r>
              <a:rPr sz="850" b="1">
                <a:solidFill>
                  <a:srgbClr val="0068B7"/>
                </a:solidFill>
                <a:latin typeface="Aptos"/>
                <a:ea typeface="Aptos"/>
                <a:cs typeface="Aptos"/>
              </a:rPr>
              <a:t>Total Segments</a:t>
            </a:r>
            <a:endParaRPr sz="850"/>
          </a:p>
        </p:txBody>
      </p:sp>
      <p:sp>
        <p:nvSpPr>
          <p:cNvPr id="16" name="Shape 13">
            <a:extLst>
              <a:ext uri="{FF2B5EF4-FFF2-40B4-BE49-F238E27FC236}">
                <a16:creationId xmlns:a16="http://schemas.microsoft.com/office/drawing/2014/main" id="{D126735F-E1D9-4C54-A9B2-1996BAAB2DA3}"/>
              </a:ext>
            </a:extLst>
          </p:cNvPr>
          <p:cNvSpPr>
            <a:spLocks noGrp="1"/>
          </p:cNvSpPr>
          <p:nvPr/>
        </p:nvSpPr>
        <p:spPr>
          <a:xfrm>
            <a:off x="3172968" y="1746504"/>
            <a:ext cx="2487168" cy="438912"/>
          </a:xfrm>
          <a:prstGeom prst="roundRect">
            <a:avLst>
              <a:gd name="adj" fmla="val 12500"/>
            </a:avLst>
          </a:prstGeom>
          <a:solidFill>
            <a:srgbClr val="F4FAFF"/>
          </a:solidFill>
          <a:ln w="8890">
            <a:solidFill>
              <a:srgbClr val="DAE9F7"/>
            </a:solidFill>
            <a:prstDash val="solid"/>
          </a:ln>
          <a:effectLst>
            <a:outerShdw blurRad="12700" dist="50800" dir="2700000" algn="bl" rotWithShape="0">
              <a:srgbClr val="D9E6F2">
                <a:alpha val="25000"/>
              </a:srgbClr>
            </a:outerShdw>
          </a:effectLst>
        </p:spPr>
        <p:txBody>
          <a:bodyPr/>
          <a:lstStyle/>
          <a:p>
            <a:endParaRPr/>
          </a:p>
        </p:txBody>
      </p:sp>
      <p:pic>
        <p:nvPicPr>
          <p:cNvPr id="17" name="Image 1">
            <a:extLst>
              <a:ext uri="{FF2B5EF4-FFF2-40B4-BE49-F238E27FC236}">
                <a16:creationId xmlns:a16="http://schemas.microsoft.com/office/drawing/2014/main" id="{B504AE0D-AE23-4790-8350-22C17E8127DC}"/>
              </a:ext>
            </a:extLst>
          </p:cNvPr>
          <p:cNvPicPr>
            <a:picLocks noChangeAspect="1"/>
          </p:cNvPicPr>
          <p:nvPr/>
        </p:nvPicPr>
        <p:blipFill>
          <a:blip r:embed="rId4"/>
          <a:stretch>
            <a:fillRect/>
          </a:stretch>
        </p:blipFill>
        <p:spPr>
          <a:xfrm>
            <a:off x="3291840" y="1760220"/>
            <a:ext cx="438912" cy="438912"/>
          </a:xfrm>
          <a:prstGeom prst="rect">
            <a:avLst/>
          </a:prstGeom>
        </p:spPr>
      </p:pic>
      <p:sp>
        <p:nvSpPr>
          <p:cNvPr id="18" name="Text 14">
            <a:extLst>
              <a:ext uri="{FF2B5EF4-FFF2-40B4-BE49-F238E27FC236}">
                <a16:creationId xmlns:a16="http://schemas.microsoft.com/office/drawing/2014/main" id="{F367086A-4462-4197-BEEE-71F108289CB3}"/>
              </a:ext>
            </a:extLst>
          </p:cNvPr>
          <p:cNvSpPr>
            <a:spLocks noGrp="1"/>
          </p:cNvSpPr>
          <p:nvPr/>
        </p:nvSpPr>
        <p:spPr>
          <a:xfrm>
            <a:off x="3739896" y="1801368"/>
            <a:ext cx="1143000" cy="210312"/>
          </a:xfrm>
          <a:prstGeom prst="rect">
            <a:avLst/>
          </a:prstGeom>
          <a:noFill/>
        </p:spPr>
        <p:txBody>
          <a:bodyPr wrap="square" lIns="0" tIns="0" rIns="0" bIns="0" anchor="ctr">
            <a:normAutofit fontScale="83148" lnSpcReduction="20000"/>
          </a:bodyPr>
          <a:lstStyle>
            <a:defPPr>
              <a:defRPr sz="2025"/>
            </a:defPPr>
            <a:lvl1pPr>
              <a:buNone/>
              <a:defRPr sz="2025"/>
            </a:lvl1pPr>
            <a:lvl2pPr>
              <a:buNone/>
              <a:defRPr sz="2025"/>
            </a:lvl2pPr>
            <a:lvl3pPr>
              <a:buNone/>
              <a:defRPr sz="2025"/>
            </a:lvl3pPr>
            <a:lvl4pPr>
              <a:buNone/>
              <a:defRPr sz="2025"/>
            </a:lvl4pPr>
            <a:lvl5pPr>
              <a:buNone/>
              <a:defRPr sz="2025"/>
            </a:lvl5pPr>
            <a:lvl6pPr>
              <a:buNone/>
              <a:defRPr sz="2025"/>
            </a:lvl6pPr>
            <a:lvl7pPr>
              <a:buNone/>
              <a:defRPr sz="2025"/>
            </a:lvl7pPr>
            <a:lvl8pPr>
              <a:buNone/>
              <a:defRPr sz="2025"/>
            </a:lvl8pPr>
            <a:lvl9pPr>
              <a:buNone/>
              <a:defRPr sz="2025"/>
            </a:lvl9pPr>
          </a:lstStyle>
          <a:p>
            <a:pPr marL="0" indent="0">
              <a:buNone/>
            </a:pPr>
            <a:r>
              <a:rPr sz="2025" b="1">
                <a:solidFill>
                  <a:srgbClr val="5C1DB1"/>
                </a:solidFill>
                <a:latin typeface="Aptos Display"/>
                <a:ea typeface="Aptos Display"/>
                <a:cs typeface="Aptos Display"/>
              </a:rPr>
              <a:t>30</a:t>
            </a:r>
            <a:endParaRPr sz="2000"/>
          </a:p>
        </p:txBody>
      </p:sp>
      <p:sp>
        <p:nvSpPr>
          <p:cNvPr id="19" name="Text 15">
            <a:extLst>
              <a:ext uri="{FF2B5EF4-FFF2-40B4-BE49-F238E27FC236}">
                <a16:creationId xmlns:a16="http://schemas.microsoft.com/office/drawing/2014/main" id="{09C47732-4B07-4F57-AC9C-46DC97F3D4A4}"/>
              </a:ext>
            </a:extLst>
          </p:cNvPr>
          <p:cNvSpPr>
            <a:spLocks noGrp="1"/>
          </p:cNvSpPr>
          <p:nvPr/>
        </p:nvSpPr>
        <p:spPr>
          <a:xfrm>
            <a:off x="3758184" y="2011680"/>
            <a:ext cx="1463040" cy="137160"/>
          </a:xfrm>
          <a:prstGeom prst="rect">
            <a:avLst/>
          </a:prstGeom>
          <a:noFill/>
        </p:spPr>
        <p:txBody>
          <a:bodyPr wrap="square" lIns="0" tIns="0" rIns="0" bIns="0" anchor="ctr">
            <a:normAutofit/>
          </a:bodyPr>
          <a:lstStyle/>
          <a:p>
            <a:pPr marL="0" indent="0">
              <a:buNone/>
            </a:pPr>
            <a:r>
              <a:rPr sz="850" b="1">
                <a:solidFill>
                  <a:srgbClr val="5C1DB1"/>
                </a:solidFill>
                <a:latin typeface="Aptos"/>
                <a:ea typeface="Aptos"/>
                <a:cs typeface="Aptos"/>
              </a:rPr>
              <a:t>R2 Segments Released</a:t>
            </a:r>
            <a:endParaRPr sz="850"/>
          </a:p>
        </p:txBody>
      </p:sp>
      <p:sp>
        <p:nvSpPr>
          <p:cNvPr id="20" name="Shape 16">
            <a:extLst>
              <a:ext uri="{FF2B5EF4-FFF2-40B4-BE49-F238E27FC236}">
                <a16:creationId xmlns:a16="http://schemas.microsoft.com/office/drawing/2014/main" id="{76501828-F31C-4698-AD98-1576FE91BC29}"/>
              </a:ext>
            </a:extLst>
          </p:cNvPr>
          <p:cNvSpPr>
            <a:spLocks noGrp="1"/>
          </p:cNvSpPr>
          <p:nvPr/>
        </p:nvSpPr>
        <p:spPr>
          <a:xfrm>
            <a:off x="6062472" y="1746504"/>
            <a:ext cx="2487168" cy="438912"/>
          </a:xfrm>
          <a:prstGeom prst="roundRect">
            <a:avLst>
              <a:gd name="adj" fmla="val 12500"/>
            </a:avLst>
          </a:prstGeom>
          <a:solidFill>
            <a:srgbClr val="F4FAFF"/>
          </a:solidFill>
          <a:ln w="8890">
            <a:solidFill>
              <a:srgbClr val="DAE9F7"/>
            </a:solidFill>
            <a:prstDash val="solid"/>
          </a:ln>
          <a:effectLst>
            <a:outerShdw blurRad="12700" dist="50800" dir="2700000" algn="bl" rotWithShape="0">
              <a:srgbClr val="D9E6F2">
                <a:alpha val="25000"/>
              </a:srgbClr>
            </a:outerShdw>
          </a:effectLst>
        </p:spPr>
        <p:txBody>
          <a:bodyPr/>
          <a:lstStyle/>
          <a:p>
            <a:endParaRPr/>
          </a:p>
        </p:txBody>
      </p:sp>
      <p:pic>
        <p:nvPicPr>
          <p:cNvPr id="21" name="Image 2">
            <a:extLst>
              <a:ext uri="{FF2B5EF4-FFF2-40B4-BE49-F238E27FC236}">
                <a16:creationId xmlns:a16="http://schemas.microsoft.com/office/drawing/2014/main" id="{2D66A23E-6C27-4B07-B572-86C8A2951680}"/>
              </a:ext>
            </a:extLst>
          </p:cNvPr>
          <p:cNvPicPr>
            <a:picLocks noChangeAspect="1"/>
          </p:cNvPicPr>
          <p:nvPr/>
        </p:nvPicPr>
        <p:blipFill>
          <a:blip r:embed="rId5"/>
          <a:stretch>
            <a:fillRect/>
          </a:stretch>
        </p:blipFill>
        <p:spPr>
          <a:xfrm>
            <a:off x="6181344" y="1760220"/>
            <a:ext cx="438912" cy="438912"/>
          </a:xfrm>
          <a:prstGeom prst="rect">
            <a:avLst/>
          </a:prstGeom>
        </p:spPr>
      </p:pic>
      <p:sp>
        <p:nvSpPr>
          <p:cNvPr id="22" name="Text 17">
            <a:extLst>
              <a:ext uri="{FF2B5EF4-FFF2-40B4-BE49-F238E27FC236}">
                <a16:creationId xmlns:a16="http://schemas.microsoft.com/office/drawing/2014/main" id="{750725C8-E35C-472F-B17E-4D678AE11CAE}"/>
              </a:ext>
            </a:extLst>
          </p:cNvPr>
          <p:cNvSpPr>
            <a:spLocks noGrp="1"/>
          </p:cNvSpPr>
          <p:nvPr/>
        </p:nvSpPr>
        <p:spPr>
          <a:xfrm>
            <a:off x="6629400" y="1801368"/>
            <a:ext cx="713232" cy="210312"/>
          </a:xfrm>
          <a:prstGeom prst="rect">
            <a:avLst/>
          </a:prstGeom>
          <a:noFill/>
        </p:spPr>
        <p:txBody>
          <a:bodyPr wrap="square" lIns="0" tIns="0" rIns="0" bIns="0" anchor="ctr">
            <a:normAutofit fontScale="83148" lnSpcReduction="20000"/>
          </a:bodyPr>
          <a:lstStyle>
            <a:defPPr>
              <a:defRPr sz="2025"/>
            </a:defPPr>
            <a:lvl1pPr>
              <a:buNone/>
              <a:defRPr sz="2025"/>
            </a:lvl1pPr>
            <a:lvl2pPr>
              <a:buNone/>
              <a:defRPr sz="2025"/>
            </a:lvl2pPr>
            <a:lvl3pPr>
              <a:buNone/>
              <a:defRPr sz="2025"/>
            </a:lvl3pPr>
            <a:lvl4pPr>
              <a:buNone/>
              <a:defRPr sz="2025"/>
            </a:lvl4pPr>
            <a:lvl5pPr>
              <a:buNone/>
              <a:defRPr sz="2025"/>
            </a:lvl5pPr>
            <a:lvl6pPr>
              <a:buNone/>
              <a:defRPr sz="2025"/>
            </a:lvl6pPr>
            <a:lvl7pPr>
              <a:buNone/>
              <a:defRPr sz="2025"/>
            </a:lvl7pPr>
            <a:lvl8pPr>
              <a:buNone/>
              <a:defRPr sz="2025"/>
            </a:lvl8pPr>
            <a:lvl9pPr>
              <a:buNone/>
              <a:defRPr sz="2025"/>
            </a:lvl9pPr>
          </a:lstStyle>
          <a:p>
            <a:pPr marL="0" indent="0">
              <a:buNone/>
            </a:pPr>
            <a:r>
              <a:rPr sz="2025" b="1">
                <a:solidFill>
                  <a:srgbClr val="0E7A45"/>
                </a:solidFill>
                <a:latin typeface="Aptos Display"/>
                <a:ea typeface="Aptos Display"/>
                <a:cs typeface="Aptos Display"/>
              </a:rPr>
              <a:t>34</a:t>
            </a:r>
            <a:endParaRPr sz="2000"/>
          </a:p>
        </p:txBody>
      </p:sp>
      <p:sp>
        <p:nvSpPr>
          <p:cNvPr id="23" name="Text 18">
            <a:extLst>
              <a:ext uri="{FF2B5EF4-FFF2-40B4-BE49-F238E27FC236}">
                <a16:creationId xmlns:a16="http://schemas.microsoft.com/office/drawing/2014/main" id="{08CA37D1-16A1-4F80-B82E-9FC30CCC74F9}"/>
              </a:ext>
            </a:extLst>
          </p:cNvPr>
          <p:cNvSpPr>
            <a:spLocks noGrp="1"/>
          </p:cNvSpPr>
          <p:nvPr/>
        </p:nvSpPr>
        <p:spPr>
          <a:xfrm>
            <a:off x="6647688" y="2011680"/>
            <a:ext cx="1463040" cy="137160"/>
          </a:xfrm>
          <a:prstGeom prst="rect">
            <a:avLst/>
          </a:prstGeom>
          <a:noFill/>
        </p:spPr>
        <p:txBody>
          <a:bodyPr wrap="square" lIns="0" tIns="0" rIns="0" bIns="0" anchor="ctr">
            <a:normAutofit/>
          </a:bodyPr>
          <a:lstStyle/>
          <a:p>
            <a:pPr marL="0" indent="0">
              <a:buNone/>
            </a:pPr>
            <a:r>
              <a:rPr sz="850" b="1">
                <a:solidFill>
                  <a:srgbClr val="0E7A45"/>
                </a:solidFill>
                <a:latin typeface="Aptos"/>
                <a:ea typeface="Aptos"/>
                <a:cs typeface="Aptos"/>
              </a:rPr>
              <a:t>R1 Pilot Segments</a:t>
            </a:r>
            <a:endParaRPr sz="850"/>
          </a:p>
        </p:txBody>
      </p:sp>
      <p:sp>
        <p:nvSpPr>
          <p:cNvPr id="24" name="Shape 19">
            <a:extLst>
              <a:ext uri="{FF2B5EF4-FFF2-40B4-BE49-F238E27FC236}">
                <a16:creationId xmlns:a16="http://schemas.microsoft.com/office/drawing/2014/main" id="{6D05FA83-1F47-4276-A907-72C66DC04F10}"/>
              </a:ext>
            </a:extLst>
          </p:cNvPr>
          <p:cNvSpPr>
            <a:spLocks noGrp="1"/>
          </p:cNvSpPr>
          <p:nvPr/>
        </p:nvSpPr>
        <p:spPr>
          <a:xfrm>
            <a:off x="8942832" y="1746504"/>
            <a:ext cx="2487168" cy="438912"/>
          </a:xfrm>
          <a:prstGeom prst="roundRect">
            <a:avLst>
              <a:gd name="adj" fmla="val 12500"/>
            </a:avLst>
          </a:prstGeom>
          <a:solidFill>
            <a:srgbClr val="F4FAFF"/>
          </a:solidFill>
          <a:ln w="8890">
            <a:solidFill>
              <a:srgbClr val="DAE9F7"/>
            </a:solidFill>
            <a:prstDash val="solid"/>
          </a:ln>
          <a:effectLst>
            <a:outerShdw blurRad="12700" dist="50800" dir="2700000" algn="bl" rotWithShape="0">
              <a:srgbClr val="D9E6F2">
                <a:alpha val="25000"/>
              </a:srgbClr>
            </a:outerShdw>
          </a:effectLst>
        </p:spPr>
        <p:txBody>
          <a:bodyPr/>
          <a:lstStyle/>
          <a:p>
            <a:endParaRPr/>
          </a:p>
        </p:txBody>
      </p:sp>
      <p:pic>
        <p:nvPicPr>
          <p:cNvPr id="25" name="Image 3">
            <a:extLst>
              <a:ext uri="{FF2B5EF4-FFF2-40B4-BE49-F238E27FC236}">
                <a16:creationId xmlns:a16="http://schemas.microsoft.com/office/drawing/2014/main" id="{DBBF4398-34A6-4AEE-9FD7-D3D7044540FF}"/>
              </a:ext>
            </a:extLst>
          </p:cNvPr>
          <p:cNvPicPr>
            <a:picLocks noChangeAspect="1"/>
          </p:cNvPicPr>
          <p:nvPr/>
        </p:nvPicPr>
        <p:blipFill>
          <a:blip r:embed="rId6"/>
          <a:stretch>
            <a:fillRect/>
          </a:stretch>
        </p:blipFill>
        <p:spPr>
          <a:xfrm>
            <a:off x="9061704" y="1760220"/>
            <a:ext cx="438912" cy="438912"/>
          </a:xfrm>
          <a:prstGeom prst="rect">
            <a:avLst/>
          </a:prstGeom>
        </p:spPr>
      </p:pic>
      <p:sp>
        <p:nvSpPr>
          <p:cNvPr id="26" name="Text 20">
            <a:extLst>
              <a:ext uri="{FF2B5EF4-FFF2-40B4-BE49-F238E27FC236}">
                <a16:creationId xmlns:a16="http://schemas.microsoft.com/office/drawing/2014/main" id="{6495BF0E-3391-464D-A012-E230810E1A5B}"/>
              </a:ext>
            </a:extLst>
          </p:cNvPr>
          <p:cNvSpPr>
            <a:spLocks noGrp="1"/>
          </p:cNvSpPr>
          <p:nvPr/>
        </p:nvSpPr>
        <p:spPr>
          <a:xfrm>
            <a:off x="9509760" y="1801368"/>
            <a:ext cx="713232" cy="210312"/>
          </a:xfrm>
          <a:prstGeom prst="rect">
            <a:avLst/>
          </a:prstGeom>
          <a:noFill/>
        </p:spPr>
        <p:txBody>
          <a:bodyPr wrap="square" lIns="0" tIns="0" rIns="0" bIns="0" anchor="ctr">
            <a:normAutofit fontScale="83148" lnSpcReduction="20000"/>
          </a:bodyPr>
          <a:lstStyle>
            <a:defPPr>
              <a:defRPr sz="2025"/>
            </a:defPPr>
            <a:lvl1pPr>
              <a:buNone/>
              <a:defRPr sz="2025"/>
            </a:lvl1pPr>
            <a:lvl2pPr>
              <a:buNone/>
              <a:defRPr sz="2025"/>
            </a:lvl2pPr>
            <a:lvl3pPr>
              <a:buNone/>
              <a:defRPr sz="2025"/>
            </a:lvl3pPr>
            <a:lvl4pPr>
              <a:buNone/>
              <a:defRPr sz="2025"/>
            </a:lvl4pPr>
            <a:lvl5pPr>
              <a:buNone/>
              <a:defRPr sz="2025"/>
            </a:lvl5pPr>
            <a:lvl6pPr>
              <a:buNone/>
              <a:defRPr sz="2025"/>
            </a:lvl6pPr>
            <a:lvl7pPr>
              <a:buNone/>
              <a:defRPr sz="2025"/>
            </a:lvl7pPr>
            <a:lvl8pPr>
              <a:buNone/>
              <a:defRPr sz="2025"/>
            </a:lvl8pPr>
            <a:lvl9pPr>
              <a:buNone/>
              <a:defRPr sz="2025"/>
            </a:lvl9pPr>
          </a:lstStyle>
          <a:p>
            <a:pPr marL="0" indent="0">
              <a:buNone/>
            </a:pPr>
            <a:r>
              <a:rPr sz="2025" b="1">
                <a:solidFill>
                  <a:srgbClr val="D71920"/>
                </a:solidFill>
                <a:latin typeface="Aptos Display"/>
                <a:ea typeface="Aptos Display"/>
                <a:cs typeface="Aptos Display"/>
              </a:rPr>
              <a:t>12</a:t>
            </a:r>
            <a:endParaRPr sz="2000"/>
          </a:p>
        </p:txBody>
      </p:sp>
      <p:sp>
        <p:nvSpPr>
          <p:cNvPr id="27" name="Text 21">
            <a:extLst>
              <a:ext uri="{FF2B5EF4-FFF2-40B4-BE49-F238E27FC236}">
                <a16:creationId xmlns:a16="http://schemas.microsoft.com/office/drawing/2014/main" id="{459074F4-B7AB-4E16-AD46-112E444F8827}"/>
              </a:ext>
            </a:extLst>
          </p:cNvPr>
          <p:cNvSpPr>
            <a:spLocks noGrp="1"/>
          </p:cNvSpPr>
          <p:nvPr/>
        </p:nvSpPr>
        <p:spPr>
          <a:xfrm>
            <a:off x="9528048" y="2011680"/>
            <a:ext cx="1463040" cy="137160"/>
          </a:xfrm>
          <a:prstGeom prst="rect">
            <a:avLst/>
          </a:prstGeom>
          <a:noFill/>
        </p:spPr>
        <p:txBody>
          <a:bodyPr wrap="square" lIns="0" tIns="0" rIns="0" bIns="0" anchor="ctr">
            <a:normAutofit/>
          </a:bodyPr>
          <a:lstStyle/>
          <a:p>
            <a:pPr marL="0" indent="0">
              <a:buNone/>
            </a:pPr>
            <a:r>
              <a:rPr sz="850" b="1">
                <a:solidFill>
                  <a:srgbClr val="D71920"/>
                </a:solidFill>
                <a:latin typeface="Aptos"/>
                <a:ea typeface="Aptos"/>
                <a:cs typeface="Aptos"/>
              </a:rPr>
              <a:t>R5 Segments in QA</a:t>
            </a:r>
            <a:endParaRPr sz="850"/>
          </a:p>
        </p:txBody>
      </p:sp>
      <p:sp>
        <p:nvSpPr>
          <p:cNvPr id="28" name="Shape 22">
            <a:extLst>
              <a:ext uri="{FF2B5EF4-FFF2-40B4-BE49-F238E27FC236}">
                <a16:creationId xmlns:a16="http://schemas.microsoft.com/office/drawing/2014/main" id="{D84F8ABF-90BC-4358-B79F-46C6EB33F3F6}"/>
              </a:ext>
            </a:extLst>
          </p:cNvPr>
          <p:cNvSpPr>
            <a:spLocks noGrp="1"/>
          </p:cNvSpPr>
          <p:nvPr/>
        </p:nvSpPr>
        <p:spPr>
          <a:xfrm>
            <a:off x="164592" y="2432304"/>
            <a:ext cx="6355080" cy="2212848"/>
          </a:xfrm>
          <a:prstGeom prst="roundRect">
            <a:avLst>
              <a:gd name="adj" fmla="val 2479"/>
            </a:avLst>
          </a:prstGeom>
          <a:solidFill>
            <a:srgbClr val="FFFFFF"/>
          </a:solidFill>
          <a:ln w="8890">
            <a:solidFill>
              <a:srgbClr val="D4E4F2"/>
            </a:solidFill>
            <a:prstDash val="solid"/>
          </a:ln>
        </p:spPr>
        <p:txBody>
          <a:bodyPr/>
          <a:lstStyle/>
          <a:p>
            <a:endParaRPr/>
          </a:p>
        </p:txBody>
      </p:sp>
      <p:sp>
        <p:nvSpPr>
          <p:cNvPr id="29" name="Shape 23">
            <a:extLst>
              <a:ext uri="{FF2B5EF4-FFF2-40B4-BE49-F238E27FC236}">
                <a16:creationId xmlns:a16="http://schemas.microsoft.com/office/drawing/2014/main" id="{DF8B08CE-9E5B-4447-8316-60E68A23F463}"/>
              </a:ext>
            </a:extLst>
          </p:cNvPr>
          <p:cNvSpPr>
            <a:spLocks noGrp="1"/>
          </p:cNvSpPr>
          <p:nvPr/>
        </p:nvSpPr>
        <p:spPr>
          <a:xfrm>
            <a:off x="164592" y="2432304"/>
            <a:ext cx="6355080" cy="256032"/>
          </a:xfrm>
          <a:prstGeom prst="rect">
            <a:avLst/>
          </a:prstGeom>
          <a:solidFill>
            <a:srgbClr val="0070C0"/>
          </a:solidFill>
          <a:ln w="12700">
            <a:solidFill>
              <a:srgbClr val="0070C0"/>
            </a:solidFill>
            <a:prstDash val="solid"/>
          </a:ln>
        </p:spPr>
        <p:txBody>
          <a:bodyPr/>
          <a:lstStyle/>
          <a:p>
            <a:endParaRPr/>
          </a:p>
        </p:txBody>
      </p:sp>
      <p:sp>
        <p:nvSpPr>
          <p:cNvPr id="30" name="Text 24">
            <a:extLst>
              <a:ext uri="{FF2B5EF4-FFF2-40B4-BE49-F238E27FC236}">
                <a16:creationId xmlns:a16="http://schemas.microsoft.com/office/drawing/2014/main" id="{DA4DF424-EAD9-4DE9-8854-DF504093000D}"/>
              </a:ext>
            </a:extLst>
          </p:cNvPr>
          <p:cNvSpPr>
            <a:spLocks noGrp="1"/>
          </p:cNvSpPr>
          <p:nvPr/>
        </p:nvSpPr>
        <p:spPr>
          <a:xfrm>
            <a:off x="274320" y="2478024"/>
            <a:ext cx="6135624" cy="210312"/>
          </a:xfrm>
          <a:prstGeom prst="rect">
            <a:avLst/>
          </a:prstGeom>
          <a:noFill/>
        </p:spPr>
        <p:txBody>
          <a:bodyPr wrap="square" lIns="254" tIns="254" rIns="254" bIns="254" anchor="ctr">
            <a:normAutofit/>
          </a:bodyPr>
          <a:lstStyle/>
          <a:p>
            <a:pPr marL="0" indent="0">
              <a:buNone/>
            </a:pPr>
            <a:r>
              <a:rPr sz="1200" b="1">
                <a:solidFill>
                  <a:srgbClr val="FFFFFF"/>
                </a:solidFill>
                <a:latin typeface="Aptos Display"/>
                <a:ea typeface="Aptos Display"/>
                <a:cs typeface="Aptos Display"/>
              </a:rPr>
              <a:t>Risks / Issues / Assumptions / Opportunities / Dependencies</a:t>
            </a:r>
            <a:endParaRPr sz="1200"/>
          </a:p>
        </p:txBody>
      </p:sp>
      <p:sp>
        <p:nvSpPr>
          <p:cNvPr id="31" name="Shape 25">
            <a:extLst>
              <a:ext uri="{FF2B5EF4-FFF2-40B4-BE49-F238E27FC236}">
                <a16:creationId xmlns:a16="http://schemas.microsoft.com/office/drawing/2014/main" id="{1768AB93-4B46-4189-B804-4D12251B14EC}"/>
              </a:ext>
            </a:extLst>
          </p:cNvPr>
          <p:cNvSpPr>
            <a:spLocks noGrp="1"/>
          </p:cNvSpPr>
          <p:nvPr/>
        </p:nvSpPr>
        <p:spPr>
          <a:xfrm>
            <a:off x="164592" y="2688336"/>
            <a:ext cx="1225296" cy="210312"/>
          </a:xfrm>
          <a:prstGeom prst="rect">
            <a:avLst/>
          </a:prstGeom>
          <a:solidFill>
            <a:srgbClr val="EEF4FA"/>
          </a:solidFill>
          <a:ln w="6350">
            <a:solidFill>
              <a:srgbClr val="C9D7E7"/>
            </a:solidFill>
            <a:prstDash val="solid"/>
          </a:ln>
        </p:spPr>
        <p:txBody>
          <a:bodyPr/>
          <a:lstStyle/>
          <a:p>
            <a:endParaRPr/>
          </a:p>
        </p:txBody>
      </p:sp>
      <p:sp>
        <p:nvSpPr>
          <p:cNvPr id="32" name="Text 26">
            <a:extLst>
              <a:ext uri="{FF2B5EF4-FFF2-40B4-BE49-F238E27FC236}">
                <a16:creationId xmlns:a16="http://schemas.microsoft.com/office/drawing/2014/main" id="{8079B71B-528C-4162-8E6A-19BB5204CFF8}"/>
              </a:ext>
            </a:extLst>
          </p:cNvPr>
          <p:cNvSpPr>
            <a:spLocks noGrp="1"/>
          </p:cNvSpPr>
          <p:nvPr/>
        </p:nvSpPr>
        <p:spPr>
          <a:xfrm>
            <a:off x="201168" y="2715768"/>
            <a:ext cx="1152144" cy="164592"/>
          </a:xfrm>
          <a:prstGeom prst="rect">
            <a:avLst/>
          </a:prstGeom>
          <a:noFill/>
        </p:spPr>
        <p:txBody>
          <a:bodyPr wrap="square" lIns="254" tIns="254" rIns="254" bIns="254" anchor="ctr">
            <a:normAutofit/>
          </a:bodyPr>
          <a:lstStyle/>
          <a:p>
            <a:pPr marL="0" indent="0" algn="ctr">
              <a:buNone/>
            </a:pPr>
            <a:r>
              <a:rPr sz="590" b="1">
                <a:solidFill>
                  <a:srgbClr val="132043"/>
                </a:solidFill>
                <a:latin typeface="Aptos"/>
                <a:ea typeface="Aptos"/>
                <a:cs typeface="Aptos"/>
              </a:rPr>
              <a:t>Area</a:t>
            </a:r>
            <a:endParaRPr sz="590"/>
          </a:p>
        </p:txBody>
      </p:sp>
      <p:sp>
        <p:nvSpPr>
          <p:cNvPr id="33" name="Shape 27">
            <a:extLst>
              <a:ext uri="{FF2B5EF4-FFF2-40B4-BE49-F238E27FC236}">
                <a16:creationId xmlns:a16="http://schemas.microsoft.com/office/drawing/2014/main" id="{3455DC89-560C-4A85-948D-02699226899E}"/>
              </a:ext>
            </a:extLst>
          </p:cNvPr>
          <p:cNvSpPr>
            <a:spLocks noGrp="1"/>
          </p:cNvSpPr>
          <p:nvPr/>
        </p:nvSpPr>
        <p:spPr>
          <a:xfrm>
            <a:off x="1389888" y="2688336"/>
            <a:ext cx="2148840" cy="210312"/>
          </a:xfrm>
          <a:prstGeom prst="rect">
            <a:avLst/>
          </a:prstGeom>
          <a:solidFill>
            <a:srgbClr val="EEF4FA"/>
          </a:solidFill>
          <a:ln w="6350">
            <a:solidFill>
              <a:srgbClr val="C9D7E7"/>
            </a:solidFill>
            <a:prstDash val="solid"/>
          </a:ln>
        </p:spPr>
        <p:txBody>
          <a:bodyPr/>
          <a:lstStyle/>
          <a:p>
            <a:endParaRPr/>
          </a:p>
        </p:txBody>
      </p:sp>
      <p:sp>
        <p:nvSpPr>
          <p:cNvPr id="34" name="Text 28">
            <a:extLst>
              <a:ext uri="{FF2B5EF4-FFF2-40B4-BE49-F238E27FC236}">
                <a16:creationId xmlns:a16="http://schemas.microsoft.com/office/drawing/2014/main" id="{A0C084C5-8904-4BBC-846C-9CC281B1DBFD}"/>
              </a:ext>
            </a:extLst>
          </p:cNvPr>
          <p:cNvSpPr>
            <a:spLocks noGrp="1"/>
          </p:cNvSpPr>
          <p:nvPr/>
        </p:nvSpPr>
        <p:spPr>
          <a:xfrm>
            <a:off x="1426464" y="2715768"/>
            <a:ext cx="2075688" cy="164592"/>
          </a:xfrm>
          <a:prstGeom prst="rect">
            <a:avLst/>
          </a:prstGeom>
          <a:noFill/>
        </p:spPr>
        <p:txBody>
          <a:bodyPr wrap="square" lIns="254" tIns="254" rIns="254" bIns="254" anchor="ctr">
            <a:normAutofit/>
          </a:bodyPr>
          <a:lstStyle/>
          <a:p>
            <a:pPr marL="0" indent="0" algn="ctr">
              <a:buNone/>
            </a:pPr>
            <a:r>
              <a:rPr sz="590" b="1">
                <a:solidFill>
                  <a:srgbClr val="132043"/>
                </a:solidFill>
                <a:latin typeface="Aptos"/>
                <a:ea typeface="Aptos"/>
                <a:cs typeface="Aptos"/>
              </a:rPr>
              <a:t>Description</a:t>
            </a:r>
            <a:endParaRPr sz="590"/>
          </a:p>
        </p:txBody>
      </p:sp>
      <p:sp>
        <p:nvSpPr>
          <p:cNvPr id="35" name="Shape 29">
            <a:extLst>
              <a:ext uri="{FF2B5EF4-FFF2-40B4-BE49-F238E27FC236}">
                <a16:creationId xmlns:a16="http://schemas.microsoft.com/office/drawing/2014/main" id="{02B0311D-2CA1-4006-B664-D4D779D81A58}"/>
              </a:ext>
            </a:extLst>
          </p:cNvPr>
          <p:cNvSpPr>
            <a:spLocks noGrp="1"/>
          </p:cNvSpPr>
          <p:nvPr/>
        </p:nvSpPr>
        <p:spPr>
          <a:xfrm>
            <a:off x="3538728" y="2688336"/>
            <a:ext cx="1847088" cy="210312"/>
          </a:xfrm>
          <a:prstGeom prst="rect">
            <a:avLst/>
          </a:prstGeom>
          <a:solidFill>
            <a:srgbClr val="EEF4FA"/>
          </a:solidFill>
          <a:ln w="6350">
            <a:solidFill>
              <a:srgbClr val="C9D7E7"/>
            </a:solidFill>
            <a:prstDash val="solid"/>
          </a:ln>
        </p:spPr>
        <p:txBody>
          <a:bodyPr/>
          <a:lstStyle/>
          <a:p>
            <a:endParaRPr/>
          </a:p>
        </p:txBody>
      </p:sp>
      <p:sp>
        <p:nvSpPr>
          <p:cNvPr id="36" name="Text 30">
            <a:extLst>
              <a:ext uri="{FF2B5EF4-FFF2-40B4-BE49-F238E27FC236}">
                <a16:creationId xmlns:a16="http://schemas.microsoft.com/office/drawing/2014/main" id="{D12DAB1B-B3CB-4756-8402-0E47175900A2}"/>
              </a:ext>
            </a:extLst>
          </p:cNvPr>
          <p:cNvSpPr>
            <a:spLocks noGrp="1"/>
          </p:cNvSpPr>
          <p:nvPr/>
        </p:nvSpPr>
        <p:spPr>
          <a:xfrm>
            <a:off x="3575304" y="2715768"/>
            <a:ext cx="1773936" cy="164592"/>
          </a:xfrm>
          <a:prstGeom prst="rect">
            <a:avLst/>
          </a:prstGeom>
          <a:noFill/>
        </p:spPr>
        <p:txBody>
          <a:bodyPr wrap="square" lIns="254" tIns="254" rIns="254" bIns="254" anchor="ctr">
            <a:normAutofit/>
          </a:bodyPr>
          <a:lstStyle/>
          <a:p>
            <a:pPr marL="0" indent="0" algn="ctr">
              <a:buNone/>
            </a:pPr>
            <a:r>
              <a:rPr sz="590" b="1">
                <a:solidFill>
                  <a:srgbClr val="132043"/>
                </a:solidFill>
                <a:latin typeface="Aptos"/>
                <a:ea typeface="Aptos"/>
                <a:cs typeface="Aptos"/>
              </a:rPr>
              <a:t>Mitigation / Next Steps</a:t>
            </a:r>
            <a:endParaRPr sz="590"/>
          </a:p>
        </p:txBody>
      </p:sp>
      <p:sp>
        <p:nvSpPr>
          <p:cNvPr id="37" name="Shape 31">
            <a:extLst>
              <a:ext uri="{FF2B5EF4-FFF2-40B4-BE49-F238E27FC236}">
                <a16:creationId xmlns:a16="http://schemas.microsoft.com/office/drawing/2014/main" id="{D37AD6E3-0A1D-4857-BBCC-D5005E930EF7}"/>
              </a:ext>
            </a:extLst>
          </p:cNvPr>
          <p:cNvSpPr>
            <a:spLocks noGrp="1"/>
          </p:cNvSpPr>
          <p:nvPr/>
        </p:nvSpPr>
        <p:spPr>
          <a:xfrm>
            <a:off x="5385816" y="2688336"/>
            <a:ext cx="1133856" cy="210312"/>
          </a:xfrm>
          <a:prstGeom prst="rect">
            <a:avLst/>
          </a:prstGeom>
          <a:solidFill>
            <a:srgbClr val="EEF4FA"/>
          </a:solidFill>
          <a:ln w="6350">
            <a:solidFill>
              <a:srgbClr val="C9D7E7"/>
            </a:solidFill>
            <a:prstDash val="solid"/>
          </a:ln>
        </p:spPr>
        <p:txBody>
          <a:bodyPr/>
          <a:lstStyle/>
          <a:p>
            <a:endParaRPr/>
          </a:p>
        </p:txBody>
      </p:sp>
      <p:sp>
        <p:nvSpPr>
          <p:cNvPr id="38" name="Text 32">
            <a:extLst>
              <a:ext uri="{FF2B5EF4-FFF2-40B4-BE49-F238E27FC236}">
                <a16:creationId xmlns:a16="http://schemas.microsoft.com/office/drawing/2014/main" id="{B35A2428-F5AA-4311-BC03-FAE1214C8B18}"/>
              </a:ext>
            </a:extLst>
          </p:cNvPr>
          <p:cNvSpPr>
            <a:spLocks noGrp="1"/>
          </p:cNvSpPr>
          <p:nvPr/>
        </p:nvSpPr>
        <p:spPr>
          <a:xfrm>
            <a:off x="5422392" y="2715768"/>
            <a:ext cx="1060704" cy="164592"/>
          </a:xfrm>
          <a:prstGeom prst="rect">
            <a:avLst/>
          </a:prstGeom>
          <a:noFill/>
        </p:spPr>
        <p:txBody>
          <a:bodyPr wrap="square" lIns="254" tIns="254" rIns="254" bIns="254" anchor="ctr">
            <a:normAutofit/>
          </a:bodyPr>
          <a:lstStyle/>
          <a:p>
            <a:pPr marL="0" indent="0" algn="ctr">
              <a:buNone/>
            </a:pPr>
            <a:r>
              <a:rPr sz="590" b="1">
                <a:solidFill>
                  <a:srgbClr val="132043"/>
                </a:solidFill>
                <a:latin typeface="Aptos"/>
                <a:ea typeface="Aptos"/>
                <a:cs typeface="Aptos"/>
              </a:rPr>
              <a:t>Status</a:t>
            </a:r>
            <a:endParaRPr sz="590"/>
          </a:p>
        </p:txBody>
      </p:sp>
      <p:sp>
        <p:nvSpPr>
          <p:cNvPr id="39" name="Shape 33">
            <a:extLst>
              <a:ext uri="{FF2B5EF4-FFF2-40B4-BE49-F238E27FC236}">
                <a16:creationId xmlns:a16="http://schemas.microsoft.com/office/drawing/2014/main" id="{961AEA73-72C1-4B9E-A721-559FA25678D6}"/>
              </a:ext>
            </a:extLst>
          </p:cNvPr>
          <p:cNvSpPr>
            <a:spLocks noGrp="1"/>
          </p:cNvSpPr>
          <p:nvPr/>
        </p:nvSpPr>
        <p:spPr>
          <a:xfrm>
            <a:off x="164592" y="2898648"/>
            <a:ext cx="1225296" cy="411480"/>
          </a:xfrm>
          <a:prstGeom prst="rect">
            <a:avLst/>
          </a:prstGeom>
          <a:solidFill>
            <a:srgbClr val="FFFFFF"/>
          </a:solidFill>
          <a:ln w="6350">
            <a:solidFill>
              <a:srgbClr val="C9D7E7"/>
            </a:solidFill>
            <a:prstDash val="solid"/>
          </a:ln>
        </p:spPr>
        <p:txBody>
          <a:bodyPr/>
          <a:lstStyle/>
          <a:p>
            <a:endParaRPr/>
          </a:p>
        </p:txBody>
      </p:sp>
      <p:sp>
        <p:nvSpPr>
          <p:cNvPr id="40" name="Text 34">
            <a:extLst>
              <a:ext uri="{FF2B5EF4-FFF2-40B4-BE49-F238E27FC236}">
                <a16:creationId xmlns:a16="http://schemas.microsoft.com/office/drawing/2014/main" id="{04F6A6CB-8FFD-4FAA-8138-159FB576BC95}"/>
              </a:ext>
            </a:extLst>
          </p:cNvPr>
          <p:cNvSpPr>
            <a:spLocks noGrp="1"/>
          </p:cNvSpPr>
          <p:nvPr/>
        </p:nvSpPr>
        <p:spPr>
          <a:xfrm>
            <a:off x="201168" y="2926080"/>
            <a:ext cx="1152144" cy="365760"/>
          </a:xfrm>
          <a:prstGeom prst="rect">
            <a:avLst/>
          </a:prstGeom>
          <a:noFill/>
        </p:spPr>
        <p:txBody>
          <a:bodyPr wrap="square" lIns="254" tIns="254" rIns="254" bIns="254" anchor="ctr">
            <a:normAutofit/>
          </a:bodyPr>
          <a:lstStyle/>
          <a:p>
            <a:pPr marL="0" indent="0" algn="l">
              <a:buNone/>
            </a:pPr>
            <a:endParaRPr sz="600"/>
          </a:p>
        </p:txBody>
      </p:sp>
      <p:sp>
        <p:nvSpPr>
          <p:cNvPr id="41" name="Shape 35">
            <a:extLst>
              <a:ext uri="{FF2B5EF4-FFF2-40B4-BE49-F238E27FC236}">
                <a16:creationId xmlns:a16="http://schemas.microsoft.com/office/drawing/2014/main" id="{5980D243-B29B-4D4D-8B4C-789EC4B6FE04}"/>
              </a:ext>
            </a:extLst>
          </p:cNvPr>
          <p:cNvSpPr>
            <a:spLocks noGrp="1"/>
          </p:cNvSpPr>
          <p:nvPr/>
        </p:nvSpPr>
        <p:spPr>
          <a:xfrm>
            <a:off x="1389888" y="2898648"/>
            <a:ext cx="2148840" cy="411480"/>
          </a:xfrm>
          <a:prstGeom prst="rect">
            <a:avLst/>
          </a:prstGeom>
          <a:solidFill>
            <a:srgbClr val="FFFFFF"/>
          </a:solidFill>
          <a:ln w="6350">
            <a:solidFill>
              <a:srgbClr val="C9D7E7"/>
            </a:solidFill>
            <a:prstDash val="solid"/>
          </a:ln>
        </p:spPr>
        <p:txBody>
          <a:bodyPr/>
          <a:lstStyle/>
          <a:p>
            <a:endParaRPr/>
          </a:p>
        </p:txBody>
      </p:sp>
      <p:sp>
        <p:nvSpPr>
          <p:cNvPr id="42" name="Text 36">
            <a:extLst>
              <a:ext uri="{FF2B5EF4-FFF2-40B4-BE49-F238E27FC236}">
                <a16:creationId xmlns:a16="http://schemas.microsoft.com/office/drawing/2014/main" id="{35ACD40D-53F1-46C3-99CB-0EFF2AF20CDA}"/>
              </a:ext>
            </a:extLst>
          </p:cNvPr>
          <p:cNvSpPr>
            <a:spLocks noGrp="1"/>
          </p:cNvSpPr>
          <p:nvPr/>
        </p:nvSpPr>
        <p:spPr>
          <a:xfrm>
            <a:off x="1435608" y="2926080"/>
            <a:ext cx="2103120" cy="356616"/>
          </a:xfrm>
          <a:prstGeom prst="rect">
            <a:avLst/>
          </a:prstGeom>
          <a:noFill/>
        </p:spPr>
        <p:txBody>
          <a:bodyPr wrap="square" lIns="254" tIns="254" rIns="254" bIns="254" anchor="ctr">
            <a:noAutofit/>
          </a:bodyPr>
          <a:lstStyle/>
          <a:p>
            <a:pPr marL="0" indent="0" algn="l">
              <a:buNone/>
            </a:pPr>
            <a:r>
              <a:rPr sz="900" dirty="0">
                <a:solidFill>
                  <a:srgbClr val="132043"/>
                </a:solidFill>
                <a:latin typeface="Calibri"/>
                <a:ea typeface="Calibri"/>
                <a:cs typeface="Calibri"/>
              </a:rPr>
              <a:t>FL / OK and Release 4 items await business review or results confirmation.</a:t>
            </a:r>
            <a:endParaRPr sz="900" dirty="0">
              <a:latin typeface="Calibri"/>
              <a:ea typeface="Calibri"/>
              <a:cs typeface="Calibri"/>
            </a:endParaRPr>
          </a:p>
        </p:txBody>
      </p:sp>
      <p:sp>
        <p:nvSpPr>
          <p:cNvPr id="43" name="Shape 37">
            <a:extLst>
              <a:ext uri="{FF2B5EF4-FFF2-40B4-BE49-F238E27FC236}">
                <a16:creationId xmlns:a16="http://schemas.microsoft.com/office/drawing/2014/main" id="{32916AE6-CF60-4704-B82C-A980C5A30726}"/>
              </a:ext>
            </a:extLst>
          </p:cNvPr>
          <p:cNvSpPr>
            <a:spLocks noGrp="1"/>
          </p:cNvSpPr>
          <p:nvPr/>
        </p:nvSpPr>
        <p:spPr>
          <a:xfrm>
            <a:off x="3538728" y="2898648"/>
            <a:ext cx="1847088" cy="411480"/>
          </a:xfrm>
          <a:prstGeom prst="rect">
            <a:avLst/>
          </a:prstGeom>
          <a:solidFill>
            <a:srgbClr val="FFFFFF"/>
          </a:solidFill>
          <a:ln w="6350">
            <a:solidFill>
              <a:srgbClr val="C9D7E7"/>
            </a:solidFill>
            <a:prstDash val="solid"/>
          </a:ln>
        </p:spPr>
        <p:txBody>
          <a:bodyPr/>
          <a:lstStyle/>
          <a:p>
            <a:endParaRPr/>
          </a:p>
        </p:txBody>
      </p:sp>
      <p:sp>
        <p:nvSpPr>
          <p:cNvPr id="44" name="Text 38">
            <a:extLst>
              <a:ext uri="{FF2B5EF4-FFF2-40B4-BE49-F238E27FC236}">
                <a16:creationId xmlns:a16="http://schemas.microsoft.com/office/drawing/2014/main" id="{A4FA4ECB-2230-4655-8294-FB487C494C39}"/>
              </a:ext>
            </a:extLst>
          </p:cNvPr>
          <p:cNvSpPr>
            <a:spLocks noGrp="1"/>
          </p:cNvSpPr>
          <p:nvPr/>
        </p:nvSpPr>
        <p:spPr>
          <a:xfrm>
            <a:off x="3575304" y="2926080"/>
            <a:ext cx="1773936" cy="365760"/>
          </a:xfrm>
          <a:prstGeom prst="rect">
            <a:avLst/>
          </a:prstGeom>
          <a:noFill/>
        </p:spPr>
        <p:txBody>
          <a:bodyPr wrap="square" lIns="254" tIns="254" rIns="254" bIns="254" anchor="ctr">
            <a:noAutofit/>
          </a:bodyPr>
          <a:lstStyle/>
          <a:p>
            <a:pPr marL="0" indent="0" algn="l">
              <a:buNone/>
            </a:pPr>
            <a:r>
              <a:rPr sz="900" dirty="0">
                <a:solidFill>
                  <a:srgbClr val="132043"/>
                </a:solidFill>
                <a:latin typeface="Calibri"/>
                <a:ea typeface="Calibri"/>
                <a:cs typeface="Calibri"/>
              </a:rPr>
              <a:t>Complete business review and confirm approved items for QNXT load.</a:t>
            </a:r>
            <a:endParaRPr sz="900" dirty="0">
              <a:latin typeface="Calibri"/>
              <a:ea typeface="Calibri"/>
              <a:cs typeface="Calibri"/>
            </a:endParaRPr>
          </a:p>
        </p:txBody>
      </p:sp>
      <p:sp>
        <p:nvSpPr>
          <p:cNvPr id="45" name="Shape 39">
            <a:extLst>
              <a:ext uri="{FF2B5EF4-FFF2-40B4-BE49-F238E27FC236}">
                <a16:creationId xmlns:a16="http://schemas.microsoft.com/office/drawing/2014/main" id="{3D324545-72C1-41F2-8A61-2E94B3CF45A3}"/>
              </a:ext>
            </a:extLst>
          </p:cNvPr>
          <p:cNvSpPr>
            <a:spLocks noGrp="1"/>
          </p:cNvSpPr>
          <p:nvPr/>
        </p:nvSpPr>
        <p:spPr>
          <a:xfrm>
            <a:off x="5385816" y="2898648"/>
            <a:ext cx="1133856" cy="411480"/>
          </a:xfrm>
          <a:prstGeom prst="rect">
            <a:avLst/>
          </a:prstGeom>
          <a:solidFill>
            <a:srgbClr val="FFFFFF"/>
          </a:solidFill>
          <a:ln w="6350">
            <a:solidFill>
              <a:srgbClr val="C9D7E7"/>
            </a:solidFill>
            <a:prstDash val="solid"/>
          </a:ln>
        </p:spPr>
        <p:txBody>
          <a:bodyPr/>
          <a:lstStyle/>
          <a:p>
            <a:endParaRPr/>
          </a:p>
        </p:txBody>
      </p:sp>
      <p:sp>
        <p:nvSpPr>
          <p:cNvPr id="46" name="Text 40">
            <a:extLst>
              <a:ext uri="{FF2B5EF4-FFF2-40B4-BE49-F238E27FC236}">
                <a16:creationId xmlns:a16="http://schemas.microsoft.com/office/drawing/2014/main" id="{36695E9E-237A-4FAF-A959-699140C0ED72}"/>
              </a:ext>
            </a:extLst>
          </p:cNvPr>
          <p:cNvSpPr>
            <a:spLocks noGrp="1"/>
          </p:cNvSpPr>
          <p:nvPr/>
        </p:nvSpPr>
        <p:spPr>
          <a:xfrm>
            <a:off x="5422392" y="2926080"/>
            <a:ext cx="1060704" cy="365760"/>
          </a:xfrm>
          <a:prstGeom prst="rect">
            <a:avLst/>
          </a:prstGeom>
          <a:noFill/>
        </p:spPr>
        <p:txBody>
          <a:bodyPr wrap="square" lIns="254" tIns="254" rIns="254" bIns="254" anchor="ctr">
            <a:normAutofit/>
          </a:bodyPr>
          <a:lstStyle/>
          <a:p>
            <a:pPr marL="0" indent="0" algn="l">
              <a:buNone/>
            </a:pPr>
            <a:endParaRPr sz="600"/>
          </a:p>
        </p:txBody>
      </p:sp>
      <p:pic>
        <p:nvPicPr>
          <p:cNvPr id="47" name="Image 4">
            <a:extLst>
              <a:ext uri="{FF2B5EF4-FFF2-40B4-BE49-F238E27FC236}">
                <a16:creationId xmlns:a16="http://schemas.microsoft.com/office/drawing/2014/main" id="{826EAD61-B690-4CCB-99E2-530CE5D21E60}"/>
              </a:ext>
            </a:extLst>
          </p:cNvPr>
          <p:cNvPicPr>
            <a:picLocks noChangeAspect="1"/>
          </p:cNvPicPr>
          <p:nvPr/>
        </p:nvPicPr>
        <p:blipFill>
          <a:blip r:embed="rId7"/>
          <a:stretch>
            <a:fillRect/>
          </a:stretch>
        </p:blipFill>
        <p:spPr>
          <a:xfrm>
            <a:off x="274320" y="2985516"/>
            <a:ext cx="201168" cy="201168"/>
          </a:xfrm>
          <a:prstGeom prst="rect">
            <a:avLst/>
          </a:prstGeom>
        </p:spPr>
      </p:pic>
      <p:sp>
        <p:nvSpPr>
          <p:cNvPr id="48" name="Text 41">
            <a:extLst>
              <a:ext uri="{FF2B5EF4-FFF2-40B4-BE49-F238E27FC236}">
                <a16:creationId xmlns:a16="http://schemas.microsoft.com/office/drawing/2014/main" id="{76F4C234-2302-4159-A8DC-1990B1F46388}"/>
              </a:ext>
            </a:extLst>
          </p:cNvPr>
          <p:cNvSpPr>
            <a:spLocks noGrp="1"/>
          </p:cNvSpPr>
          <p:nvPr/>
        </p:nvSpPr>
        <p:spPr>
          <a:xfrm>
            <a:off x="557784" y="3026664"/>
            <a:ext cx="749808" cy="146304"/>
          </a:xfrm>
          <a:prstGeom prst="rect">
            <a:avLst/>
          </a:prstGeom>
          <a:noFill/>
        </p:spPr>
        <p:txBody>
          <a:bodyPr wrap="square" lIns="0" tIns="0" rIns="0" bIns="0" anchor="ctr">
            <a:normAutofit fontScale="98320"/>
          </a:bodyPr>
          <a:lstStyle/>
          <a:p>
            <a:pPr marL="0" indent="0" algn="l">
              <a:buNone/>
            </a:pPr>
            <a:r>
              <a:rPr sz="800" b="1">
                <a:solidFill>
                  <a:srgbClr val="132043"/>
                </a:solidFill>
                <a:latin typeface="Calibri"/>
                <a:ea typeface="Calibri"/>
                <a:cs typeface="Calibri"/>
              </a:rPr>
              <a:t>Business Review</a:t>
            </a:r>
            <a:endParaRPr sz="800">
              <a:latin typeface="Calibri"/>
              <a:ea typeface="Calibri"/>
              <a:cs typeface="Calibri"/>
            </a:endParaRPr>
          </a:p>
        </p:txBody>
      </p:sp>
      <p:sp>
        <p:nvSpPr>
          <p:cNvPr id="49" name="Shape 42">
            <a:extLst>
              <a:ext uri="{FF2B5EF4-FFF2-40B4-BE49-F238E27FC236}">
                <a16:creationId xmlns:a16="http://schemas.microsoft.com/office/drawing/2014/main" id="{49388B26-0248-46CD-A4C6-FDA6304530B8}"/>
              </a:ext>
            </a:extLst>
          </p:cNvPr>
          <p:cNvSpPr>
            <a:spLocks noGrp="1"/>
          </p:cNvSpPr>
          <p:nvPr/>
        </p:nvSpPr>
        <p:spPr>
          <a:xfrm>
            <a:off x="5532120" y="3003804"/>
            <a:ext cx="859536" cy="201168"/>
          </a:xfrm>
          <a:prstGeom prst="roundRect">
            <a:avLst>
              <a:gd name="adj" fmla="val 36364"/>
            </a:avLst>
          </a:prstGeom>
          <a:solidFill>
            <a:srgbClr val="DDEFFF"/>
          </a:solidFill>
          <a:ln w="12700">
            <a:solidFill>
              <a:srgbClr val="DDEFFF"/>
            </a:solidFill>
            <a:prstDash val="solid"/>
          </a:ln>
        </p:spPr>
        <p:txBody>
          <a:bodyPr/>
          <a:lstStyle/>
          <a:p>
            <a:endParaRPr/>
          </a:p>
        </p:txBody>
      </p:sp>
      <p:sp>
        <p:nvSpPr>
          <p:cNvPr id="50" name="Text 43">
            <a:extLst>
              <a:ext uri="{FF2B5EF4-FFF2-40B4-BE49-F238E27FC236}">
                <a16:creationId xmlns:a16="http://schemas.microsoft.com/office/drawing/2014/main" id="{2DFAD825-39A7-4E17-9AE9-4754CA1D37E0}"/>
              </a:ext>
            </a:extLst>
          </p:cNvPr>
          <p:cNvSpPr>
            <a:spLocks noGrp="1"/>
          </p:cNvSpPr>
          <p:nvPr/>
        </p:nvSpPr>
        <p:spPr>
          <a:xfrm>
            <a:off x="5532120" y="3026664"/>
            <a:ext cx="859536" cy="146304"/>
          </a:xfrm>
          <a:prstGeom prst="rect">
            <a:avLst/>
          </a:prstGeom>
          <a:noFill/>
        </p:spPr>
        <p:txBody>
          <a:bodyPr wrap="square" lIns="0" tIns="0" rIns="0" bIns="0" anchor="ctr">
            <a:normAutofit/>
          </a:bodyPr>
          <a:lstStyle/>
          <a:p>
            <a:pPr marL="0" indent="0" algn="ctr">
              <a:buNone/>
            </a:pPr>
            <a:r>
              <a:rPr sz="900" b="1" dirty="0">
                <a:solidFill>
                  <a:srgbClr val="0070C0"/>
                </a:solidFill>
                <a:latin typeface="Calibri"/>
                <a:ea typeface="Calibri"/>
                <a:cs typeface="Calibri"/>
              </a:rPr>
              <a:t>Pending</a:t>
            </a:r>
            <a:endParaRPr sz="900" dirty="0">
              <a:latin typeface="Calibri"/>
              <a:ea typeface="Calibri"/>
              <a:cs typeface="Calibri"/>
            </a:endParaRPr>
          </a:p>
        </p:txBody>
      </p:sp>
      <p:sp>
        <p:nvSpPr>
          <p:cNvPr id="51" name="Shape 44">
            <a:extLst>
              <a:ext uri="{FF2B5EF4-FFF2-40B4-BE49-F238E27FC236}">
                <a16:creationId xmlns:a16="http://schemas.microsoft.com/office/drawing/2014/main" id="{88EFB1A4-94C5-49E0-9A25-FA3481B2A7A2}"/>
              </a:ext>
            </a:extLst>
          </p:cNvPr>
          <p:cNvSpPr>
            <a:spLocks noGrp="1"/>
          </p:cNvSpPr>
          <p:nvPr/>
        </p:nvSpPr>
        <p:spPr>
          <a:xfrm>
            <a:off x="164592" y="3310128"/>
            <a:ext cx="1225296" cy="411480"/>
          </a:xfrm>
          <a:prstGeom prst="rect">
            <a:avLst/>
          </a:prstGeom>
          <a:solidFill>
            <a:srgbClr val="FFFFFF"/>
          </a:solidFill>
          <a:ln w="6350">
            <a:solidFill>
              <a:srgbClr val="C9D7E7"/>
            </a:solidFill>
            <a:prstDash val="solid"/>
          </a:ln>
        </p:spPr>
        <p:txBody>
          <a:bodyPr/>
          <a:lstStyle/>
          <a:p>
            <a:endParaRPr/>
          </a:p>
        </p:txBody>
      </p:sp>
      <p:sp>
        <p:nvSpPr>
          <p:cNvPr id="52" name="Text 45">
            <a:extLst>
              <a:ext uri="{FF2B5EF4-FFF2-40B4-BE49-F238E27FC236}">
                <a16:creationId xmlns:a16="http://schemas.microsoft.com/office/drawing/2014/main" id="{716D2A27-75B1-4DF6-A48B-96BD0BE6C3CE}"/>
              </a:ext>
            </a:extLst>
          </p:cNvPr>
          <p:cNvSpPr>
            <a:spLocks noGrp="1"/>
          </p:cNvSpPr>
          <p:nvPr/>
        </p:nvSpPr>
        <p:spPr>
          <a:xfrm>
            <a:off x="201168" y="3337560"/>
            <a:ext cx="1152144" cy="365760"/>
          </a:xfrm>
          <a:prstGeom prst="rect">
            <a:avLst/>
          </a:prstGeom>
          <a:noFill/>
        </p:spPr>
        <p:txBody>
          <a:bodyPr wrap="square" lIns="254" tIns="254" rIns="254" bIns="254" anchor="ctr">
            <a:normAutofit/>
          </a:bodyPr>
          <a:lstStyle/>
          <a:p>
            <a:pPr marL="0" indent="0" algn="l">
              <a:buNone/>
            </a:pPr>
            <a:endParaRPr sz="600"/>
          </a:p>
        </p:txBody>
      </p:sp>
      <p:sp>
        <p:nvSpPr>
          <p:cNvPr id="53" name="Shape 46">
            <a:extLst>
              <a:ext uri="{FF2B5EF4-FFF2-40B4-BE49-F238E27FC236}">
                <a16:creationId xmlns:a16="http://schemas.microsoft.com/office/drawing/2014/main" id="{B76A4BE4-72DE-4A59-B607-4FC56EA32173}"/>
              </a:ext>
            </a:extLst>
          </p:cNvPr>
          <p:cNvSpPr>
            <a:spLocks noGrp="1"/>
          </p:cNvSpPr>
          <p:nvPr/>
        </p:nvSpPr>
        <p:spPr>
          <a:xfrm>
            <a:off x="1389888" y="3310128"/>
            <a:ext cx="2148840" cy="411480"/>
          </a:xfrm>
          <a:prstGeom prst="rect">
            <a:avLst/>
          </a:prstGeom>
          <a:solidFill>
            <a:srgbClr val="FFFFFF"/>
          </a:solidFill>
          <a:ln w="6350">
            <a:solidFill>
              <a:srgbClr val="C9D7E7"/>
            </a:solidFill>
            <a:prstDash val="solid"/>
          </a:ln>
        </p:spPr>
        <p:txBody>
          <a:bodyPr/>
          <a:lstStyle/>
          <a:p>
            <a:endParaRPr/>
          </a:p>
        </p:txBody>
      </p:sp>
      <p:sp>
        <p:nvSpPr>
          <p:cNvPr id="54" name="Text 47">
            <a:extLst>
              <a:ext uri="{FF2B5EF4-FFF2-40B4-BE49-F238E27FC236}">
                <a16:creationId xmlns:a16="http://schemas.microsoft.com/office/drawing/2014/main" id="{D30818B6-1E1F-4FD3-B7F4-08ABE39AFDA9}"/>
              </a:ext>
            </a:extLst>
          </p:cNvPr>
          <p:cNvSpPr>
            <a:spLocks noGrp="1"/>
          </p:cNvSpPr>
          <p:nvPr/>
        </p:nvSpPr>
        <p:spPr>
          <a:xfrm>
            <a:off x="1426464" y="3337560"/>
            <a:ext cx="2075688" cy="365760"/>
          </a:xfrm>
          <a:prstGeom prst="rect">
            <a:avLst/>
          </a:prstGeom>
          <a:noFill/>
        </p:spPr>
        <p:txBody>
          <a:bodyPr wrap="square" lIns="254" tIns="254" rIns="254" bIns="254" anchor="ctr">
            <a:normAutofit/>
          </a:bodyPr>
          <a:lstStyle/>
          <a:p>
            <a:pPr marL="0" indent="0" algn="l">
              <a:buNone/>
            </a:pPr>
            <a:r>
              <a:rPr sz="900" dirty="0">
                <a:solidFill>
                  <a:srgbClr val="132043"/>
                </a:solidFill>
                <a:latin typeface="Calibri"/>
                <a:ea typeface="Calibri"/>
                <a:cs typeface="Calibri"/>
              </a:rPr>
              <a:t>Release 2: 30 segments show completed deployment and business approval.</a:t>
            </a:r>
            <a:endParaRPr sz="900" dirty="0">
              <a:latin typeface="Calibri"/>
              <a:ea typeface="Calibri"/>
              <a:cs typeface="Calibri"/>
            </a:endParaRPr>
          </a:p>
        </p:txBody>
      </p:sp>
      <p:sp>
        <p:nvSpPr>
          <p:cNvPr id="55" name="Shape 48">
            <a:extLst>
              <a:ext uri="{FF2B5EF4-FFF2-40B4-BE49-F238E27FC236}">
                <a16:creationId xmlns:a16="http://schemas.microsoft.com/office/drawing/2014/main" id="{653B4716-083E-441C-9320-0D84FBA164AA}"/>
              </a:ext>
            </a:extLst>
          </p:cNvPr>
          <p:cNvSpPr>
            <a:spLocks noGrp="1"/>
          </p:cNvSpPr>
          <p:nvPr/>
        </p:nvSpPr>
        <p:spPr>
          <a:xfrm>
            <a:off x="3538728" y="3310128"/>
            <a:ext cx="1847088" cy="411480"/>
          </a:xfrm>
          <a:prstGeom prst="rect">
            <a:avLst/>
          </a:prstGeom>
          <a:solidFill>
            <a:srgbClr val="FFFFFF"/>
          </a:solidFill>
          <a:ln w="6350">
            <a:solidFill>
              <a:srgbClr val="C9D7E7"/>
            </a:solidFill>
            <a:prstDash val="solid"/>
          </a:ln>
        </p:spPr>
        <p:txBody>
          <a:bodyPr/>
          <a:lstStyle/>
          <a:p>
            <a:endParaRPr/>
          </a:p>
        </p:txBody>
      </p:sp>
      <p:sp>
        <p:nvSpPr>
          <p:cNvPr id="56" name="Text 49">
            <a:extLst>
              <a:ext uri="{FF2B5EF4-FFF2-40B4-BE49-F238E27FC236}">
                <a16:creationId xmlns:a16="http://schemas.microsoft.com/office/drawing/2014/main" id="{F11FE5D4-774D-402F-869D-A8A759A57E2B}"/>
              </a:ext>
            </a:extLst>
          </p:cNvPr>
          <p:cNvSpPr>
            <a:spLocks noGrp="1"/>
          </p:cNvSpPr>
          <p:nvPr/>
        </p:nvSpPr>
        <p:spPr>
          <a:xfrm>
            <a:off x="3575304" y="3337560"/>
            <a:ext cx="1773936" cy="365760"/>
          </a:xfrm>
          <a:prstGeom prst="rect">
            <a:avLst/>
          </a:prstGeom>
          <a:noFill/>
        </p:spPr>
        <p:txBody>
          <a:bodyPr wrap="square" lIns="254" tIns="254" rIns="254" bIns="254" anchor="ctr">
            <a:normAutofit/>
          </a:bodyPr>
          <a:lstStyle/>
          <a:p>
            <a:pPr marL="0" indent="0" algn="l">
              <a:buNone/>
            </a:pPr>
            <a:r>
              <a:rPr sz="900" dirty="0">
                <a:solidFill>
                  <a:srgbClr val="132043"/>
                </a:solidFill>
                <a:latin typeface="Calibri"/>
                <a:ea typeface="Calibri"/>
                <a:cs typeface="Calibri"/>
              </a:rPr>
              <a:t>Confirm QNXT load completion for the approved items.</a:t>
            </a:r>
            <a:endParaRPr sz="900" dirty="0">
              <a:latin typeface="Calibri"/>
              <a:ea typeface="Calibri"/>
              <a:cs typeface="Calibri"/>
            </a:endParaRPr>
          </a:p>
        </p:txBody>
      </p:sp>
      <p:sp>
        <p:nvSpPr>
          <p:cNvPr id="57" name="Shape 50">
            <a:extLst>
              <a:ext uri="{FF2B5EF4-FFF2-40B4-BE49-F238E27FC236}">
                <a16:creationId xmlns:a16="http://schemas.microsoft.com/office/drawing/2014/main" id="{959C0434-1569-47CD-93F5-1B02245FB46F}"/>
              </a:ext>
            </a:extLst>
          </p:cNvPr>
          <p:cNvSpPr>
            <a:spLocks noGrp="1"/>
          </p:cNvSpPr>
          <p:nvPr/>
        </p:nvSpPr>
        <p:spPr>
          <a:xfrm>
            <a:off x="5385816" y="3310128"/>
            <a:ext cx="1133856" cy="411480"/>
          </a:xfrm>
          <a:prstGeom prst="rect">
            <a:avLst/>
          </a:prstGeom>
          <a:solidFill>
            <a:srgbClr val="FFFFFF"/>
          </a:solidFill>
          <a:ln w="6350">
            <a:solidFill>
              <a:srgbClr val="C9D7E7"/>
            </a:solidFill>
            <a:prstDash val="solid"/>
          </a:ln>
        </p:spPr>
        <p:txBody>
          <a:bodyPr/>
          <a:lstStyle/>
          <a:p>
            <a:endParaRPr/>
          </a:p>
        </p:txBody>
      </p:sp>
      <p:sp>
        <p:nvSpPr>
          <p:cNvPr id="58" name="Text 51">
            <a:extLst>
              <a:ext uri="{FF2B5EF4-FFF2-40B4-BE49-F238E27FC236}">
                <a16:creationId xmlns:a16="http://schemas.microsoft.com/office/drawing/2014/main" id="{F5E5B926-54F2-46B1-ADF9-DC96BD2F61B9}"/>
              </a:ext>
            </a:extLst>
          </p:cNvPr>
          <p:cNvSpPr>
            <a:spLocks noGrp="1"/>
          </p:cNvSpPr>
          <p:nvPr/>
        </p:nvSpPr>
        <p:spPr>
          <a:xfrm>
            <a:off x="5422392" y="3337560"/>
            <a:ext cx="1060704" cy="365760"/>
          </a:xfrm>
          <a:prstGeom prst="rect">
            <a:avLst/>
          </a:prstGeom>
          <a:noFill/>
        </p:spPr>
        <p:txBody>
          <a:bodyPr wrap="square" lIns="254" tIns="254" rIns="254" bIns="254" anchor="ctr">
            <a:normAutofit/>
          </a:bodyPr>
          <a:lstStyle/>
          <a:p>
            <a:pPr marL="0" indent="0" algn="l">
              <a:buNone/>
            </a:pPr>
            <a:endParaRPr sz="600"/>
          </a:p>
        </p:txBody>
      </p:sp>
      <p:pic>
        <p:nvPicPr>
          <p:cNvPr id="59" name="Image 5">
            <a:extLst>
              <a:ext uri="{FF2B5EF4-FFF2-40B4-BE49-F238E27FC236}">
                <a16:creationId xmlns:a16="http://schemas.microsoft.com/office/drawing/2014/main" id="{2832BC78-87EC-4509-8ADB-A3E51954D222}"/>
              </a:ext>
            </a:extLst>
          </p:cNvPr>
          <p:cNvPicPr>
            <a:picLocks noChangeAspect="1"/>
          </p:cNvPicPr>
          <p:nvPr/>
        </p:nvPicPr>
        <p:blipFill>
          <a:blip r:embed="rId8"/>
          <a:stretch>
            <a:fillRect/>
          </a:stretch>
        </p:blipFill>
        <p:spPr>
          <a:xfrm>
            <a:off x="274320" y="3396996"/>
            <a:ext cx="201168" cy="201168"/>
          </a:xfrm>
          <a:prstGeom prst="rect">
            <a:avLst/>
          </a:prstGeom>
        </p:spPr>
      </p:pic>
      <p:sp>
        <p:nvSpPr>
          <p:cNvPr id="60" name="Text 52">
            <a:extLst>
              <a:ext uri="{FF2B5EF4-FFF2-40B4-BE49-F238E27FC236}">
                <a16:creationId xmlns:a16="http://schemas.microsoft.com/office/drawing/2014/main" id="{3EC91C9E-952C-4378-9F17-A169FED84A75}"/>
              </a:ext>
            </a:extLst>
          </p:cNvPr>
          <p:cNvSpPr>
            <a:spLocks noGrp="1"/>
          </p:cNvSpPr>
          <p:nvPr/>
        </p:nvSpPr>
        <p:spPr>
          <a:xfrm>
            <a:off x="557784" y="3438144"/>
            <a:ext cx="749808" cy="146304"/>
          </a:xfrm>
          <a:prstGeom prst="rect">
            <a:avLst/>
          </a:prstGeom>
          <a:noFill/>
        </p:spPr>
        <p:txBody>
          <a:bodyPr wrap="square" lIns="0" tIns="0" rIns="0" bIns="0" anchor="ctr">
            <a:normAutofit/>
          </a:bodyPr>
          <a:lstStyle/>
          <a:p>
            <a:pPr marL="0" indent="0" algn="l">
              <a:buNone/>
            </a:pPr>
            <a:r>
              <a:rPr sz="800" b="1">
                <a:solidFill>
                  <a:srgbClr val="132043"/>
                </a:solidFill>
                <a:latin typeface="Calibri"/>
                <a:ea typeface="Calibri"/>
                <a:cs typeface="Calibri"/>
              </a:rPr>
              <a:t>Release 2</a:t>
            </a:r>
            <a:endParaRPr sz="800">
              <a:latin typeface="Calibri"/>
              <a:ea typeface="Calibri"/>
              <a:cs typeface="Calibri"/>
            </a:endParaRPr>
          </a:p>
        </p:txBody>
      </p:sp>
      <p:sp>
        <p:nvSpPr>
          <p:cNvPr id="61" name="Shape 53">
            <a:extLst>
              <a:ext uri="{FF2B5EF4-FFF2-40B4-BE49-F238E27FC236}">
                <a16:creationId xmlns:a16="http://schemas.microsoft.com/office/drawing/2014/main" id="{229DE086-993F-45DD-92E2-F40C2EA3DD17}"/>
              </a:ext>
            </a:extLst>
          </p:cNvPr>
          <p:cNvSpPr>
            <a:spLocks noGrp="1"/>
          </p:cNvSpPr>
          <p:nvPr/>
        </p:nvSpPr>
        <p:spPr>
          <a:xfrm>
            <a:off x="5532120" y="3415284"/>
            <a:ext cx="859536" cy="201168"/>
          </a:xfrm>
          <a:prstGeom prst="roundRect">
            <a:avLst>
              <a:gd name="adj" fmla="val 36364"/>
            </a:avLst>
          </a:prstGeom>
          <a:solidFill>
            <a:srgbClr val="FFF0C9"/>
          </a:solidFill>
          <a:ln w="12700">
            <a:solidFill>
              <a:srgbClr val="FFF0C9"/>
            </a:solidFill>
            <a:prstDash val="solid"/>
          </a:ln>
        </p:spPr>
        <p:txBody>
          <a:bodyPr/>
          <a:lstStyle/>
          <a:p>
            <a:endParaRPr/>
          </a:p>
        </p:txBody>
      </p:sp>
      <p:sp>
        <p:nvSpPr>
          <p:cNvPr id="62" name="Text 54">
            <a:extLst>
              <a:ext uri="{FF2B5EF4-FFF2-40B4-BE49-F238E27FC236}">
                <a16:creationId xmlns:a16="http://schemas.microsoft.com/office/drawing/2014/main" id="{76673660-4E5F-49EF-9611-1F45BF8EDB7D}"/>
              </a:ext>
            </a:extLst>
          </p:cNvPr>
          <p:cNvSpPr>
            <a:spLocks noGrp="1"/>
          </p:cNvSpPr>
          <p:nvPr/>
        </p:nvSpPr>
        <p:spPr>
          <a:xfrm>
            <a:off x="5532120" y="3438144"/>
            <a:ext cx="859536" cy="146304"/>
          </a:xfrm>
          <a:prstGeom prst="rect">
            <a:avLst/>
          </a:prstGeom>
          <a:noFill/>
        </p:spPr>
        <p:txBody>
          <a:bodyPr wrap="square" lIns="0" tIns="0" rIns="0" bIns="0" anchor="ctr">
            <a:normAutofit/>
          </a:bodyPr>
          <a:lstStyle/>
          <a:p>
            <a:pPr marL="0" indent="0" algn="ctr">
              <a:buNone/>
            </a:pPr>
            <a:r>
              <a:rPr sz="900" b="1" dirty="0">
                <a:solidFill>
                  <a:srgbClr val="8A5A00"/>
                </a:solidFill>
                <a:latin typeface="Calibri"/>
                <a:ea typeface="Calibri"/>
                <a:cs typeface="Calibri"/>
              </a:rPr>
              <a:t>Completed</a:t>
            </a:r>
            <a:endParaRPr sz="900" dirty="0">
              <a:latin typeface="Calibri"/>
              <a:ea typeface="Calibri"/>
              <a:cs typeface="Calibri"/>
            </a:endParaRPr>
          </a:p>
        </p:txBody>
      </p:sp>
      <p:sp>
        <p:nvSpPr>
          <p:cNvPr id="63" name="Shape 55">
            <a:extLst>
              <a:ext uri="{FF2B5EF4-FFF2-40B4-BE49-F238E27FC236}">
                <a16:creationId xmlns:a16="http://schemas.microsoft.com/office/drawing/2014/main" id="{AC6CB903-ECE8-4CEB-8D43-4964412CAD5F}"/>
              </a:ext>
            </a:extLst>
          </p:cNvPr>
          <p:cNvSpPr>
            <a:spLocks noGrp="1"/>
          </p:cNvSpPr>
          <p:nvPr/>
        </p:nvSpPr>
        <p:spPr>
          <a:xfrm>
            <a:off x="164592" y="3721608"/>
            <a:ext cx="1225296" cy="411480"/>
          </a:xfrm>
          <a:prstGeom prst="rect">
            <a:avLst/>
          </a:prstGeom>
          <a:solidFill>
            <a:srgbClr val="FFFFFF"/>
          </a:solidFill>
          <a:ln w="6350">
            <a:solidFill>
              <a:srgbClr val="C9D7E7"/>
            </a:solidFill>
            <a:prstDash val="solid"/>
          </a:ln>
        </p:spPr>
        <p:txBody>
          <a:bodyPr/>
          <a:lstStyle/>
          <a:p>
            <a:endParaRPr/>
          </a:p>
        </p:txBody>
      </p:sp>
      <p:sp>
        <p:nvSpPr>
          <p:cNvPr id="64" name="Text 56">
            <a:extLst>
              <a:ext uri="{FF2B5EF4-FFF2-40B4-BE49-F238E27FC236}">
                <a16:creationId xmlns:a16="http://schemas.microsoft.com/office/drawing/2014/main" id="{4C406372-67B5-4A8C-B34A-E15409FE08C3}"/>
              </a:ext>
            </a:extLst>
          </p:cNvPr>
          <p:cNvSpPr>
            <a:spLocks noGrp="1"/>
          </p:cNvSpPr>
          <p:nvPr/>
        </p:nvSpPr>
        <p:spPr>
          <a:xfrm>
            <a:off x="201168" y="3749040"/>
            <a:ext cx="1152144" cy="365760"/>
          </a:xfrm>
          <a:prstGeom prst="rect">
            <a:avLst/>
          </a:prstGeom>
          <a:noFill/>
        </p:spPr>
        <p:txBody>
          <a:bodyPr wrap="square" lIns="254" tIns="254" rIns="254" bIns="254" anchor="ctr">
            <a:normAutofit/>
          </a:bodyPr>
          <a:lstStyle/>
          <a:p>
            <a:pPr marL="0" indent="0" algn="l">
              <a:buNone/>
            </a:pPr>
            <a:endParaRPr sz="600"/>
          </a:p>
        </p:txBody>
      </p:sp>
      <p:sp>
        <p:nvSpPr>
          <p:cNvPr id="65" name="Shape 57">
            <a:extLst>
              <a:ext uri="{FF2B5EF4-FFF2-40B4-BE49-F238E27FC236}">
                <a16:creationId xmlns:a16="http://schemas.microsoft.com/office/drawing/2014/main" id="{13690349-7ACE-4C2F-8A62-EC8244035BC9}"/>
              </a:ext>
            </a:extLst>
          </p:cNvPr>
          <p:cNvSpPr>
            <a:spLocks noGrp="1"/>
          </p:cNvSpPr>
          <p:nvPr/>
        </p:nvSpPr>
        <p:spPr>
          <a:xfrm>
            <a:off x="1389888" y="3721608"/>
            <a:ext cx="2148840" cy="411480"/>
          </a:xfrm>
          <a:prstGeom prst="rect">
            <a:avLst/>
          </a:prstGeom>
          <a:solidFill>
            <a:srgbClr val="FFFFFF"/>
          </a:solidFill>
          <a:ln w="6350">
            <a:solidFill>
              <a:srgbClr val="C9D7E7"/>
            </a:solidFill>
            <a:prstDash val="solid"/>
          </a:ln>
        </p:spPr>
        <p:txBody>
          <a:bodyPr/>
          <a:lstStyle/>
          <a:p>
            <a:endParaRPr/>
          </a:p>
        </p:txBody>
      </p:sp>
      <p:sp>
        <p:nvSpPr>
          <p:cNvPr id="66" name="Text 58">
            <a:extLst>
              <a:ext uri="{FF2B5EF4-FFF2-40B4-BE49-F238E27FC236}">
                <a16:creationId xmlns:a16="http://schemas.microsoft.com/office/drawing/2014/main" id="{120800CD-B82E-496C-BF9F-F79214844002}"/>
              </a:ext>
            </a:extLst>
          </p:cNvPr>
          <p:cNvSpPr>
            <a:spLocks noGrp="1"/>
          </p:cNvSpPr>
          <p:nvPr/>
        </p:nvSpPr>
        <p:spPr>
          <a:xfrm>
            <a:off x="1426464" y="3749040"/>
            <a:ext cx="2075688" cy="365760"/>
          </a:xfrm>
          <a:prstGeom prst="rect">
            <a:avLst/>
          </a:prstGeom>
          <a:noFill/>
        </p:spPr>
        <p:txBody>
          <a:bodyPr wrap="square" lIns="254" tIns="254" rIns="254" bIns="254" anchor="ctr">
            <a:normAutofit/>
          </a:bodyPr>
          <a:lstStyle/>
          <a:p>
            <a:pPr marL="0" indent="0" algn="l">
              <a:buNone/>
            </a:pPr>
            <a:r>
              <a:rPr sz="900" dirty="0">
                <a:solidFill>
                  <a:srgbClr val="132043"/>
                </a:solidFill>
                <a:latin typeface="Calibri"/>
                <a:ea typeface="Calibri"/>
                <a:cs typeface="Calibri"/>
              </a:rPr>
              <a:t>Release 3 has mixed status: FL / OK review pending; WV development underway.</a:t>
            </a:r>
            <a:endParaRPr sz="900" dirty="0">
              <a:latin typeface="Calibri"/>
              <a:ea typeface="Calibri"/>
              <a:cs typeface="Calibri"/>
            </a:endParaRPr>
          </a:p>
        </p:txBody>
      </p:sp>
      <p:sp>
        <p:nvSpPr>
          <p:cNvPr id="67" name="Shape 59">
            <a:extLst>
              <a:ext uri="{FF2B5EF4-FFF2-40B4-BE49-F238E27FC236}">
                <a16:creationId xmlns:a16="http://schemas.microsoft.com/office/drawing/2014/main" id="{8C9330AC-3663-436E-AB07-247E5C2DFA17}"/>
              </a:ext>
            </a:extLst>
          </p:cNvPr>
          <p:cNvSpPr>
            <a:spLocks noGrp="1"/>
          </p:cNvSpPr>
          <p:nvPr/>
        </p:nvSpPr>
        <p:spPr>
          <a:xfrm>
            <a:off x="3538728" y="3721608"/>
            <a:ext cx="1847088" cy="411480"/>
          </a:xfrm>
          <a:prstGeom prst="rect">
            <a:avLst/>
          </a:prstGeom>
          <a:solidFill>
            <a:srgbClr val="FFFFFF"/>
          </a:solidFill>
          <a:ln w="6350">
            <a:solidFill>
              <a:srgbClr val="C9D7E7"/>
            </a:solidFill>
            <a:prstDash val="solid"/>
          </a:ln>
        </p:spPr>
        <p:txBody>
          <a:bodyPr/>
          <a:lstStyle/>
          <a:p>
            <a:endParaRPr/>
          </a:p>
        </p:txBody>
      </p:sp>
      <p:sp>
        <p:nvSpPr>
          <p:cNvPr id="68" name="Text 60">
            <a:extLst>
              <a:ext uri="{FF2B5EF4-FFF2-40B4-BE49-F238E27FC236}">
                <a16:creationId xmlns:a16="http://schemas.microsoft.com/office/drawing/2014/main" id="{DD4ACB06-93CD-442F-A8E3-476C6E339035}"/>
              </a:ext>
            </a:extLst>
          </p:cNvPr>
          <p:cNvSpPr>
            <a:spLocks noGrp="1"/>
          </p:cNvSpPr>
          <p:nvPr/>
        </p:nvSpPr>
        <p:spPr>
          <a:xfrm>
            <a:off x="3575304" y="3749040"/>
            <a:ext cx="1773936" cy="365760"/>
          </a:xfrm>
          <a:prstGeom prst="rect">
            <a:avLst/>
          </a:prstGeom>
          <a:noFill/>
        </p:spPr>
        <p:txBody>
          <a:bodyPr wrap="square" lIns="254" tIns="254" rIns="254" bIns="254" anchor="ctr">
            <a:normAutofit/>
          </a:bodyPr>
          <a:lstStyle/>
          <a:p>
            <a:pPr marL="0" indent="0" algn="l">
              <a:buNone/>
            </a:pPr>
            <a:r>
              <a:rPr sz="900" dirty="0">
                <a:solidFill>
                  <a:srgbClr val="132043"/>
                </a:solidFill>
                <a:latin typeface="Calibri"/>
                <a:ea typeface="Calibri"/>
                <a:cs typeface="Calibri"/>
              </a:rPr>
              <a:t>Complete WV development and close pending FL / OK reviews.</a:t>
            </a:r>
            <a:endParaRPr sz="900" dirty="0">
              <a:latin typeface="Calibri"/>
              <a:ea typeface="Calibri"/>
              <a:cs typeface="Calibri"/>
            </a:endParaRPr>
          </a:p>
        </p:txBody>
      </p:sp>
      <p:sp>
        <p:nvSpPr>
          <p:cNvPr id="69" name="Shape 61">
            <a:extLst>
              <a:ext uri="{FF2B5EF4-FFF2-40B4-BE49-F238E27FC236}">
                <a16:creationId xmlns:a16="http://schemas.microsoft.com/office/drawing/2014/main" id="{F77667E1-770C-4DCA-88AB-2CB9AE3C13BD}"/>
              </a:ext>
            </a:extLst>
          </p:cNvPr>
          <p:cNvSpPr>
            <a:spLocks noGrp="1"/>
          </p:cNvSpPr>
          <p:nvPr/>
        </p:nvSpPr>
        <p:spPr>
          <a:xfrm>
            <a:off x="5385816" y="3721608"/>
            <a:ext cx="1133856" cy="411480"/>
          </a:xfrm>
          <a:prstGeom prst="rect">
            <a:avLst/>
          </a:prstGeom>
          <a:solidFill>
            <a:srgbClr val="FFFFFF"/>
          </a:solidFill>
          <a:ln w="6350">
            <a:solidFill>
              <a:srgbClr val="C9D7E7"/>
            </a:solidFill>
            <a:prstDash val="solid"/>
          </a:ln>
        </p:spPr>
        <p:txBody>
          <a:bodyPr/>
          <a:lstStyle/>
          <a:p>
            <a:endParaRPr/>
          </a:p>
        </p:txBody>
      </p:sp>
      <p:sp>
        <p:nvSpPr>
          <p:cNvPr id="70" name="Text 62">
            <a:extLst>
              <a:ext uri="{FF2B5EF4-FFF2-40B4-BE49-F238E27FC236}">
                <a16:creationId xmlns:a16="http://schemas.microsoft.com/office/drawing/2014/main" id="{D35055E9-81A4-41B1-946E-17947AD04897}"/>
              </a:ext>
            </a:extLst>
          </p:cNvPr>
          <p:cNvSpPr>
            <a:spLocks noGrp="1"/>
          </p:cNvSpPr>
          <p:nvPr/>
        </p:nvSpPr>
        <p:spPr>
          <a:xfrm>
            <a:off x="5422392" y="3749040"/>
            <a:ext cx="1060704" cy="365760"/>
          </a:xfrm>
          <a:prstGeom prst="rect">
            <a:avLst/>
          </a:prstGeom>
          <a:noFill/>
        </p:spPr>
        <p:txBody>
          <a:bodyPr wrap="square" lIns="254" tIns="254" rIns="254" bIns="254" anchor="ctr">
            <a:normAutofit/>
          </a:bodyPr>
          <a:lstStyle/>
          <a:p>
            <a:pPr marL="0" indent="0" algn="l">
              <a:buNone/>
            </a:pPr>
            <a:endParaRPr sz="600"/>
          </a:p>
        </p:txBody>
      </p:sp>
      <p:pic>
        <p:nvPicPr>
          <p:cNvPr id="71" name="Image 6">
            <a:extLst>
              <a:ext uri="{FF2B5EF4-FFF2-40B4-BE49-F238E27FC236}">
                <a16:creationId xmlns:a16="http://schemas.microsoft.com/office/drawing/2014/main" id="{849D2451-4410-4915-98F0-6DCB7E6497F2}"/>
              </a:ext>
            </a:extLst>
          </p:cNvPr>
          <p:cNvPicPr>
            <a:picLocks noChangeAspect="1"/>
          </p:cNvPicPr>
          <p:nvPr/>
        </p:nvPicPr>
        <p:blipFill>
          <a:blip r:embed="rId9"/>
          <a:stretch>
            <a:fillRect/>
          </a:stretch>
        </p:blipFill>
        <p:spPr>
          <a:xfrm>
            <a:off x="274320" y="3808476"/>
            <a:ext cx="201168" cy="201168"/>
          </a:xfrm>
          <a:prstGeom prst="rect">
            <a:avLst/>
          </a:prstGeom>
        </p:spPr>
      </p:pic>
      <p:sp>
        <p:nvSpPr>
          <p:cNvPr id="72" name="Text 63">
            <a:extLst>
              <a:ext uri="{FF2B5EF4-FFF2-40B4-BE49-F238E27FC236}">
                <a16:creationId xmlns:a16="http://schemas.microsoft.com/office/drawing/2014/main" id="{DEBEAE49-7CC7-4FEB-B7EE-EC1B8F514723}"/>
              </a:ext>
            </a:extLst>
          </p:cNvPr>
          <p:cNvSpPr>
            <a:spLocks noGrp="1"/>
          </p:cNvSpPr>
          <p:nvPr/>
        </p:nvSpPr>
        <p:spPr>
          <a:xfrm>
            <a:off x="557784" y="3849624"/>
            <a:ext cx="749808" cy="146304"/>
          </a:xfrm>
          <a:prstGeom prst="rect">
            <a:avLst/>
          </a:prstGeom>
          <a:noFill/>
        </p:spPr>
        <p:txBody>
          <a:bodyPr wrap="square" lIns="0" tIns="0" rIns="0" bIns="0" anchor="ctr">
            <a:normAutofit/>
          </a:bodyPr>
          <a:lstStyle/>
          <a:p>
            <a:pPr marL="0" indent="0" algn="l">
              <a:buNone/>
            </a:pPr>
            <a:r>
              <a:rPr sz="800" b="1">
                <a:solidFill>
                  <a:srgbClr val="132043"/>
                </a:solidFill>
                <a:latin typeface="Calibri"/>
                <a:ea typeface="Calibri"/>
                <a:cs typeface="Calibri"/>
              </a:rPr>
              <a:t>Release 3</a:t>
            </a:r>
            <a:endParaRPr sz="800">
              <a:latin typeface="Calibri"/>
              <a:ea typeface="Calibri"/>
              <a:cs typeface="Calibri"/>
            </a:endParaRPr>
          </a:p>
        </p:txBody>
      </p:sp>
      <p:sp>
        <p:nvSpPr>
          <p:cNvPr id="73" name="Shape 64">
            <a:extLst>
              <a:ext uri="{FF2B5EF4-FFF2-40B4-BE49-F238E27FC236}">
                <a16:creationId xmlns:a16="http://schemas.microsoft.com/office/drawing/2014/main" id="{8DC6B947-9B46-4574-8F19-C37E23DA1844}"/>
              </a:ext>
            </a:extLst>
          </p:cNvPr>
          <p:cNvSpPr>
            <a:spLocks noGrp="1"/>
          </p:cNvSpPr>
          <p:nvPr/>
        </p:nvSpPr>
        <p:spPr>
          <a:xfrm>
            <a:off x="5532120" y="3826764"/>
            <a:ext cx="859536" cy="201168"/>
          </a:xfrm>
          <a:prstGeom prst="roundRect">
            <a:avLst>
              <a:gd name="adj" fmla="val 36364"/>
            </a:avLst>
          </a:prstGeom>
          <a:solidFill>
            <a:srgbClr val="FFF0C9"/>
          </a:solidFill>
          <a:ln w="12700">
            <a:solidFill>
              <a:srgbClr val="FFF0C9"/>
            </a:solidFill>
            <a:prstDash val="solid"/>
          </a:ln>
        </p:spPr>
        <p:txBody>
          <a:bodyPr/>
          <a:lstStyle/>
          <a:p>
            <a:endParaRPr/>
          </a:p>
        </p:txBody>
      </p:sp>
      <p:sp>
        <p:nvSpPr>
          <p:cNvPr id="74" name="Text 65">
            <a:extLst>
              <a:ext uri="{FF2B5EF4-FFF2-40B4-BE49-F238E27FC236}">
                <a16:creationId xmlns:a16="http://schemas.microsoft.com/office/drawing/2014/main" id="{CD414F26-ABE6-4C47-A285-D98198550F54}"/>
              </a:ext>
            </a:extLst>
          </p:cNvPr>
          <p:cNvSpPr>
            <a:spLocks noGrp="1"/>
          </p:cNvSpPr>
          <p:nvPr/>
        </p:nvSpPr>
        <p:spPr>
          <a:xfrm>
            <a:off x="5532120" y="3849624"/>
            <a:ext cx="859536" cy="146304"/>
          </a:xfrm>
          <a:prstGeom prst="rect">
            <a:avLst/>
          </a:prstGeom>
          <a:noFill/>
        </p:spPr>
        <p:txBody>
          <a:bodyPr wrap="square" lIns="0" tIns="0" rIns="0" bIns="0" anchor="ctr">
            <a:normAutofit/>
          </a:bodyPr>
          <a:lstStyle/>
          <a:p>
            <a:pPr marL="0" indent="0" algn="ctr">
              <a:buNone/>
            </a:pPr>
            <a:r>
              <a:rPr sz="900" b="1" dirty="0">
                <a:solidFill>
                  <a:srgbClr val="8A5A00"/>
                </a:solidFill>
                <a:latin typeface="Calibri"/>
                <a:ea typeface="Calibri"/>
                <a:cs typeface="Calibri"/>
              </a:rPr>
              <a:t>In Progress</a:t>
            </a:r>
            <a:endParaRPr sz="900" dirty="0">
              <a:latin typeface="Calibri"/>
              <a:ea typeface="Calibri"/>
              <a:cs typeface="Calibri"/>
            </a:endParaRPr>
          </a:p>
        </p:txBody>
      </p:sp>
      <p:sp>
        <p:nvSpPr>
          <p:cNvPr id="75" name="Shape 66">
            <a:extLst>
              <a:ext uri="{FF2B5EF4-FFF2-40B4-BE49-F238E27FC236}">
                <a16:creationId xmlns:a16="http://schemas.microsoft.com/office/drawing/2014/main" id="{D83F6748-A091-4786-B9A9-D06FC686CD51}"/>
              </a:ext>
            </a:extLst>
          </p:cNvPr>
          <p:cNvSpPr>
            <a:spLocks noGrp="1"/>
          </p:cNvSpPr>
          <p:nvPr/>
        </p:nvSpPr>
        <p:spPr>
          <a:xfrm>
            <a:off x="164592" y="4133088"/>
            <a:ext cx="1225296" cy="411480"/>
          </a:xfrm>
          <a:prstGeom prst="rect">
            <a:avLst/>
          </a:prstGeom>
          <a:solidFill>
            <a:srgbClr val="FFFFFF"/>
          </a:solidFill>
          <a:ln w="6350">
            <a:solidFill>
              <a:srgbClr val="C9D7E7"/>
            </a:solidFill>
            <a:prstDash val="solid"/>
          </a:ln>
        </p:spPr>
        <p:txBody>
          <a:bodyPr/>
          <a:lstStyle/>
          <a:p>
            <a:endParaRPr/>
          </a:p>
        </p:txBody>
      </p:sp>
      <p:sp>
        <p:nvSpPr>
          <p:cNvPr id="76" name="Text 67">
            <a:extLst>
              <a:ext uri="{FF2B5EF4-FFF2-40B4-BE49-F238E27FC236}">
                <a16:creationId xmlns:a16="http://schemas.microsoft.com/office/drawing/2014/main" id="{DD98E23F-A89A-49A0-A1AE-1E3F2C43AC2C}"/>
              </a:ext>
            </a:extLst>
          </p:cNvPr>
          <p:cNvSpPr>
            <a:spLocks noGrp="1"/>
          </p:cNvSpPr>
          <p:nvPr/>
        </p:nvSpPr>
        <p:spPr>
          <a:xfrm>
            <a:off x="201168" y="4160520"/>
            <a:ext cx="1152144" cy="365760"/>
          </a:xfrm>
          <a:prstGeom prst="rect">
            <a:avLst/>
          </a:prstGeom>
          <a:noFill/>
        </p:spPr>
        <p:txBody>
          <a:bodyPr wrap="square" lIns="254" tIns="254" rIns="254" bIns="254" anchor="ctr">
            <a:normAutofit/>
          </a:bodyPr>
          <a:lstStyle/>
          <a:p>
            <a:pPr marL="0" indent="0" algn="l">
              <a:buNone/>
            </a:pPr>
            <a:endParaRPr sz="600"/>
          </a:p>
        </p:txBody>
      </p:sp>
      <p:sp>
        <p:nvSpPr>
          <p:cNvPr id="77" name="Shape 68">
            <a:extLst>
              <a:ext uri="{FF2B5EF4-FFF2-40B4-BE49-F238E27FC236}">
                <a16:creationId xmlns:a16="http://schemas.microsoft.com/office/drawing/2014/main" id="{8E7CBA4C-CBE5-4731-912D-32DBA722F6B0}"/>
              </a:ext>
            </a:extLst>
          </p:cNvPr>
          <p:cNvSpPr>
            <a:spLocks noGrp="1"/>
          </p:cNvSpPr>
          <p:nvPr/>
        </p:nvSpPr>
        <p:spPr>
          <a:xfrm>
            <a:off x="1389888" y="4133088"/>
            <a:ext cx="2148840" cy="411480"/>
          </a:xfrm>
          <a:prstGeom prst="rect">
            <a:avLst/>
          </a:prstGeom>
          <a:solidFill>
            <a:srgbClr val="FFFFFF"/>
          </a:solidFill>
          <a:ln w="6350">
            <a:solidFill>
              <a:srgbClr val="C9D7E7"/>
            </a:solidFill>
            <a:prstDash val="solid"/>
          </a:ln>
        </p:spPr>
        <p:txBody>
          <a:bodyPr/>
          <a:lstStyle/>
          <a:p>
            <a:endParaRPr/>
          </a:p>
        </p:txBody>
      </p:sp>
      <p:sp>
        <p:nvSpPr>
          <p:cNvPr id="78" name="Text 69">
            <a:extLst>
              <a:ext uri="{FF2B5EF4-FFF2-40B4-BE49-F238E27FC236}">
                <a16:creationId xmlns:a16="http://schemas.microsoft.com/office/drawing/2014/main" id="{B776C717-94EC-42B4-9776-6FF44542EB30}"/>
              </a:ext>
            </a:extLst>
          </p:cNvPr>
          <p:cNvSpPr>
            <a:spLocks noGrp="1"/>
          </p:cNvSpPr>
          <p:nvPr/>
        </p:nvSpPr>
        <p:spPr>
          <a:xfrm>
            <a:off x="1426464" y="4160520"/>
            <a:ext cx="2075688" cy="365760"/>
          </a:xfrm>
          <a:prstGeom prst="rect">
            <a:avLst/>
          </a:prstGeom>
          <a:noFill/>
        </p:spPr>
        <p:txBody>
          <a:bodyPr wrap="square" lIns="254" tIns="254" rIns="254" bIns="254" anchor="ctr">
            <a:noAutofit/>
          </a:bodyPr>
          <a:lstStyle/>
          <a:p>
            <a:pPr marL="0" indent="0" algn="l">
              <a:buNone/>
            </a:pPr>
            <a:r>
              <a:rPr sz="900" dirty="0">
                <a:solidFill>
                  <a:srgbClr val="132043"/>
                </a:solidFill>
                <a:latin typeface="Calibri"/>
                <a:ea typeface="Calibri"/>
                <a:cs typeface="Calibri"/>
              </a:rPr>
              <a:t>Release 5: 12 segments in QA across OHRS / MD; some QA files need attention.</a:t>
            </a:r>
            <a:endParaRPr sz="900" dirty="0">
              <a:latin typeface="Calibri"/>
              <a:ea typeface="Calibri"/>
              <a:cs typeface="Calibri"/>
            </a:endParaRPr>
          </a:p>
        </p:txBody>
      </p:sp>
      <p:sp>
        <p:nvSpPr>
          <p:cNvPr id="79" name="Shape 70">
            <a:extLst>
              <a:ext uri="{FF2B5EF4-FFF2-40B4-BE49-F238E27FC236}">
                <a16:creationId xmlns:a16="http://schemas.microsoft.com/office/drawing/2014/main" id="{CFA2B97B-1E2E-4E4E-A101-C1327FD10E61}"/>
              </a:ext>
            </a:extLst>
          </p:cNvPr>
          <p:cNvSpPr>
            <a:spLocks noGrp="1"/>
          </p:cNvSpPr>
          <p:nvPr/>
        </p:nvSpPr>
        <p:spPr>
          <a:xfrm>
            <a:off x="3538728" y="4133088"/>
            <a:ext cx="1847088" cy="411480"/>
          </a:xfrm>
          <a:prstGeom prst="rect">
            <a:avLst/>
          </a:prstGeom>
          <a:solidFill>
            <a:srgbClr val="FFFFFF"/>
          </a:solidFill>
          <a:ln w="6350">
            <a:solidFill>
              <a:srgbClr val="C9D7E7"/>
            </a:solidFill>
            <a:prstDash val="solid"/>
          </a:ln>
        </p:spPr>
        <p:txBody>
          <a:bodyPr/>
          <a:lstStyle/>
          <a:p>
            <a:endParaRPr/>
          </a:p>
        </p:txBody>
      </p:sp>
      <p:sp>
        <p:nvSpPr>
          <p:cNvPr id="80" name="Text 71">
            <a:extLst>
              <a:ext uri="{FF2B5EF4-FFF2-40B4-BE49-F238E27FC236}">
                <a16:creationId xmlns:a16="http://schemas.microsoft.com/office/drawing/2014/main" id="{84DA04B1-78F1-408E-AC47-044AAE2BCB03}"/>
              </a:ext>
            </a:extLst>
          </p:cNvPr>
          <p:cNvSpPr>
            <a:spLocks noGrp="1"/>
          </p:cNvSpPr>
          <p:nvPr/>
        </p:nvSpPr>
        <p:spPr>
          <a:xfrm>
            <a:off x="3575304" y="4160520"/>
            <a:ext cx="1773936" cy="365760"/>
          </a:xfrm>
          <a:prstGeom prst="rect">
            <a:avLst/>
          </a:prstGeom>
          <a:noFill/>
        </p:spPr>
        <p:txBody>
          <a:bodyPr wrap="square" lIns="254" tIns="254" rIns="254" bIns="254" anchor="ctr">
            <a:normAutofit/>
          </a:bodyPr>
          <a:lstStyle/>
          <a:p>
            <a:pPr marL="0" indent="0" algn="l">
              <a:buNone/>
            </a:pPr>
            <a:r>
              <a:rPr sz="900" dirty="0">
                <a:solidFill>
                  <a:srgbClr val="132043"/>
                </a:solidFill>
                <a:latin typeface="Calibri"/>
                <a:ea typeface="Calibri"/>
                <a:cs typeface="Calibri"/>
              </a:rPr>
              <a:t>Resolve file gaps and complete testing against the 28 Oct target.</a:t>
            </a:r>
            <a:endParaRPr sz="900" dirty="0">
              <a:latin typeface="Calibri"/>
              <a:ea typeface="Calibri"/>
              <a:cs typeface="Calibri"/>
            </a:endParaRPr>
          </a:p>
        </p:txBody>
      </p:sp>
      <p:sp>
        <p:nvSpPr>
          <p:cNvPr id="81" name="Shape 72">
            <a:extLst>
              <a:ext uri="{FF2B5EF4-FFF2-40B4-BE49-F238E27FC236}">
                <a16:creationId xmlns:a16="http://schemas.microsoft.com/office/drawing/2014/main" id="{B5737661-798A-4028-B2D8-5856DA2F8E07}"/>
              </a:ext>
            </a:extLst>
          </p:cNvPr>
          <p:cNvSpPr>
            <a:spLocks noGrp="1"/>
          </p:cNvSpPr>
          <p:nvPr/>
        </p:nvSpPr>
        <p:spPr>
          <a:xfrm>
            <a:off x="5385816" y="4133088"/>
            <a:ext cx="1133856" cy="411480"/>
          </a:xfrm>
          <a:prstGeom prst="rect">
            <a:avLst/>
          </a:prstGeom>
          <a:solidFill>
            <a:srgbClr val="FFFFFF"/>
          </a:solidFill>
          <a:ln w="6350">
            <a:solidFill>
              <a:srgbClr val="C9D7E7"/>
            </a:solidFill>
            <a:prstDash val="solid"/>
          </a:ln>
        </p:spPr>
        <p:txBody>
          <a:bodyPr/>
          <a:lstStyle/>
          <a:p>
            <a:endParaRPr/>
          </a:p>
        </p:txBody>
      </p:sp>
      <p:sp>
        <p:nvSpPr>
          <p:cNvPr id="82" name="Text 73">
            <a:extLst>
              <a:ext uri="{FF2B5EF4-FFF2-40B4-BE49-F238E27FC236}">
                <a16:creationId xmlns:a16="http://schemas.microsoft.com/office/drawing/2014/main" id="{2371FD0E-177C-478D-9989-8CA6DE28C97E}"/>
              </a:ext>
            </a:extLst>
          </p:cNvPr>
          <p:cNvSpPr>
            <a:spLocks noGrp="1"/>
          </p:cNvSpPr>
          <p:nvPr/>
        </p:nvSpPr>
        <p:spPr>
          <a:xfrm>
            <a:off x="5422392" y="4160520"/>
            <a:ext cx="1060704" cy="365760"/>
          </a:xfrm>
          <a:prstGeom prst="rect">
            <a:avLst/>
          </a:prstGeom>
          <a:noFill/>
        </p:spPr>
        <p:txBody>
          <a:bodyPr wrap="square" lIns="254" tIns="254" rIns="254" bIns="254" anchor="ctr">
            <a:normAutofit/>
          </a:bodyPr>
          <a:lstStyle/>
          <a:p>
            <a:pPr marL="0" indent="0" algn="l">
              <a:buNone/>
            </a:pPr>
            <a:endParaRPr sz="600"/>
          </a:p>
        </p:txBody>
      </p:sp>
      <p:pic>
        <p:nvPicPr>
          <p:cNvPr id="83" name="Image 7">
            <a:extLst>
              <a:ext uri="{FF2B5EF4-FFF2-40B4-BE49-F238E27FC236}">
                <a16:creationId xmlns:a16="http://schemas.microsoft.com/office/drawing/2014/main" id="{52A5F050-5907-4009-8C6E-F8892DA96AFD}"/>
              </a:ext>
            </a:extLst>
          </p:cNvPr>
          <p:cNvPicPr>
            <a:picLocks noChangeAspect="1"/>
          </p:cNvPicPr>
          <p:nvPr/>
        </p:nvPicPr>
        <p:blipFill>
          <a:blip r:embed="rId10"/>
          <a:stretch>
            <a:fillRect/>
          </a:stretch>
        </p:blipFill>
        <p:spPr>
          <a:xfrm>
            <a:off x="274320" y="4219956"/>
            <a:ext cx="201168" cy="201168"/>
          </a:xfrm>
          <a:prstGeom prst="rect">
            <a:avLst/>
          </a:prstGeom>
        </p:spPr>
      </p:pic>
      <p:sp>
        <p:nvSpPr>
          <p:cNvPr id="84" name="Text 74">
            <a:extLst>
              <a:ext uri="{FF2B5EF4-FFF2-40B4-BE49-F238E27FC236}">
                <a16:creationId xmlns:a16="http://schemas.microsoft.com/office/drawing/2014/main" id="{0362F687-6F4E-4DBC-965A-C8B151A7C284}"/>
              </a:ext>
            </a:extLst>
          </p:cNvPr>
          <p:cNvSpPr>
            <a:spLocks noGrp="1"/>
          </p:cNvSpPr>
          <p:nvPr/>
        </p:nvSpPr>
        <p:spPr>
          <a:xfrm>
            <a:off x="557784" y="4261104"/>
            <a:ext cx="749808" cy="146304"/>
          </a:xfrm>
          <a:prstGeom prst="rect">
            <a:avLst/>
          </a:prstGeom>
          <a:noFill/>
        </p:spPr>
        <p:txBody>
          <a:bodyPr wrap="square" lIns="0" tIns="0" rIns="0" bIns="0" anchor="ctr">
            <a:normAutofit/>
          </a:bodyPr>
          <a:lstStyle/>
          <a:p>
            <a:pPr marL="0" indent="0" algn="l">
              <a:buNone/>
            </a:pPr>
            <a:r>
              <a:rPr sz="800" b="1">
                <a:solidFill>
                  <a:srgbClr val="132043"/>
                </a:solidFill>
                <a:latin typeface="Calibri"/>
                <a:ea typeface="Calibri"/>
                <a:cs typeface="Calibri"/>
              </a:rPr>
              <a:t>Release 5</a:t>
            </a:r>
            <a:endParaRPr sz="800">
              <a:latin typeface="Calibri"/>
              <a:ea typeface="Calibri"/>
              <a:cs typeface="Calibri"/>
            </a:endParaRPr>
          </a:p>
        </p:txBody>
      </p:sp>
      <p:sp>
        <p:nvSpPr>
          <p:cNvPr id="85" name="Shape 75">
            <a:extLst>
              <a:ext uri="{FF2B5EF4-FFF2-40B4-BE49-F238E27FC236}">
                <a16:creationId xmlns:a16="http://schemas.microsoft.com/office/drawing/2014/main" id="{E0E3EF26-0289-4BCB-B04E-558BC9019EE2}"/>
              </a:ext>
            </a:extLst>
          </p:cNvPr>
          <p:cNvSpPr>
            <a:spLocks noGrp="1"/>
          </p:cNvSpPr>
          <p:nvPr/>
        </p:nvSpPr>
        <p:spPr>
          <a:xfrm>
            <a:off x="5532120" y="4238244"/>
            <a:ext cx="859536" cy="201168"/>
          </a:xfrm>
          <a:prstGeom prst="roundRect">
            <a:avLst>
              <a:gd name="adj" fmla="val 36364"/>
            </a:avLst>
          </a:prstGeom>
          <a:solidFill>
            <a:srgbClr val="DDF4E5"/>
          </a:solidFill>
          <a:ln w="12700">
            <a:solidFill>
              <a:srgbClr val="DDF4E5"/>
            </a:solidFill>
            <a:prstDash val="solid"/>
          </a:ln>
        </p:spPr>
        <p:txBody>
          <a:bodyPr/>
          <a:lstStyle/>
          <a:p>
            <a:endParaRPr/>
          </a:p>
        </p:txBody>
      </p:sp>
      <p:sp>
        <p:nvSpPr>
          <p:cNvPr id="86" name="Text 76">
            <a:extLst>
              <a:ext uri="{FF2B5EF4-FFF2-40B4-BE49-F238E27FC236}">
                <a16:creationId xmlns:a16="http://schemas.microsoft.com/office/drawing/2014/main" id="{E4972CB0-9E4E-4D03-9955-A926FD62042B}"/>
              </a:ext>
            </a:extLst>
          </p:cNvPr>
          <p:cNvSpPr>
            <a:spLocks noGrp="1"/>
          </p:cNvSpPr>
          <p:nvPr/>
        </p:nvSpPr>
        <p:spPr>
          <a:xfrm>
            <a:off x="5532120" y="4261104"/>
            <a:ext cx="859536" cy="146304"/>
          </a:xfrm>
          <a:prstGeom prst="rect">
            <a:avLst/>
          </a:prstGeom>
          <a:noFill/>
        </p:spPr>
        <p:txBody>
          <a:bodyPr wrap="square" lIns="0" tIns="0" rIns="0" bIns="0" anchor="ctr">
            <a:normAutofit/>
          </a:bodyPr>
          <a:lstStyle/>
          <a:p>
            <a:pPr marL="0" indent="0" algn="ctr">
              <a:buNone/>
            </a:pPr>
            <a:r>
              <a:rPr sz="900" b="1" dirty="0">
                <a:solidFill>
                  <a:srgbClr val="006B3F"/>
                </a:solidFill>
                <a:latin typeface="Calibri"/>
                <a:ea typeface="Calibri"/>
                <a:cs typeface="Calibri"/>
              </a:rPr>
              <a:t>In Progress</a:t>
            </a:r>
            <a:endParaRPr sz="900" dirty="0">
              <a:latin typeface="Calibri"/>
              <a:ea typeface="Calibri"/>
              <a:cs typeface="Calibri"/>
            </a:endParaRPr>
          </a:p>
        </p:txBody>
      </p:sp>
      <p:sp>
        <p:nvSpPr>
          <p:cNvPr id="87" name="Shape 77">
            <a:extLst>
              <a:ext uri="{FF2B5EF4-FFF2-40B4-BE49-F238E27FC236}">
                <a16:creationId xmlns:a16="http://schemas.microsoft.com/office/drawing/2014/main" id="{7F1242B9-6503-4A8E-A4F6-2BDEA700F77D}"/>
              </a:ext>
            </a:extLst>
          </p:cNvPr>
          <p:cNvSpPr>
            <a:spLocks noGrp="1"/>
          </p:cNvSpPr>
          <p:nvPr/>
        </p:nvSpPr>
        <p:spPr>
          <a:xfrm>
            <a:off x="6629400" y="2432304"/>
            <a:ext cx="5404104" cy="2212848"/>
          </a:xfrm>
          <a:prstGeom prst="roundRect">
            <a:avLst>
              <a:gd name="adj" fmla="val 2479"/>
            </a:avLst>
          </a:prstGeom>
          <a:solidFill>
            <a:srgbClr val="FFFFFF"/>
          </a:solidFill>
          <a:ln w="8890">
            <a:solidFill>
              <a:srgbClr val="D4E4F2"/>
            </a:solidFill>
            <a:prstDash val="solid"/>
          </a:ln>
        </p:spPr>
        <p:txBody>
          <a:bodyPr/>
          <a:lstStyle/>
          <a:p>
            <a:endParaRPr/>
          </a:p>
        </p:txBody>
      </p:sp>
      <p:sp>
        <p:nvSpPr>
          <p:cNvPr id="88" name="Shape 78">
            <a:extLst>
              <a:ext uri="{FF2B5EF4-FFF2-40B4-BE49-F238E27FC236}">
                <a16:creationId xmlns:a16="http://schemas.microsoft.com/office/drawing/2014/main" id="{C776BB6B-DF57-4F4C-A5D6-BF4C6B5918A5}"/>
              </a:ext>
            </a:extLst>
          </p:cNvPr>
          <p:cNvSpPr>
            <a:spLocks noGrp="1"/>
          </p:cNvSpPr>
          <p:nvPr/>
        </p:nvSpPr>
        <p:spPr>
          <a:xfrm>
            <a:off x="6629400" y="2432304"/>
            <a:ext cx="5404104" cy="256032"/>
          </a:xfrm>
          <a:prstGeom prst="rect">
            <a:avLst/>
          </a:prstGeom>
          <a:solidFill>
            <a:srgbClr val="0070C0"/>
          </a:solidFill>
          <a:ln w="12700">
            <a:solidFill>
              <a:srgbClr val="0070C0"/>
            </a:solidFill>
            <a:prstDash val="solid"/>
          </a:ln>
        </p:spPr>
        <p:txBody>
          <a:bodyPr/>
          <a:lstStyle/>
          <a:p>
            <a:endParaRPr/>
          </a:p>
        </p:txBody>
      </p:sp>
      <p:sp>
        <p:nvSpPr>
          <p:cNvPr id="89" name="Text 79">
            <a:extLst>
              <a:ext uri="{FF2B5EF4-FFF2-40B4-BE49-F238E27FC236}">
                <a16:creationId xmlns:a16="http://schemas.microsoft.com/office/drawing/2014/main" id="{B8D13EE4-4735-4605-BB5A-43AA437A3998}"/>
              </a:ext>
            </a:extLst>
          </p:cNvPr>
          <p:cNvSpPr>
            <a:spLocks noGrp="1"/>
          </p:cNvSpPr>
          <p:nvPr/>
        </p:nvSpPr>
        <p:spPr>
          <a:xfrm>
            <a:off x="6739128" y="2478024"/>
            <a:ext cx="5184648" cy="210312"/>
          </a:xfrm>
          <a:prstGeom prst="rect">
            <a:avLst/>
          </a:prstGeom>
          <a:noFill/>
        </p:spPr>
        <p:txBody>
          <a:bodyPr wrap="square" lIns="254" tIns="254" rIns="254" bIns="254" anchor="ctr">
            <a:normAutofit/>
          </a:bodyPr>
          <a:lstStyle/>
          <a:p>
            <a:pPr marL="0" indent="0">
              <a:buNone/>
            </a:pPr>
            <a:r>
              <a:rPr sz="1200" b="1">
                <a:solidFill>
                  <a:srgbClr val="FFFFFF"/>
                </a:solidFill>
                <a:latin typeface="Aptos Display"/>
                <a:ea typeface="Aptos Display"/>
                <a:cs typeface="Aptos Display"/>
              </a:rPr>
              <a:t>Milestones</a:t>
            </a:r>
            <a:endParaRPr sz="1200"/>
          </a:p>
        </p:txBody>
      </p:sp>
      <p:sp>
        <p:nvSpPr>
          <p:cNvPr id="90" name="Shape 80">
            <a:extLst>
              <a:ext uri="{FF2B5EF4-FFF2-40B4-BE49-F238E27FC236}">
                <a16:creationId xmlns:a16="http://schemas.microsoft.com/office/drawing/2014/main" id="{226F4638-712B-40C0-AD47-E0CB729445F6}"/>
              </a:ext>
            </a:extLst>
          </p:cNvPr>
          <p:cNvSpPr>
            <a:spLocks noGrp="1"/>
          </p:cNvSpPr>
          <p:nvPr/>
        </p:nvSpPr>
        <p:spPr>
          <a:xfrm>
            <a:off x="6629400" y="2688336"/>
            <a:ext cx="3246120" cy="210312"/>
          </a:xfrm>
          <a:prstGeom prst="rect">
            <a:avLst/>
          </a:prstGeom>
          <a:solidFill>
            <a:srgbClr val="EEF4FA"/>
          </a:solidFill>
          <a:ln w="6350">
            <a:solidFill>
              <a:srgbClr val="C9D7E7"/>
            </a:solidFill>
            <a:prstDash val="solid"/>
          </a:ln>
        </p:spPr>
        <p:txBody>
          <a:bodyPr/>
          <a:lstStyle/>
          <a:p>
            <a:endParaRPr/>
          </a:p>
        </p:txBody>
      </p:sp>
      <p:sp>
        <p:nvSpPr>
          <p:cNvPr id="91" name="Text 81">
            <a:extLst>
              <a:ext uri="{FF2B5EF4-FFF2-40B4-BE49-F238E27FC236}">
                <a16:creationId xmlns:a16="http://schemas.microsoft.com/office/drawing/2014/main" id="{C49EA34D-82F0-4F22-B1B9-66246E7A0092}"/>
              </a:ext>
            </a:extLst>
          </p:cNvPr>
          <p:cNvSpPr>
            <a:spLocks noGrp="1"/>
          </p:cNvSpPr>
          <p:nvPr/>
        </p:nvSpPr>
        <p:spPr>
          <a:xfrm>
            <a:off x="6665976" y="2715768"/>
            <a:ext cx="3172968" cy="164592"/>
          </a:xfrm>
          <a:prstGeom prst="rect">
            <a:avLst/>
          </a:prstGeom>
          <a:noFill/>
        </p:spPr>
        <p:txBody>
          <a:bodyPr wrap="square" lIns="254" tIns="254" rIns="254" bIns="254" anchor="ctr">
            <a:normAutofit/>
          </a:bodyPr>
          <a:lstStyle/>
          <a:p>
            <a:pPr marL="0" indent="0" algn="l">
              <a:buNone/>
            </a:pPr>
            <a:r>
              <a:rPr sz="590" b="1">
                <a:solidFill>
                  <a:srgbClr val="132043"/>
                </a:solidFill>
                <a:latin typeface="Aptos"/>
                <a:ea typeface="Aptos"/>
                <a:cs typeface="Aptos"/>
              </a:rPr>
              <a:t>Key Milestone</a:t>
            </a:r>
            <a:endParaRPr sz="590"/>
          </a:p>
        </p:txBody>
      </p:sp>
      <p:sp>
        <p:nvSpPr>
          <p:cNvPr id="92" name="Shape 82">
            <a:extLst>
              <a:ext uri="{FF2B5EF4-FFF2-40B4-BE49-F238E27FC236}">
                <a16:creationId xmlns:a16="http://schemas.microsoft.com/office/drawing/2014/main" id="{22383264-C35D-47BF-A109-7423E00F16ED}"/>
              </a:ext>
            </a:extLst>
          </p:cNvPr>
          <p:cNvSpPr>
            <a:spLocks noGrp="1"/>
          </p:cNvSpPr>
          <p:nvPr/>
        </p:nvSpPr>
        <p:spPr>
          <a:xfrm>
            <a:off x="9875520" y="2688336"/>
            <a:ext cx="1033272" cy="210312"/>
          </a:xfrm>
          <a:prstGeom prst="rect">
            <a:avLst/>
          </a:prstGeom>
          <a:solidFill>
            <a:srgbClr val="EEF4FA"/>
          </a:solidFill>
          <a:ln w="6350">
            <a:solidFill>
              <a:srgbClr val="C9D7E7"/>
            </a:solidFill>
            <a:prstDash val="solid"/>
          </a:ln>
        </p:spPr>
        <p:txBody>
          <a:bodyPr/>
          <a:lstStyle/>
          <a:p>
            <a:endParaRPr/>
          </a:p>
        </p:txBody>
      </p:sp>
      <p:sp>
        <p:nvSpPr>
          <p:cNvPr id="93" name="Text 83">
            <a:extLst>
              <a:ext uri="{FF2B5EF4-FFF2-40B4-BE49-F238E27FC236}">
                <a16:creationId xmlns:a16="http://schemas.microsoft.com/office/drawing/2014/main" id="{A1365E12-FE17-435E-9456-58ADABEB32C2}"/>
              </a:ext>
            </a:extLst>
          </p:cNvPr>
          <p:cNvSpPr>
            <a:spLocks noGrp="1"/>
          </p:cNvSpPr>
          <p:nvPr/>
        </p:nvSpPr>
        <p:spPr>
          <a:xfrm>
            <a:off x="9912096" y="2715768"/>
            <a:ext cx="960120" cy="164592"/>
          </a:xfrm>
          <a:prstGeom prst="rect">
            <a:avLst/>
          </a:prstGeom>
          <a:noFill/>
        </p:spPr>
        <p:txBody>
          <a:bodyPr wrap="square" lIns="254" tIns="254" rIns="254" bIns="254" anchor="ctr">
            <a:normAutofit/>
          </a:bodyPr>
          <a:lstStyle/>
          <a:p>
            <a:pPr marL="0" indent="0" algn="ctr">
              <a:buNone/>
            </a:pPr>
            <a:r>
              <a:rPr sz="590" b="1">
                <a:solidFill>
                  <a:srgbClr val="132043"/>
                </a:solidFill>
                <a:latin typeface="Aptos"/>
                <a:ea typeface="Aptos"/>
                <a:cs typeface="Aptos"/>
              </a:rPr>
              <a:t>Date / Status</a:t>
            </a:r>
            <a:endParaRPr sz="590"/>
          </a:p>
        </p:txBody>
      </p:sp>
      <p:sp>
        <p:nvSpPr>
          <p:cNvPr id="94" name="Shape 84">
            <a:extLst>
              <a:ext uri="{FF2B5EF4-FFF2-40B4-BE49-F238E27FC236}">
                <a16:creationId xmlns:a16="http://schemas.microsoft.com/office/drawing/2014/main" id="{108769AB-C838-4967-9DC4-A3C394EF178D}"/>
              </a:ext>
            </a:extLst>
          </p:cNvPr>
          <p:cNvSpPr>
            <a:spLocks noGrp="1"/>
          </p:cNvSpPr>
          <p:nvPr/>
        </p:nvSpPr>
        <p:spPr>
          <a:xfrm>
            <a:off x="10908792" y="2688336"/>
            <a:ext cx="1124712" cy="210312"/>
          </a:xfrm>
          <a:prstGeom prst="rect">
            <a:avLst/>
          </a:prstGeom>
          <a:solidFill>
            <a:srgbClr val="EEF4FA"/>
          </a:solidFill>
          <a:ln w="6350">
            <a:solidFill>
              <a:srgbClr val="C9D7E7"/>
            </a:solidFill>
            <a:prstDash val="solid"/>
          </a:ln>
        </p:spPr>
        <p:txBody>
          <a:bodyPr/>
          <a:lstStyle/>
          <a:p>
            <a:endParaRPr/>
          </a:p>
        </p:txBody>
      </p:sp>
      <p:sp>
        <p:nvSpPr>
          <p:cNvPr id="95" name="Text 85">
            <a:extLst>
              <a:ext uri="{FF2B5EF4-FFF2-40B4-BE49-F238E27FC236}">
                <a16:creationId xmlns:a16="http://schemas.microsoft.com/office/drawing/2014/main" id="{A5B2EE58-80EE-404D-B693-8124C91D00AE}"/>
              </a:ext>
            </a:extLst>
          </p:cNvPr>
          <p:cNvSpPr>
            <a:spLocks noGrp="1"/>
          </p:cNvSpPr>
          <p:nvPr/>
        </p:nvSpPr>
        <p:spPr>
          <a:xfrm>
            <a:off x="10945368" y="2715768"/>
            <a:ext cx="1051560" cy="164592"/>
          </a:xfrm>
          <a:prstGeom prst="rect">
            <a:avLst/>
          </a:prstGeom>
          <a:noFill/>
        </p:spPr>
        <p:txBody>
          <a:bodyPr wrap="square" lIns="254" tIns="254" rIns="254" bIns="254" anchor="ctr">
            <a:normAutofit/>
          </a:bodyPr>
          <a:lstStyle/>
          <a:p>
            <a:pPr marL="0" indent="0" algn="ctr">
              <a:buNone/>
            </a:pPr>
            <a:endParaRPr sz="590"/>
          </a:p>
        </p:txBody>
      </p:sp>
      <p:sp>
        <p:nvSpPr>
          <p:cNvPr id="96" name="Shape 86">
            <a:extLst>
              <a:ext uri="{FF2B5EF4-FFF2-40B4-BE49-F238E27FC236}">
                <a16:creationId xmlns:a16="http://schemas.microsoft.com/office/drawing/2014/main" id="{A76B04AA-A944-4142-83A9-930C3C78A85B}"/>
              </a:ext>
            </a:extLst>
          </p:cNvPr>
          <p:cNvSpPr>
            <a:spLocks noGrp="1"/>
          </p:cNvSpPr>
          <p:nvPr/>
        </p:nvSpPr>
        <p:spPr>
          <a:xfrm>
            <a:off x="6629400" y="2898648"/>
            <a:ext cx="3246120" cy="283464"/>
          </a:xfrm>
          <a:prstGeom prst="rect">
            <a:avLst/>
          </a:prstGeom>
          <a:solidFill>
            <a:srgbClr val="FFFFFF"/>
          </a:solidFill>
          <a:ln w="6350">
            <a:solidFill>
              <a:srgbClr val="C9D7E7"/>
            </a:solidFill>
            <a:prstDash val="solid"/>
          </a:ln>
        </p:spPr>
        <p:txBody>
          <a:bodyPr/>
          <a:lstStyle/>
          <a:p>
            <a:endParaRPr/>
          </a:p>
        </p:txBody>
      </p:sp>
      <p:sp>
        <p:nvSpPr>
          <p:cNvPr id="97" name="Text 87">
            <a:extLst>
              <a:ext uri="{FF2B5EF4-FFF2-40B4-BE49-F238E27FC236}">
                <a16:creationId xmlns:a16="http://schemas.microsoft.com/office/drawing/2014/main" id="{5887BD2C-CB3E-4C0E-8634-E09797C12F20}"/>
              </a:ext>
            </a:extLst>
          </p:cNvPr>
          <p:cNvSpPr>
            <a:spLocks noGrp="1"/>
          </p:cNvSpPr>
          <p:nvPr/>
        </p:nvSpPr>
        <p:spPr>
          <a:xfrm>
            <a:off x="6665976" y="2926080"/>
            <a:ext cx="3172968" cy="237744"/>
          </a:xfrm>
          <a:prstGeom prst="rect">
            <a:avLst/>
          </a:prstGeom>
          <a:noFill/>
        </p:spPr>
        <p:txBody>
          <a:bodyPr wrap="square" lIns="254" tIns="254" rIns="254" bIns="254" anchor="ctr">
            <a:normAutofit/>
          </a:bodyPr>
          <a:lstStyle/>
          <a:p>
            <a:pPr marL="0" indent="0" algn="l">
              <a:buNone/>
            </a:pPr>
            <a:r>
              <a:rPr sz="900" dirty="0">
                <a:solidFill>
                  <a:srgbClr val="132043"/>
                </a:solidFill>
                <a:latin typeface="Calibri"/>
                <a:ea typeface="Calibri"/>
                <a:cs typeface="Calibri"/>
              </a:rPr>
              <a:t>MI POC foundation – PROD deployment and first run completed</a:t>
            </a:r>
            <a:endParaRPr sz="900" dirty="0">
              <a:latin typeface="Calibri"/>
              <a:ea typeface="Calibri"/>
              <a:cs typeface="Calibri"/>
            </a:endParaRPr>
          </a:p>
        </p:txBody>
      </p:sp>
      <p:sp>
        <p:nvSpPr>
          <p:cNvPr id="98" name="Shape 88">
            <a:extLst>
              <a:ext uri="{FF2B5EF4-FFF2-40B4-BE49-F238E27FC236}">
                <a16:creationId xmlns:a16="http://schemas.microsoft.com/office/drawing/2014/main" id="{515C2794-1F7E-46E0-8122-D526B6057853}"/>
              </a:ext>
            </a:extLst>
          </p:cNvPr>
          <p:cNvSpPr>
            <a:spLocks noGrp="1"/>
          </p:cNvSpPr>
          <p:nvPr/>
        </p:nvSpPr>
        <p:spPr>
          <a:xfrm>
            <a:off x="9875520" y="2898648"/>
            <a:ext cx="1033272" cy="283464"/>
          </a:xfrm>
          <a:prstGeom prst="rect">
            <a:avLst/>
          </a:prstGeom>
          <a:solidFill>
            <a:srgbClr val="FFFFFF"/>
          </a:solidFill>
          <a:ln w="6350">
            <a:solidFill>
              <a:srgbClr val="C9D7E7"/>
            </a:solidFill>
            <a:prstDash val="solid"/>
          </a:ln>
        </p:spPr>
        <p:txBody>
          <a:bodyPr/>
          <a:lstStyle/>
          <a:p>
            <a:endParaRPr/>
          </a:p>
        </p:txBody>
      </p:sp>
      <p:sp>
        <p:nvSpPr>
          <p:cNvPr id="99" name="Text 89">
            <a:extLst>
              <a:ext uri="{FF2B5EF4-FFF2-40B4-BE49-F238E27FC236}">
                <a16:creationId xmlns:a16="http://schemas.microsoft.com/office/drawing/2014/main" id="{13975508-7682-4574-B0FB-E0E86DB1AA51}"/>
              </a:ext>
            </a:extLst>
          </p:cNvPr>
          <p:cNvSpPr>
            <a:spLocks noGrp="1"/>
          </p:cNvSpPr>
          <p:nvPr/>
        </p:nvSpPr>
        <p:spPr>
          <a:xfrm>
            <a:off x="9912096" y="2926080"/>
            <a:ext cx="960120" cy="237744"/>
          </a:xfrm>
          <a:prstGeom prst="rect">
            <a:avLst/>
          </a:prstGeom>
          <a:noFill/>
        </p:spPr>
        <p:txBody>
          <a:bodyPr wrap="square" lIns="254" tIns="254" rIns="254" bIns="254" anchor="ctr">
            <a:normAutofit/>
          </a:bodyPr>
          <a:lstStyle/>
          <a:p>
            <a:pPr marL="0" indent="0" algn="l">
              <a:buNone/>
            </a:pPr>
            <a:r>
              <a:rPr sz="900" dirty="0">
                <a:solidFill>
                  <a:srgbClr val="132043"/>
                </a:solidFill>
                <a:latin typeface="Calibri"/>
                <a:ea typeface="Calibri"/>
                <a:cs typeface="Calibri"/>
              </a:rPr>
              <a:t>07/15/2026</a:t>
            </a:r>
            <a:endParaRPr sz="900" dirty="0">
              <a:latin typeface="Calibri"/>
              <a:ea typeface="Calibri"/>
              <a:cs typeface="Calibri"/>
            </a:endParaRPr>
          </a:p>
        </p:txBody>
      </p:sp>
      <p:sp>
        <p:nvSpPr>
          <p:cNvPr id="100" name="Shape 90">
            <a:extLst>
              <a:ext uri="{FF2B5EF4-FFF2-40B4-BE49-F238E27FC236}">
                <a16:creationId xmlns:a16="http://schemas.microsoft.com/office/drawing/2014/main" id="{1AD44C68-3502-455A-AE26-0B1599825F15}"/>
              </a:ext>
            </a:extLst>
          </p:cNvPr>
          <p:cNvSpPr>
            <a:spLocks noGrp="1"/>
          </p:cNvSpPr>
          <p:nvPr/>
        </p:nvSpPr>
        <p:spPr>
          <a:xfrm>
            <a:off x="10908792" y="2898648"/>
            <a:ext cx="1124712" cy="283464"/>
          </a:xfrm>
          <a:prstGeom prst="rect">
            <a:avLst/>
          </a:prstGeom>
          <a:solidFill>
            <a:srgbClr val="FFFFFF"/>
          </a:solidFill>
          <a:ln w="6350">
            <a:solidFill>
              <a:srgbClr val="C9D7E7"/>
            </a:solidFill>
            <a:prstDash val="solid"/>
          </a:ln>
        </p:spPr>
        <p:txBody>
          <a:bodyPr/>
          <a:lstStyle/>
          <a:p>
            <a:endParaRPr/>
          </a:p>
        </p:txBody>
      </p:sp>
      <p:sp>
        <p:nvSpPr>
          <p:cNvPr id="101" name="Text 91">
            <a:extLst>
              <a:ext uri="{FF2B5EF4-FFF2-40B4-BE49-F238E27FC236}">
                <a16:creationId xmlns:a16="http://schemas.microsoft.com/office/drawing/2014/main" id="{D3C40A6E-D5E7-477D-8559-80A8F882C3D2}"/>
              </a:ext>
            </a:extLst>
          </p:cNvPr>
          <p:cNvSpPr>
            <a:spLocks noGrp="1"/>
          </p:cNvSpPr>
          <p:nvPr/>
        </p:nvSpPr>
        <p:spPr>
          <a:xfrm>
            <a:off x="10945368" y="2926080"/>
            <a:ext cx="1051560" cy="237744"/>
          </a:xfrm>
          <a:prstGeom prst="rect">
            <a:avLst/>
          </a:prstGeom>
          <a:noFill/>
        </p:spPr>
        <p:txBody>
          <a:bodyPr wrap="square" lIns="254" tIns="254" rIns="254" bIns="254" anchor="ctr">
            <a:normAutofit/>
          </a:bodyPr>
          <a:lstStyle/>
          <a:p>
            <a:pPr marL="0" indent="0" algn="l">
              <a:buNone/>
            </a:pPr>
            <a:endParaRPr sz="585"/>
          </a:p>
        </p:txBody>
      </p:sp>
      <p:sp>
        <p:nvSpPr>
          <p:cNvPr id="102" name="Shape 92">
            <a:extLst>
              <a:ext uri="{FF2B5EF4-FFF2-40B4-BE49-F238E27FC236}">
                <a16:creationId xmlns:a16="http://schemas.microsoft.com/office/drawing/2014/main" id="{23E3FE54-3CFA-479E-8D4C-C644C3A26568}"/>
              </a:ext>
            </a:extLst>
          </p:cNvPr>
          <p:cNvSpPr>
            <a:spLocks noGrp="1"/>
          </p:cNvSpPr>
          <p:nvPr/>
        </p:nvSpPr>
        <p:spPr>
          <a:xfrm>
            <a:off x="10991088" y="2948940"/>
            <a:ext cx="896112" cy="201168"/>
          </a:xfrm>
          <a:prstGeom prst="roundRect">
            <a:avLst>
              <a:gd name="adj" fmla="val 36364"/>
            </a:avLst>
          </a:prstGeom>
          <a:solidFill>
            <a:srgbClr val="DDF4E5"/>
          </a:solidFill>
          <a:ln w="12700">
            <a:solidFill>
              <a:srgbClr val="DDF4E5"/>
            </a:solidFill>
            <a:prstDash val="solid"/>
          </a:ln>
        </p:spPr>
        <p:txBody>
          <a:bodyPr/>
          <a:lstStyle/>
          <a:p>
            <a:endParaRPr/>
          </a:p>
        </p:txBody>
      </p:sp>
      <p:sp>
        <p:nvSpPr>
          <p:cNvPr id="103" name="Text 93">
            <a:extLst>
              <a:ext uri="{FF2B5EF4-FFF2-40B4-BE49-F238E27FC236}">
                <a16:creationId xmlns:a16="http://schemas.microsoft.com/office/drawing/2014/main" id="{39D93A6E-0939-4204-8A21-2ACC32633DCC}"/>
              </a:ext>
            </a:extLst>
          </p:cNvPr>
          <p:cNvSpPr>
            <a:spLocks noGrp="1"/>
          </p:cNvSpPr>
          <p:nvPr/>
        </p:nvSpPr>
        <p:spPr>
          <a:xfrm>
            <a:off x="10991088" y="2971800"/>
            <a:ext cx="896112" cy="146304"/>
          </a:xfrm>
          <a:prstGeom prst="rect">
            <a:avLst/>
          </a:prstGeom>
          <a:noFill/>
        </p:spPr>
        <p:txBody>
          <a:bodyPr wrap="square" lIns="0" tIns="0" rIns="0" bIns="0" anchor="ctr">
            <a:normAutofit/>
          </a:bodyPr>
          <a:lstStyle/>
          <a:p>
            <a:pPr marL="0" indent="0" algn="ctr">
              <a:buNone/>
            </a:pPr>
            <a:r>
              <a:rPr sz="900" b="1" dirty="0">
                <a:solidFill>
                  <a:srgbClr val="006B3F"/>
                </a:solidFill>
                <a:latin typeface="Calibri"/>
                <a:ea typeface="Calibri"/>
                <a:cs typeface="Calibri"/>
              </a:rPr>
              <a:t>Completed</a:t>
            </a:r>
            <a:endParaRPr sz="900" dirty="0">
              <a:latin typeface="Calibri"/>
              <a:ea typeface="Calibri"/>
              <a:cs typeface="Calibri"/>
            </a:endParaRPr>
          </a:p>
        </p:txBody>
      </p:sp>
      <p:sp>
        <p:nvSpPr>
          <p:cNvPr id="104" name="Shape 94">
            <a:extLst>
              <a:ext uri="{FF2B5EF4-FFF2-40B4-BE49-F238E27FC236}">
                <a16:creationId xmlns:a16="http://schemas.microsoft.com/office/drawing/2014/main" id="{404A2F3B-2DB0-42BD-9226-72D88613FE25}"/>
              </a:ext>
            </a:extLst>
          </p:cNvPr>
          <p:cNvSpPr>
            <a:spLocks noGrp="1"/>
          </p:cNvSpPr>
          <p:nvPr/>
        </p:nvSpPr>
        <p:spPr>
          <a:xfrm>
            <a:off x="6629400" y="3182112"/>
            <a:ext cx="3246120" cy="283464"/>
          </a:xfrm>
          <a:prstGeom prst="rect">
            <a:avLst/>
          </a:prstGeom>
          <a:solidFill>
            <a:srgbClr val="FFFFFF"/>
          </a:solidFill>
          <a:ln w="6350">
            <a:solidFill>
              <a:srgbClr val="C9D7E7"/>
            </a:solidFill>
            <a:prstDash val="solid"/>
          </a:ln>
        </p:spPr>
        <p:txBody>
          <a:bodyPr/>
          <a:lstStyle/>
          <a:p>
            <a:endParaRPr/>
          </a:p>
        </p:txBody>
      </p:sp>
      <p:sp>
        <p:nvSpPr>
          <p:cNvPr id="105" name="Text 95">
            <a:extLst>
              <a:ext uri="{FF2B5EF4-FFF2-40B4-BE49-F238E27FC236}">
                <a16:creationId xmlns:a16="http://schemas.microsoft.com/office/drawing/2014/main" id="{A4E74717-A544-4828-805E-D3B1F194C3E3}"/>
              </a:ext>
            </a:extLst>
          </p:cNvPr>
          <p:cNvSpPr>
            <a:spLocks noGrp="1"/>
          </p:cNvSpPr>
          <p:nvPr/>
        </p:nvSpPr>
        <p:spPr>
          <a:xfrm>
            <a:off x="6665976" y="3209544"/>
            <a:ext cx="3172968" cy="237744"/>
          </a:xfrm>
          <a:prstGeom prst="rect">
            <a:avLst/>
          </a:prstGeom>
          <a:noFill/>
        </p:spPr>
        <p:txBody>
          <a:bodyPr wrap="square" lIns="254" tIns="254" rIns="254" bIns="254" anchor="ctr">
            <a:normAutofit/>
          </a:bodyPr>
          <a:lstStyle/>
          <a:p>
            <a:pPr marL="0" indent="0" algn="l">
              <a:buNone/>
            </a:pPr>
            <a:r>
              <a:rPr sz="900" dirty="0">
                <a:solidFill>
                  <a:srgbClr val="132043"/>
                </a:solidFill>
                <a:latin typeface="Calibri"/>
                <a:ea typeface="Calibri"/>
                <a:cs typeface="Calibri"/>
              </a:rPr>
              <a:t>38 MI FS files live and 300K+ records validated</a:t>
            </a:r>
            <a:endParaRPr sz="900" dirty="0">
              <a:latin typeface="Calibri"/>
              <a:ea typeface="Calibri"/>
              <a:cs typeface="Calibri"/>
            </a:endParaRPr>
          </a:p>
        </p:txBody>
      </p:sp>
      <p:sp>
        <p:nvSpPr>
          <p:cNvPr id="106" name="Shape 96">
            <a:extLst>
              <a:ext uri="{FF2B5EF4-FFF2-40B4-BE49-F238E27FC236}">
                <a16:creationId xmlns:a16="http://schemas.microsoft.com/office/drawing/2014/main" id="{5EBC5327-2465-4A2B-8DC4-7F70EC2F4888}"/>
              </a:ext>
            </a:extLst>
          </p:cNvPr>
          <p:cNvSpPr>
            <a:spLocks noGrp="1"/>
          </p:cNvSpPr>
          <p:nvPr/>
        </p:nvSpPr>
        <p:spPr>
          <a:xfrm>
            <a:off x="9875520" y="3182112"/>
            <a:ext cx="1033272" cy="283464"/>
          </a:xfrm>
          <a:prstGeom prst="rect">
            <a:avLst/>
          </a:prstGeom>
          <a:solidFill>
            <a:srgbClr val="FFFFFF"/>
          </a:solidFill>
          <a:ln w="6350">
            <a:solidFill>
              <a:srgbClr val="C9D7E7"/>
            </a:solidFill>
            <a:prstDash val="solid"/>
          </a:ln>
        </p:spPr>
        <p:txBody>
          <a:bodyPr/>
          <a:lstStyle/>
          <a:p>
            <a:endParaRPr/>
          </a:p>
        </p:txBody>
      </p:sp>
      <p:sp>
        <p:nvSpPr>
          <p:cNvPr id="107" name="Text 97">
            <a:extLst>
              <a:ext uri="{FF2B5EF4-FFF2-40B4-BE49-F238E27FC236}">
                <a16:creationId xmlns:a16="http://schemas.microsoft.com/office/drawing/2014/main" id="{4776585A-8029-469F-A578-49C7B3729B7D}"/>
              </a:ext>
            </a:extLst>
          </p:cNvPr>
          <p:cNvSpPr>
            <a:spLocks noGrp="1"/>
          </p:cNvSpPr>
          <p:nvPr/>
        </p:nvSpPr>
        <p:spPr>
          <a:xfrm>
            <a:off x="9912096" y="3209544"/>
            <a:ext cx="960120" cy="237744"/>
          </a:xfrm>
          <a:prstGeom prst="rect">
            <a:avLst/>
          </a:prstGeom>
          <a:noFill/>
        </p:spPr>
        <p:txBody>
          <a:bodyPr wrap="square" lIns="254" tIns="254" rIns="254" bIns="254" anchor="ctr">
            <a:normAutofit/>
          </a:bodyPr>
          <a:lstStyle/>
          <a:p>
            <a:pPr marL="0" indent="0" algn="l">
              <a:buNone/>
            </a:pPr>
            <a:r>
              <a:rPr sz="900" dirty="0">
                <a:solidFill>
                  <a:srgbClr val="132043"/>
                </a:solidFill>
                <a:latin typeface="Calibri"/>
                <a:ea typeface="Calibri"/>
                <a:cs typeface="Calibri"/>
              </a:rPr>
              <a:t>July 2026</a:t>
            </a:r>
            <a:endParaRPr sz="900" dirty="0">
              <a:latin typeface="Calibri"/>
              <a:ea typeface="Calibri"/>
              <a:cs typeface="Calibri"/>
            </a:endParaRPr>
          </a:p>
        </p:txBody>
      </p:sp>
      <p:sp>
        <p:nvSpPr>
          <p:cNvPr id="108" name="Shape 98">
            <a:extLst>
              <a:ext uri="{FF2B5EF4-FFF2-40B4-BE49-F238E27FC236}">
                <a16:creationId xmlns:a16="http://schemas.microsoft.com/office/drawing/2014/main" id="{EA9217E1-C07E-4FF2-838F-F5C5FBDD4FE7}"/>
              </a:ext>
            </a:extLst>
          </p:cNvPr>
          <p:cNvSpPr>
            <a:spLocks noGrp="1"/>
          </p:cNvSpPr>
          <p:nvPr/>
        </p:nvSpPr>
        <p:spPr>
          <a:xfrm>
            <a:off x="10908792" y="3182112"/>
            <a:ext cx="1124712" cy="283464"/>
          </a:xfrm>
          <a:prstGeom prst="rect">
            <a:avLst/>
          </a:prstGeom>
          <a:solidFill>
            <a:srgbClr val="FFFFFF"/>
          </a:solidFill>
          <a:ln w="6350">
            <a:solidFill>
              <a:srgbClr val="C9D7E7"/>
            </a:solidFill>
            <a:prstDash val="solid"/>
          </a:ln>
        </p:spPr>
        <p:txBody>
          <a:bodyPr/>
          <a:lstStyle/>
          <a:p>
            <a:endParaRPr/>
          </a:p>
        </p:txBody>
      </p:sp>
      <p:sp>
        <p:nvSpPr>
          <p:cNvPr id="109" name="Text 99">
            <a:extLst>
              <a:ext uri="{FF2B5EF4-FFF2-40B4-BE49-F238E27FC236}">
                <a16:creationId xmlns:a16="http://schemas.microsoft.com/office/drawing/2014/main" id="{73D32BEF-EF16-49EF-916F-29097618951E}"/>
              </a:ext>
            </a:extLst>
          </p:cNvPr>
          <p:cNvSpPr>
            <a:spLocks noGrp="1"/>
          </p:cNvSpPr>
          <p:nvPr/>
        </p:nvSpPr>
        <p:spPr>
          <a:xfrm>
            <a:off x="10945368" y="3209544"/>
            <a:ext cx="1051560" cy="237744"/>
          </a:xfrm>
          <a:prstGeom prst="rect">
            <a:avLst/>
          </a:prstGeom>
          <a:noFill/>
        </p:spPr>
        <p:txBody>
          <a:bodyPr wrap="square" lIns="254" tIns="254" rIns="254" bIns="254" anchor="ctr">
            <a:normAutofit/>
          </a:bodyPr>
          <a:lstStyle/>
          <a:p>
            <a:pPr marL="0" indent="0" algn="l">
              <a:buNone/>
            </a:pPr>
            <a:endParaRPr sz="585"/>
          </a:p>
        </p:txBody>
      </p:sp>
      <p:sp>
        <p:nvSpPr>
          <p:cNvPr id="110" name="Shape 100">
            <a:extLst>
              <a:ext uri="{FF2B5EF4-FFF2-40B4-BE49-F238E27FC236}">
                <a16:creationId xmlns:a16="http://schemas.microsoft.com/office/drawing/2014/main" id="{9FC2147B-C471-4B53-A8B7-6320EE307D30}"/>
              </a:ext>
            </a:extLst>
          </p:cNvPr>
          <p:cNvSpPr>
            <a:spLocks noGrp="1"/>
          </p:cNvSpPr>
          <p:nvPr/>
        </p:nvSpPr>
        <p:spPr>
          <a:xfrm>
            <a:off x="10991088" y="3232404"/>
            <a:ext cx="896112" cy="201168"/>
          </a:xfrm>
          <a:prstGeom prst="roundRect">
            <a:avLst>
              <a:gd name="adj" fmla="val 36364"/>
            </a:avLst>
          </a:prstGeom>
          <a:solidFill>
            <a:srgbClr val="DDF4E5"/>
          </a:solidFill>
          <a:ln w="12700">
            <a:solidFill>
              <a:srgbClr val="DDF4E5"/>
            </a:solidFill>
            <a:prstDash val="solid"/>
          </a:ln>
        </p:spPr>
        <p:txBody>
          <a:bodyPr/>
          <a:lstStyle/>
          <a:p>
            <a:endParaRPr/>
          </a:p>
        </p:txBody>
      </p:sp>
      <p:sp>
        <p:nvSpPr>
          <p:cNvPr id="111" name="Text 101">
            <a:extLst>
              <a:ext uri="{FF2B5EF4-FFF2-40B4-BE49-F238E27FC236}">
                <a16:creationId xmlns:a16="http://schemas.microsoft.com/office/drawing/2014/main" id="{E578C8DC-5558-4DBA-8F08-5E711ED588B0}"/>
              </a:ext>
            </a:extLst>
          </p:cNvPr>
          <p:cNvSpPr>
            <a:spLocks noGrp="1"/>
          </p:cNvSpPr>
          <p:nvPr/>
        </p:nvSpPr>
        <p:spPr>
          <a:xfrm>
            <a:off x="10991088" y="3255264"/>
            <a:ext cx="896112" cy="146304"/>
          </a:xfrm>
          <a:prstGeom prst="rect">
            <a:avLst/>
          </a:prstGeom>
          <a:noFill/>
        </p:spPr>
        <p:txBody>
          <a:bodyPr wrap="square" lIns="0" tIns="0" rIns="0" bIns="0" anchor="ctr">
            <a:normAutofit/>
          </a:bodyPr>
          <a:lstStyle/>
          <a:p>
            <a:pPr marL="0" indent="0" algn="ctr">
              <a:buNone/>
            </a:pPr>
            <a:r>
              <a:rPr sz="900" b="1" dirty="0">
                <a:solidFill>
                  <a:srgbClr val="006B3F"/>
                </a:solidFill>
                <a:latin typeface="Calibri"/>
                <a:ea typeface="Calibri"/>
                <a:cs typeface="Calibri"/>
              </a:rPr>
              <a:t>Completed</a:t>
            </a:r>
            <a:endParaRPr sz="900" dirty="0">
              <a:latin typeface="Calibri"/>
              <a:ea typeface="Calibri"/>
              <a:cs typeface="Calibri"/>
            </a:endParaRPr>
          </a:p>
        </p:txBody>
      </p:sp>
      <p:sp>
        <p:nvSpPr>
          <p:cNvPr id="112" name="Shape 102">
            <a:extLst>
              <a:ext uri="{FF2B5EF4-FFF2-40B4-BE49-F238E27FC236}">
                <a16:creationId xmlns:a16="http://schemas.microsoft.com/office/drawing/2014/main" id="{0490A583-8A37-4012-80BA-67FA435EFEC1}"/>
              </a:ext>
            </a:extLst>
          </p:cNvPr>
          <p:cNvSpPr>
            <a:spLocks noGrp="1"/>
          </p:cNvSpPr>
          <p:nvPr/>
        </p:nvSpPr>
        <p:spPr>
          <a:xfrm>
            <a:off x="6629400" y="3465576"/>
            <a:ext cx="3246120" cy="283464"/>
          </a:xfrm>
          <a:prstGeom prst="rect">
            <a:avLst/>
          </a:prstGeom>
          <a:solidFill>
            <a:srgbClr val="FFFFFF"/>
          </a:solidFill>
          <a:ln w="6350">
            <a:solidFill>
              <a:srgbClr val="C9D7E7"/>
            </a:solidFill>
            <a:prstDash val="solid"/>
          </a:ln>
        </p:spPr>
        <p:txBody>
          <a:bodyPr/>
          <a:lstStyle/>
          <a:p>
            <a:endParaRPr/>
          </a:p>
        </p:txBody>
      </p:sp>
      <p:sp>
        <p:nvSpPr>
          <p:cNvPr id="113" name="Text 103">
            <a:extLst>
              <a:ext uri="{FF2B5EF4-FFF2-40B4-BE49-F238E27FC236}">
                <a16:creationId xmlns:a16="http://schemas.microsoft.com/office/drawing/2014/main" id="{B3F9606E-C7B4-4CF8-99F9-77D8C435E124}"/>
              </a:ext>
            </a:extLst>
          </p:cNvPr>
          <p:cNvSpPr>
            <a:spLocks noGrp="1"/>
          </p:cNvSpPr>
          <p:nvPr/>
        </p:nvSpPr>
        <p:spPr>
          <a:xfrm>
            <a:off x="6665976" y="3493008"/>
            <a:ext cx="3172968" cy="237744"/>
          </a:xfrm>
          <a:prstGeom prst="rect">
            <a:avLst/>
          </a:prstGeom>
          <a:noFill/>
        </p:spPr>
        <p:txBody>
          <a:bodyPr wrap="square" lIns="254" tIns="254" rIns="254" bIns="254" anchor="ctr">
            <a:normAutofit/>
          </a:bodyPr>
          <a:lstStyle/>
          <a:p>
            <a:pPr marL="0" indent="0" algn="l">
              <a:buNone/>
            </a:pPr>
            <a:r>
              <a:rPr sz="900" dirty="0">
                <a:solidFill>
                  <a:srgbClr val="132043"/>
                </a:solidFill>
                <a:latin typeface="Calibri"/>
                <a:ea typeface="Calibri"/>
                <a:cs typeface="Calibri"/>
              </a:rPr>
              <a:t>Release 2: 30 segments deployed and business approved</a:t>
            </a:r>
            <a:endParaRPr sz="900" dirty="0">
              <a:latin typeface="Calibri"/>
              <a:ea typeface="Calibri"/>
              <a:cs typeface="Calibri"/>
            </a:endParaRPr>
          </a:p>
        </p:txBody>
      </p:sp>
      <p:sp>
        <p:nvSpPr>
          <p:cNvPr id="114" name="Shape 104">
            <a:extLst>
              <a:ext uri="{FF2B5EF4-FFF2-40B4-BE49-F238E27FC236}">
                <a16:creationId xmlns:a16="http://schemas.microsoft.com/office/drawing/2014/main" id="{101B5B6A-7D12-4400-B6D4-DDD9F678C2FC}"/>
              </a:ext>
            </a:extLst>
          </p:cNvPr>
          <p:cNvSpPr>
            <a:spLocks noGrp="1"/>
          </p:cNvSpPr>
          <p:nvPr/>
        </p:nvSpPr>
        <p:spPr>
          <a:xfrm>
            <a:off x="9875520" y="3465576"/>
            <a:ext cx="1033272" cy="283464"/>
          </a:xfrm>
          <a:prstGeom prst="rect">
            <a:avLst/>
          </a:prstGeom>
          <a:solidFill>
            <a:srgbClr val="FFFFFF"/>
          </a:solidFill>
          <a:ln w="6350">
            <a:solidFill>
              <a:srgbClr val="C9D7E7"/>
            </a:solidFill>
            <a:prstDash val="solid"/>
          </a:ln>
        </p:spPr>
        <p:txBody>
          <a:bodyPr/>
          <a:lstStyle/>
          <a:p>
            <a:endParaRPr/>
          </a:p>
        </p:txBody>
      </p:sp>
      <p:sp>
        <p:nvSpPr>
          <p:cNvPr id="115" name="Text 105">
            <a:extLst>
              <a:ext uri="{FF2B5EF4-FFF2-40B4-BE49-F238E27FC236}">
                <a16:creationId xmlns:a16="http://schemas.microsoft.com/office/drawing/2014/main" id="{37BC91C0-281E-4F3F-AF3D-3AFDA5E8C6AF}"/>
              </a:ext>
            </a:extLst>
          </p:cNvPr>
          <p:cNvSpPr>
            <a:spLocks noGrp="1"/>
          </p:cNvSpPr>
          <p:nvPr/>
        </p:nvSpPr>
        <p:spPr>
          <a:xfrm>
            <a:off x="9912096" y="3493008"/>
            <a:ext cx="960120" cy="237744"/>
          </a:xfrm>
          <a:prstGeom prst="rect">
            <a:avLst/>
          </a:prstGeom>
          <a:noFill/>
        </p:spPr>
        <p:txBody>
          <a:bodyPr wrap="square" lIns="254" tIns="254" rIns="254" bIns="254" anchor="ctr">
            <a:normAutofit/>
          </a:bodyPr>
          <a:lstStyle/>
          <a:p>
            <a:pPr marL="0" indent="0" algn="l">
              <a:buNone/>
            </a:pPr>
            <a:r>
              <a:rPr sz="900" dirty="0">
                <a:solidFill>
                  <a:srgbClr val="132043"/>
                </a:solidFill>
                <a:latin typeface="Calibri"/>
                <a:ea typeface="Calibri"/>
                <a:cs typeface="Calibri"/>
              </a:rPr>
              <a:t>22 Oct status</a:t>
            </a:r>
            <a:endParaRPr sz="900" dirty="0">
              <a:latin typeface="Calibri"/>
              <a:ea typeface="Calibri"/>
              <a:cs typeface="Calibri"/>
            </a:endParaRPr>
          </a:p>
        </p:txBody>
      </p:sp>
      <p:sp>
        <p:nvSpPr>
          <p:cNvPr id="116" name="Shape 106">
            <a:extLst>
              <a:ext uri="{FF2B5EF4-FFF2-40B4-BE49-F238E27FC236}">
                <a16:creationId xmlns:a16="http://schemas.microsoft.com/office/drawing/2014/main" id="{4E457C56-7578-4318-98E1-B68DD8A094B8}"/>
              </a:ext>
            </a:extLst>
          </p:cNvPr>
          <p:cNvSpPr>
            <a:spLocks noGrp="1"/>
          </p:cNvSpPr>
          <p:nvPr/>
        </p:nvSpPr>
        <p:spPr>
          <a:xfrm>
            <a:off x="10908792" y="3465576"/>
            <a:ext cx="1124712" cy="283464"/>
          </a:xfrm>
          <a:prstGeom prst="rect">
            <a:avLst/>
          </a:prstGeom>
          <a:solidFill>
            <a:srgbClr val="FFFFFF"/>
          </a:solidFill>
          <a:ln w="6350">
            <a:solidFill>
              <a:srgbClr val="C9D7E7"/>
            </a:solidFill>
            <a:prstDash val="solid"/>
          </a:ln>
        </p:spPr>
        <p:txBody>
          <a:bodyPr/>
          <a:lstStyle/>
          <a:p>
            <a:endParaRPr/>
          </a:p>
        </p:txBody>
      </p:sp>
      <p:sp>
        <p:nvSpPr>
          <p:cNvPr id="117" name="Text 107">
            <a:extLst>
              <a:ext uri="{FF2B5EF4-FFF2-40B4-BE49-F238E27FC236}">
                <a16:creationId xmlns:a16="http://schemas.microsoft.com/office/drawing/2014/main" id="{292C500B-FC39-43EC-8D58-D452B76A0C85}"/>
              </a:ext>
            </a:extLst>
          </p:cNvPr>
          <p:cNvSpPr>
            <a:spLocks noGrp="1"/>
          </p:cNvSpPr>
          <p:nvPr/>
        </p:nvSpPr>
        <p:spPr>
          <a:xfrm>
            <a:off x="10945368" y="3493008"/>
            <a:ext cx="1051560" cy="237744"/>
          </a:xfrm>
          <a:prstGeom prst="rect">
            <a:avLst/>
          </a:prstGeom>
          <a:noFill/>
        </p:spPr>
        <p:txBody>
          <a:bodyPr wrap="square" lIns="254" tIns="254" rIns="254" bIns="254" anchor="ctr">
            <a:normAutofit/>
          </a:bodyPr>
          <a:lstStyle/>
          <a:p>
            <a:pPr marL="0" indent="0" algn="l">
              <a:buNone/>
            </a:pPr>
            <a:endParaRPr sz="585"/>
          </a:p>
        </p:txBody>
      </p:sp>
      <p:sp>
        <p:nvSpPr>
          <p:cNvPr id="118" name="Shape 108">
            <a:extLst>
              <a:ext uri="{FF2B5EF4-FFF2-40B4-BE49-F238E27FC236}">
                <a16:creationId xmlns:a16="http://schemas.microsoft.com/office/drawing/2014/main" id="{5DB7EF2F-34BC-4F7B-A239-E554CF5E9F0C}"/>
              </a:ext>
            </a:extLst>
          </p:cNvPr>
          <p:cNvSpPr>
            <a:spLocks noGrp="1"/>
          </p:cNvSpPr>
          <p:nvPr/>
        </p:nvSpPr>
        <p:spPr>
          <a:xfrm>
            <a:off x="10991088" y="3515868"/>
            <a:ext cx="896112" cy="201168"/>
          </a:xfrm>
          <a:prstGeom prst="roundRect">
            <a:avLst>
              <a:gd name="adj" fmla="val 36364"/>
            </a:avLst>
          </a:prstGeom>
          <a:solidFill>
            <a:srgbClr val="FFF0C9"/>
          </a:solidFill>
          <a:ln w="12700">
            <a:solidFill>
              <a:srgbClr val="FFF0C9"/>
            </a:solidFill>
            <a:prstDash val="solid"/>
          </a:ln>
        </p:spPr>
        <p:txBody>
          <a:bodyPr/>
          <a:lstStyle/>
          <a:p>
            <a:endParaRPr/>
          </a:p>
        </p:txBody>
      </p:sp>
      <p:sp>
        <p:nvSpPr>
          <p:cNvPr id="119" name="Text 109">
            <a:extLst>
              <a:ext uri="{FF2B5EF4-FFF2-40B4-BE49-F238E27FC236}">
                <a16:creationId xmlns:a16="http://schemas.microsoft.com/office/drawing/2014/main" id="{74758A6D-A745-4F84-95D2-A340C56BEA43}"/>
              </a:ext>
            </a:extLst>
          </p:cNvPr>
          <p:cNvSpPr>
            <a:spLocks noGrp="1"/>
          </p:cNvSpPr>
          <p:nvPr/>
        </p:nvSpPr>
        <p:spPr>
          <a:xfrm>
            <a:off x="10991088" y="3538728"/>
            <a:ext cx="896112" cy="146304"/>
          </a:xfrm>
          <a:prstGeom prst="rect">
            <a:avLst/>
          </a:prstGeom>
          <a:noFill/>
        </p:spPr>
        <p:txBody>
          <a:bodyPr wrap="square" lIns="0" tIns="0" rIns="0" bIns="0" anchor="ctr">
            <a:normAutofit/>
          </a:bodyPr>
          <a:lstStyle/>
          <a:p>
            <a:pPr marL="0" indent="0" algn="ctr">
              <a:buNone/>
            </a:pPr>
            <a:r>
              <a:rPr sz="900" b="1" dirty="0">
                <a:solidFill>
                  <a:srgbClr val="8A5A00"/>
                </a:solidFill>
                <a:latin typeface="Calibri"/>
                <a:ea typeface="Calibri"/>
                <a:cs typeface="Calibri"/>
              </a:rPr>
              <a:t>Completed</a:t>
            </a:r>
            <a:endParaRPr sz="900" dirty="0">
              <a:latin typeface="Calibri"/>
              <a:ea typeface="Calibri"/>
              <a:cs typeface="Calibri"/>
            </a:endParaRPr>
          </a:p>
        </p:txBody>
      </p:sp>
      <p:sp>
        <p:nvSpPr>
          <p:cNvPr id="120" name="Shape 110">
            <a:extLst>
              <a:ext uri="{FF2B5EF4-FFF2-40B4-BE49-F238E27FC236}">
                <a16:creationId xmlns:a16="http://schemas.microsoft.com/office/drawing/2014/main" id="{B232C4E4-C303-43D8-AD79-2D22551EAB4E}"/>
              </a:ext>
            </a:extLst>
          </p:cNvPr>
          <p:cNvSpPr>
            <a:spLocks noGrp="1"/>
          </p:cNvSpPr>
          <p:nvPr/>
        </p:nvSpPr>
        <p:spPr>
          <a:xfrm>
            <a:off x="6629400" y="3749040"/>
            <a:ext cx="3246120" cy="283464"/>
          </a:xfrm>
          <a:prstGeom prst="rect">
            <a:avLst/>
          </a:prstGeom>
          <a:solidFill>
            <a:srgbClr val="FFFFFF"/>
          </a:solidFill>
          <a:ln w="6350">
            <a:solidFill>
              <a:srgbClr val="C9D7E7"/>
            </a:solidFill>
            <a:prstDash val="solid"/>
          </a:ln>
        </p:spPr>
        <p:txBody>
          <a:bodyPr/>
          <a:lstStyle/>
          <a:p>
            <a:endParaRPr/>
          </a:p>
        </p:txBody>
      </p:sp>
      <p:sp>
        <p:nvSpPr>
          <p:cNvPr id="121" name="Text 111">
            <a:extLst>
              <a:ext uri="{FF2B5EF4-FFF2-40B4-BE49-F238E27FC236}">
                <a16:creationId xmlns:a16="http://schemas.microsoft.com/office/drawing/2014/main" id="{B844C84C-F711-4B08-B73D-63911B393B5D}"/>
              </a:ext>
            </a:extLst>
          </p:cNvPr>
          <p:cNvSpPr>
            <a:spLocks noGrp="1"/>
          </p:cNvSpPr>
          <p:nvPr/>
        </p:nvSpPr>
        <p:spPr>
          <a:xfrm>
            <a:off x="6665976" y="3776472"/>
            <a:ext cx="3172968" cy="237744"/>
          </a:xfrm>
          <a:prstGeom prst="rect">
            <a:avLst/>
          </a:prstGeom>
          <a:noFill/>
        </p:spPr>
        <p:txBody>
          <a:bodyPr wrap="square" lIns="254" tIns="254" rIns="254" bIns="254" anchor="ctr">
            <a:normAutofit/>
          </a:bodyPr>
          <a:lstStyle/>
          <a:p>
            <a:pPr marL="0" indent="0" algn="l">
              <a:buNone/>
            </a:pPr>
            <a:r>
              <a:rPr sz="900" dirty="0">
                <a:solidFill>
                  <a:srgbClr val="132043"/>
                </a:solidFill>
                <a:latin typeface="Calibri"/>
                <a:ea typeface="Calibri"/>
                <a:cs typeface="Calibri"/>
              </a:rPr>
              <a:t>Release 1: 34 pilot segments; production target 13 Nov</a:t>
            </a:r>
            <a:endParaRPr sz="900" dirty="0">
              <a:latin typeface="Calibri"/>
              <a:ea typeface="Calibri"/>
              <a:cs typeface="Calibri"/>
            </a:endParaRPr>
          </a:p>
        </p:txBody>
      </p:sp>
      <p:sp>
        <p:nvSpPr>
          <p:cNvPr id="122" name="Shape 112">
            <a:extLst>
              <a:ext uri="{FF2B5EF4-FFF2-40B4-BE49-F238E27FC236}">
                <a16:creationId xmlns:a16="http://schemas.microsoft.com/office/drawing/2014/main" id="{384AC1A5-1219-47CD-920D-D81E2D946D9C}"/>
              </a:ext>
            </a:extLst>
          </p:cNvPr>
          <p:cNvSpPr>
            <a:spLocks noGrp="1"/>
          </p:cNvSpPr>
          <p:nvPr/>
        </p:nvSpPr>
        <p:spPr>
          <a:xfrm>
            <a:off x="9875520" y="3749040"/>
            <a:ext cx="1033272" cy="283464"/>
          </a:xfrm>
          <a:prstGeom prst="rect">
            <a:avLst/>
          </a:prstGeom>
          <a:solidFill>
            <a:srgbClr val="FFFFFF"/>
          </a:solidFill>
          <a:ln w="6350">
            <a:solidFill>
              <a:srgbClr val="C9D7E7"/>
            </a:solidFill>
            <a:prstDash val="solid"/>
          </a:ln>
        </p:spPr>
        <p:txBody>
          <a:bodyPr/>
          <a:lstStyle/>
          <a:p>
            <a:endParaRPr/>
          </a:p>
        </p:txBody>
      </p:sp>
      <p:sp>
        <p:nvSpPr>
          <p:cNvPr id="123" name="Text 113">
            <a:extLst>
              <a:ext uri="{FF2B5EF4-FFF2-40B4-BE49-F238E27FC236}">
                <a16:creationId xmlns:a16="http://schemas.microsoft.com/office/drawing/2014/main" id="{3DC52021-1A2E-4EF8-9988-858AC6E43F5E}"/>
              </a:ext>
            </a:extLst>
          </p:cNvPr>
          <p:cNvSpPr>
            <a:spLocks noGrp="1"/>
          </p:cNvSpPr>
          <p:nvPr/>
        </p:nvSpPr>
        <p:spPr>
          <a:xfrm>
            <a:off x="9912096" y="3776472"/>
            <a:ext cx="960120" cy="237744"/>
          </a:xfrm>
          <a:prstGeom prst="rect">
            <a:avLst/>
          </a:prstGeom>
          <a:noFill/>
        </p:spPr>
        <p:txBody>
          <a:bodyPr wrap="square" lIns="254" tIns="254" rIns="254" bIns="254" anchor="ctr">
            <a:normAutofit/>
          </a:bodyPr>
          <a:lstStyle/>
          <a:p>
            <a:pPr marL="0" indent="0" algn="l">
              <a:buNone/>
            </a:pPr>
            <a:r>
              <a:rPr sz="900" dirty="0">
                <a:solidFill>
                  <a:srgbClr val="132043"/>
                </a:solidFill>
                <a:latin typeface="Calibri"/>
                <a:ea typeface="Calibri"/>
                <a:cs typeface="Calibri"/>
              </a:rPr>
              <a:t>13 Nov 2026</a:t>
            </a:r>
            <a:endParaRPr sz="900" dirty="0">
              <a:latin typeface="Calibri"/>
              <a:ea typeface="Calibri"/>
              <a:cs typeface="Calibri"/>
            </a:endParaRPr>
          </a:p>
        </p:txBody>
      </p:sp>
      <p:sp>
        <p:nvSpPr>
          <p:cNvPr id="124" name="Shape 114">
            <a:extLst>
              <a:ext uri="{FF2B5EF4-FFF2-40B4-BE49-F238E27FC236}">
                <a16:creationId xmlns:a16="http://schemas.microsoft.com/office/drawing/2014/main" id="{6595B5EB-9F33-4082-B19C-CD741088F9E7}"/>
              </a:ext>
            </a:extLst>
          </p:cNvPr>
          <p:cNvSpPr>
            <a:spLocks noGrp="1"/>
          </p:cNvSpPr>
          <p:nvPr/>
        </p:nvSpPr>
        <p:spPr>
          <a:xfrm>
            <a:off x="10908792" y="3749040"/>
            <a:ext cx="1124712" cy="283464"/>
          </a:xfrm>
          <a:prstGeom prst="rect">
            <a:avLst/>
          </a:prstGeom>
          <a:solidFill>
            <a:srgbClr val="FFFFFF"/>
          </a:solidFill>
          <a:ln w="6350">
            <a:solidFill>
              <a:srgbClr val="C9D7E7"/>
            </a:solidFill>
            <a:prstDash val="solid"/>
          </a:ln>
        </p:spPr>
        <p:txBody>
          <a:bodyPr/>
          <a:lstStyle/>
          <a:p>
            <a:endParaRPr/>
          </a:p>
        </p:txBody>
      </p:sp>
      <p:sp>
        <p:nvSpPr>
          <p:cNvPr id="125" name="Text 115">
            <a:extLst>
              <a:ext uri="{FF2B5EF4-FFF2-40B4-BE49-F238E27FC236}">
                <a16:creationId xmlns:a16="http://schemas.microsoft.com/office/drawing/2014/main" id="{7565BFD7-65A5-4466-B55C-F62FB3E8BACD}"/>
              </a:ext>
            </a:extLst>
          </p:cNvPr>
          <p:cNvSpPr>
            <a:spLocks noGrp="1"/>
          </p:cNvSpPr>
          <p:nvPr/>
        </p:nvSpPr>
        <p:spPr>
          <a:xfrm>
            <a:off x="10945368" y="3776472"/>
            <a:ext cx="1051560" cy="237744"/>
          </a:xfrm>
          <a:prstGeom prst="rect">
            <a:avLst/>
          </a:prstGeom>
          <a:noFill/>
        </p:spPr>
        <p:txBody>
          <a:bodyPr wrap="square" lIns="254" tIns="254" rIns="254" bIns="254" anchor="ctr">
            <a:normAutofit/>
          </a:bodyPr>
          <a:lstStyle/>
          <a:p>
            <a:pPr marL="0" indent="0" algn="l">
              <a:buNone/>
            </a:pPr>
            <a:endParaRPr sz="585"/>
          </a:p>
        </p:txBody>
      </p:sp>
      <p:sp>
        <p:nvSpPr>
          <p:cNvPr id="126" name="Shape 116">
            <a:extLst>
              <a:ext uri="{FF2B5EF4-FFF2-40B4-BE49-F238E27FC236}">
                <a16:creationId xmlns:a16="http://schemas.microsoft.com/office/drawing/2014/main" id="{2EB544F9-4243-437E-9A46-1E04E357BBD7}"/>
              </a:ext>
            </a:extLst>
          </p:cNvPr>
          <p:cNvSpPr>
            <a:spLocks noGrp="1"/>
          </p:cNvSpPr>
          <p:nvPr/>
        </p:nvSpPr>
        <p:spPr>
          <a:xfrm>
            <a:off x="10991088" y="3799332"/>
            <a:ext cx="896112" cy="201168"/>
          </a:xfrm>
          <a:prstGeom prst="roundRect">
            <a:avLst>
              <a:gd name="adj" fmla="val 36364"/>
            </a:avLst>
          </a:prstGeom>
          <a:solidFill>
            <a:srgbClr val="DDF4E5"/>
          </a:solidFill>
          <a:ln w="12700">
            <a:solidFill>
              <a:srgbClr val="DDF4E5"/>
            </a:solidFill>
            <a:prstDash val="solid"/>
          </a:ln>
        </p:spPr>
        <p:txBody>
          <a:bodyPr/>
          <a:lstStyle/>
          <a:p>
            <a:endParaRPr/>
          </a:p>
        </p:txBody>
      </p:sp>
      <p:sp>
        <p:nvSpPr>
          <p:cNvPr id="127" name="Text 117">
            <a:extLst>
              <a:ext uri="{FF2B5EF4-FFF2-40B4-BE49-F238E27FC236}">
                <a16:creationId xmlns:a16="http://schemas.microsoft.com/office/drawing/2014/main" id="{4056236B-BE05-408F-A4E3-FE6A472B02FB}"/>
              </a:ext>
            </a:extLst>
          </p:cNvPr>
          <p:cNvSpPr>
            <a:spLocks noGrp="1"/>
          </p:cNvSpPr>
          <p:nvPr/>
        </p:nvSpPr>
        <p:spPr>
          <a:xfrm>
            <a:off x="10991088" y="3822192"/>
            <a:ext cx="896112" cy="146304"/>
          </a:xfrm>
          <a:prstGeom prst="rect">
            <a:avLst/>
          </a:prstGeom>
          <a:noFill/>
        </p:spPr>
        <p:txBody>
          <a:bodyPr wrap="square" lIns="0" tIns="0" rIns="0" bIns="0" anchor="ctr">
            <a:normAutofit/>
          </a:bodyPr>
          <a:lstStyle/>
          <a:p>
            <a:pPr marL="0" indent="0" algn="ctr">
              <a:buNone/>
            </a:pPr>
            <a:r>
              <a:rPr sz="900" b="1" dirty="0">
                <a:solidFill>
                  <a:srgbClr val="006B3F"/>
                </a:solidFill>
                <a:latin typeface="Calibri"/>
                <a:ea typeface="Calibri"/>
                <a:cs typeface="Calibri"/>
              </a:rPr>
              <a:t>In Progress</a:t>
            </a:r>
            <a:endParaRPr sz="900" dirty="0">
              <a:latin typeface="Calibri"/>
              <a:ea typeface="Calibri"/>
              <a:cs typeface="Calibri"/>
            </a:endParaRPr>
          </a:p>
        </p:txBody>
      </p:sp>
      <p:sp>
        <p:nvSpPr>
          <p:cNvPr id="128" name="Shape 118">
            <a:extLst>
              <a:ext uri="{FF2B5EF4-FFF2-40B4-BE49-F238E27FC236}">
                <a16:creationId xmlns:a16="http://schemas.microsoft.com/office/drawing/2014/main" id="{A7208D75-6878-4245-9AF9-3B5A6B1B48B3}"/>
              </a:ext>
            </a:extLst>
          </p:cNvPr>
          <p:cNvSpPr>
            <a:spLocks noGrp="1"/>
          </p:cNvSpPr>
          <p:nvPr/>
        </p:nvSpPr>
        <p:spPr>
          <a:xfrm>
            <a:off x="6629400" y="4032504"/>
            <a:ext cx="3246120" cy="283464"/>
          </a:xfrm>
          <a:prstGeom prst="rect">
            <a:avLst/>
          </a:prstGeom>
          <a:solidFill>
            <a:srgbClr val="FFFFFF"/>
          </a:solidFill>
          <a:ln w="6350">
            <a:solidFill>
              <a:srgbClr val="C9D7E7"/>
            </a:solidFill>
            <a:prstDash val="solid"/>
          </a:ln>
        </p:spPr>
        <p:txBody>
          <a:bodyPr/>
          <a:lstStyle/>
          <a:p>
            <a:endParaRPr/>
          </a:p>
        </p:txBody>
      </p:sp>
      <p:sp>
        <p:nvSpPr>
          <p:cNvPr id="129" name="Text 119">
            <a:extLst>
              <a:ext uri="{FF2B5EF4-FFF2-40B4-BE49-F238E27FC236}">
                <a16:creationId xmlns:a16="http://schemas.microsoft.com/office/drawing/2014/main" id="{DB17E86B-7A70-40A8-A54A-DF9C1418F174}"/>
              </a:ext>
            </a:extLst>
          </p:cNvPr>
          <p:cNvSpPr>
            <a:spLocks noGrp="1"/>
          </p:cNvSpPr>
          <p:nvPr/>
        </p:nvSpPr>
        <p:spPr>
          <a:xfrm>
            <a:off x="6665976" y="4059936"/>
            <a:ext cx="3172968" cy="237744"/>
          </a:xfrm>
          <a:prstGeom prst="rect">
            <a:avLst/>
          </a:prstGeom>
          <a:noFill/>
        </p:spPr>
        <p:txBody>
          <a:bodyPr wrap="square" lIns="254" tIns="254" rIns="254" bIns="254" anchor="ctr">
            <a:normAutofit/>
          </a:bodyPr>
          <a:lstStyle/>
          <a:p>
            <a:pPr marL="0" indent="0" algn="l">
              <a:buNone/>
            </a:pPr>
            <a:r>
              <a:rPr sz="900" dirty="0">
                <a:solidFill>
                  <a:srgbClr val="132043"/>
                </a:solidFill>
                <a:latin typeface="Calibri"/>
                <a:ea typeface="Calibri"/>
                <a:cs typeface="Calibri"/>
              </a:rPr>
              <a:t>Release 3: 13 segments; review / development in progress</a:t>
            </a:r>
            <a:endParaRPr sz="900" dirty="0">
              <a:latin typeface="Calibri"/>
              <a:ea typeface="Calibri"/>
              <a:cs typeface="Calibri"/>
            </a:endParaRPr>
          </a:p>
        </p:txBody>
      </p:sp>
      <p:sp>
        <p:nvSpPr>
          <p:cNvPr id="130" name="Shape 120">
            <a:extLst>
              <a:ext uri="{FF2B5EF4-FFF2-40B4-BE49-F238E27FC236}">
                <a16:creationId xmlns:a16="http://schemas.microsoft.com/office/drawing/2014/main" id="{81A779E1-CA18-49EE-BDF1-96CFBAE1B9B6}"/>
              </a:ext>
            </a:extLst>
          </p:cNvPr>
          <p:cNvSpPr>
            <a:spLocks noGrp="1"/>
          </p:cNvSpPr>
          <p:nvPr/>
        </p:nvSpPr>
        <p:spPr>
          <a:xfrm>
            <a:off x="9875520" y="4032504"/>
            <a:ext cx="1033272" cy="283464"/>
          </a:xfrm>
          <a:prstGeom prst="rect">
            <a:avLst/>
          </a:prstGeom>
          <a:solidFill>
            <a:srgbClr val="FFFFFF"/>
          </a:solidFill>
          <a:ln w="6350">
            <a:solidFill>
              <a:srgbClr val="C9D7E7"/>
            </a:solidFill>
            <a:prstDash val="solid"/>
          </a:ln>
        </p:spPr>
        <p:txBody>
          <a:bodyPr/>
          <a:lstStyle/>
          <a:p>
            <a:endParaRPr/>
          </a:p>
        </p:txBody>
      </p:sp>
      <p:sp>
        <p:nvSpPr>
          <p:cNvPr id="131" name="Text 121">
            <a:extLst>
              <a:ext uri="{FF2B5EF4-FFF2-40B4-BE49-F238E27FC236}">
                <a16:creationId xmlns:a16="http://schemas.microsoft.com/office/drawing/2014/main" id="{6EDA3778-D069-4DE5-BC01-F96B069983DA}"/>
              </a:ext>
            </a:extLst>
          </p:cNvPr>
          <p:cNvSpPr>
            <a:spLocks noGrp="1"/>
          </p:cNvSpPr>
          <p:nvPr/>
        </p:nvSpPr>
        <p:spPr>
          <a:xfrm>
            <a:off x="9912096" y="4059936"/>
            <a:ext cx="960120" cy="237744"/>
          </a:xfrm>
          <a:prstGeom prst="rect">
            <a:avLst/>
          </a:prstGeom>
          <a:noFill/>
        </p:spPr>
        <p:txBody>
          <a:bodyPr wrap="square" lIns="254" tIns="254" rIns="254" bIns="254" anchor="ctr">
            <a:normAutofit/>
          </a:bodyPr>
          <a:lstStyle/>
          <a:p>
            <a:pPr marL="0" indent="0" algn="l">
              <a:buNone/>
            </a:pPr>
            <a:r>
              <a:rPr sz="900" dirty="0">
                <a:solidFill>
                  <a:srgbClr val="132043"/>
                </a:solidFill>
                <a:latin typeface="Calibri"/>
                <a:ea typeface="Calibri"/>
                <a:cs typeface="Calibri"/>
              </a:rPr>
              <a:t>30 Oct / varies</a:t>
            </a:r>
            <a:endParaRPr sz="900" dirty="0">
              <a:latin typeface="Calibri"/>
              <a:ea typeface="Calibri"/>
              <a:cs typeface="Calibri"/>
            </a:endParaRPr>
          </a:p>
        </p:txBody>
      </p:sp>
      <p:sp>
        <p:nvSpPr>
          <p:cNvPr id="132" name="Shape 122">
            <a:extLst>
              <a:ext uri="{FF2B5EF4-FFF2-40B4-BE49-F238E27FC236}">
                <a16:creationId xmlns:a16="http://schemas.microsoft.com/office/drawing/2014/main" id="{C3CCF1D0-DD0A-4A4C-AD60-09D1CB859745}"/>
              </a:ext>
            </a:extLst>
          </p:cNvPr>
          <p:cNvSpPr>
            <a:spLocks noGrp="1"/>
          </p:cNvSpPr>
          <p:nvPr/>
        </p:nvSpPr>
        <p:spPr>
          <a:xfrm>
            <a:off x="10908792" y="4032504"/>
            <a:ext cx="1124712" cy="283464"/>
          </a:xfrm>
          <a:prstGeom prst="rect">
            <a:avLst/>
          </a:prstGeom>
          <a:solidFill>
            <a:srgbClr val="FFFFFF"/>
          </a:solidFill>
          <a:ln w="6350">
            <a:solidFill>
              <a:srgbClr val="C9D7E7"/>
            </a:solidFill>
            <a:prstDash val="solid"/>
          </a:ln>
        </p:spPr>
        <p:txBody>
          <a:bodyPr/>
          <a:lstStyle/>
          <a:p>
            <a:endParaRPr/>
          </a:p>
        </p:txBody>
      </p:sp>
      <p:sp>
        <p:nvSpPr>
          <p:cNvPr id="133" name="Text 123">
            <a:extLst>
              <a:ext uri="{FF2B5EF4-FFF2-40B4-BE49-F238E27FC236}">
                <a16:creationId xmlns:a16="http://schemas.microsoft.com/office/drawing/2014/main" id="{8A1D5CA5-42D4-4239-B2CF-8240E2E3F560}"/>
              </a:ext>
            </a:extLst>
          </p:cNvPr>
          <p:cNvSpPr>
            <a:spLocks noGrp="1"/>
          </p:cNvSpPr>
          <p:nvPr/>
        </p:nvSpPr>
        <p:spPr>
          <a:xfrm>
            <a:off x="10945368" y="4059936"/>
            <a:ext cx="1051560" cy="237744"/>
          </a:xfrm>
          <a:prstGeom prst="rect">
            <a:avLst/>
          </a:prstGeom>
          <a:noFill/>
        </p:spPr>
        <p:txBody>
          <a:bodyPr wrap="square" lIns="254" tIns="254" rIns="254" bIns="254" anchor="ctr">
            <a:normAutofit/>
          </a:bodyPr>
          <a:lstStyle/>
          <a:p>
            <a:pPr marL="0" indent="0" algn="l">
              <a:buNone/>
            </a:pPr>
            <a:endParaRPr sz="585"/>
          </a:p>
        </p:txBody>
      </p:sp>
      <p:sp>
        <p:nvSpPr>
          <p:cNvPr id="134" name="Shape 124">
            <a:extLst>
              <a:ext uri="{FF2B5EF4-FFF2-40B4-BE49-F238E27FC236}">
                <a16:creationId xmlns:a16="http://schemas.microsoft.com/office/drawing/2014/main" id="{3A79861B-004A-41B2-B417-FC15A5283642}"/>
              </a:ext>
            </a:extLst>
          </p:cNvPr>
          <p:cNvSpPr>
            <a:spLocks noGrp="1"/>
          </p:cNvSpPr>
          <p:nvPr/>
        </p:nvSpPr>
        <p:spPr>
          <a:xfrm>
            <a:off x="10991088" y="4082796"/>
            <a:ext cx="896112" cy="201168"/>
          </a:xfrm>
          <a:prstGeom prst="roundRect">
            <a:avLst>
              <a:gd name="adj" fmla="val 36364"/>
            </a:avLst>
          </a:prstGeom>
          <a:solidFill>
            <a:srgbClr val="FFF0C9"/>
          </a:solidFill>
          <a:ln w="12700">
            <a:solidFill>
              <a:srgbClr val="FFF0C9"/>
            </a:solidFill>
            <a:prstDash val="solid"/>
          </a:ln>
        </p:spPr>
        <p:txBody>
          <a:bodyPr/>
          <a:lstStyle/>
          <a:p>
            <a:endParaRPr/>
          </a:p>
        </p:txBody>
      </p:sp>
      <p:sp>
        <p:nvSpPr>
          <p:cNvPr id="135" name="Text 125">
            <a:extLst>
              <a:ext uri="{FF2B5EF4-FFF2-40B4-BE49-F238E27FC236}">
                <a16:creationId xmlns:a16="http://schemas.microsoft.com/office/drawing/2014/main" id="{F19EC270-DE07-4FCF-A4F7-ABF76152DC9B}"/>
              </a:ext>
            </a:extLst>
          </p:cNvPr>
          <p:cNvSpPr>
            <a:spLocks noGrp="1"/>
          </p:cNvSpPr>
          <p:nvPr/>
        </p:nvSpPr>
        <p:spPr>
          <a:xfrm>
            <a:off x="10991088" y="4105656"/>
            <a:ext cx="896112" cy="146304"/>
          </a:xfrm>
          <a:prstGeom prst="rect">
            <a:avLst/>
          </a:prstGeom>
          <a:noFill/>
        </p:spPr>
        <p:txBody>
          <a:bodyPr wrap="square" lIns="0" tIns="0" rIns="0" bIns="0" anchor="ctr">
            <a:normAutofit/>
          </a:bodyPr>
          <a:lstStyle/>
          <a:p>
            <a:pPr marL="0" indent="0" algn="ctr">
              <a:buNone/>
            </a:pPr>
            <a:r>
              <a:rPr sz="900" b="1" dirty="0">
                <a:solidFill>
                  <a:srgbClr val="8A5A00"/>
                </a:solidFill>
                <a:latin typeface="Calibri"/>
                <a:ea typeface="Calibri"/>
                <a:cs typeface="Calibri"/>
              </a:rPr>
              <a:t>In Progress</a:t>
            </a:r>
            <a:endParaRPr sz="900" dirty="0">
              <a:latin typeface="Calibri"/>
              <a:ea typeface="Calibri"/>
              <a:cs typeface="Calibri"/>
            </a:endParaRPr>
          </a:p>
        </p:txBody>
      </p:sp>
      <p:sp>
        <p:nvSpPr>
          <p:cNvPr id="136" name="Shape 126">
            <a:extLst>
              <a:ext uri="{FF2B5EF4-FFF2-40B4-BE49-F238E27FC236}">
                <a16:creationId xmlns:a16="http://schemas.microsoft.com/office/drawing/2014/main" id="{1EB31358-4AF3-461A-94E0-D8B7DA59DB60}"/>
              </a:ext>
            </a:extLst>
          </p:cNvPr>
          <p:cNvSpPr>
            <a:spLocks noGrp="1"/>
          </p:cNvSpPr>
          <p:nvPr/>
        </p:nvSpPr>
        <p:spPr>
          <a:xfrm>
            <a:off x="6629400" y="4315968"/>
            <a:ext cx="3246120" cy="283464"/>
          </a:xfrm>
          <a:prstGeom prst="rect">
            <a:avLst/>
          </a:prstGeom>
          <a:solidFill>
            <a:srgbClr val="FFFFFF"/>
          </a:solidFill>
          <a:ln w="6350">
            <a:solidFill>
              <a:srgbClr val="C9D7E7"/>
            </a:solidFill>
            <a:prstDash val="solid"/>
          </a:ln>
        </p:spPr>
        <p:txBody>
          <a:bodyPr/>
          <a:lstStyle/>
          <a:p>
            <a:endParaRPr/>
          </a:p>
        </p:txBody>
      </p:sp>
      <p:sp>
        <p:nvSpPr>
          <p:cNvPr id="137" name="Text 127">
            <a:extLst>
              <a:ext uri="{FF2B5EF4-FFF2-40B4-BE49-F238E27FC236}">
                <a16:creationId xmlns:a16="http://schemas.microsoft.com/office/drawing/2014/main" id="{BC97274A-E54E-4EF1-9284-1197226FFA43}"/>
              </a:ext>
            </a:extLst>
          </p:cNvPr>
          <p:cNvSpPr>
            <a:spLocks noGrp="1"/>
          </p:cNvSpPr>
          <p:nvPr/>
        </p:nvSpPr>
        <p:spPr>
          <a:xfrm>
            <a:off x="6665976" y="4343400"/>
            <a:ext cx="3172968" cy="237744"/>
          </a:xfrm>
          <a:prstGeom prst="rect">
            <a:avLst/>
          </a:prstGeom>
          <a:noFill/>
        </p:spPr>
        <p:txBody>
          <a:bodyPr wrap="square" lIns="254" tIns="254" rIns="254" bIns="254" anchor="ctr">
            <a:normAutofit/>
          </a:bodyPr>
          <a:lstStyle/>
          <a:p>
            <a:pPr marL="0" indent="0" algn="l">
              <a:buNone/>
            </a:pPr>
            <a:r>
              <a:rPr sz="900" dirty="0">
                <a:solidFill>
                  <a:srgbClr val="132043"/>
                </a:solidFill>
                <a:latin typeface="Calibri"/>
                <a:ea typeface="Calibri"/>
                <a:cs typeface="Calibri"/>
              </a:rPr>
              <a:t>Release 4: 10 segments in review; Release 5: 12 in QA</a:t>
            </a:r>
            <a:endParaRPr sz="900" dirty="0">
              <a:latin typeface="Calibri"/>
              <a:ea typeface="Calibri"/>
              <a:cs typeface="Calibri"/>
            </a:endParaRPr>
          </a:p>
        </p:txBody>
      </p:sp>
      <p:sp>
        <p:nvSpPr>
          <p:cNvPr id="138" name="Shape 128">
            <a:extLst>
              <a:ext uri="{FF2B5EF4-FFF2-40B4-BE49-F238E27FC236}">
                <a16:creationId xmlns:a16="http://schemas.microsoft.com/office/drawing/2014/main" id="{5C2D2434-3F3B-44AA-9B96-E27438BBAA46}"/>
              </a:ext>
            </a:extLst>
          </p:cNvPr>
          <p:cNvSpPr>
            <a:spLocks noGrp="1"/>
          </p:cNvSpPr>
          <p:nvPr/>
        </p:nvSpPr>
        <p:spPr>
          <a:xfrm>
            <a:off x="9875520" y="4315968"/>
            <a:ext cx="1033272" cy="283464"/>
          </a:xfrm>
          <a:prstGeom prst="rect">
            <a:avLst/>
          </a:prstGeom>
          <a:solidFill>
            <a:srgbClr val="FFFFFF"/>
          </a:solidFill>
          <a:ln w="6350">
            <a:solidFill>
              <a:srgbClr val="C9D7E7"/>
            </a:solidFill>
            <a:prstDash val="solid"/>
          </a:ln>
        </p:spPr>
        <p:txBody>
          <a:bodyPr/>
          <a:lstStyle/>
          <a:p>
            <a:endParaRPr>
              <a:latin typeface="Calibri"/>
              <a:ea typeface="Calibri"/>
              <a:cs typeface="Calibri"/>
            </a:endParaRPr>
          </a:p>
        </p:txBody>
      </p:sp>
      <p:sp>
        <p:nvSpPr>
          <p:cNvPr id="139" name="Text 129">
            <a:extLst>
              <a:ext uri="{FF2B5EF4-FFF2-40B4-BE49-F238E27FC236}">
                <a16:creationId xmlns:a16="http://schemas.microsoft.com/office/drawing/2014/main" id="{DE32A8BF-39E7-4067-9AAF-C8E396A7F02F}"/>
              </a:ext>
            </a:extLst>
          </p:cNvPr>
          <p:cNvSpPr>
            <a:spLocks noGrp="1"/>
          </p:cNvSpPr>
          <p:nvPr/>
        </p:nvSpPr>
        <p:spPr>
          <a:xfrm>
            <a:off x="9912096" y="4343400"/>
            <a:ext cx="960120" cy="237744"/>
          </a:xfrm>
          <a:prstGeom prst="rect">
            <a:avLst/>
          </a:prstGeom>
          <a:noFill/>
        </p:spPr>
        <p:txBody>
          <a:bodyPr wrap="square" lIns="254" tIns="254" rIns="254" bIns="254" anchor="ctr">
            <a:normAutofit/>
          </a:bodyPr>
          <a:lstStyle/>
          <a:p>
            <a:pPr marL="0" indent="0" algn="l">
              <a:buNone/>
            </a:pPr>
            <a:r>
              <a:rPr sz="900" dirty="0">
                <a:solidFill>
                  <a:srgbClr val="132043"/>
                </a:solidFill>
                <a:latin typeface="Calibri"/>
                <a:ea typeface="Calibri"/>
                <a:cs typeface="Calibri"/>
              </a:rPr>
              <a:t>30 Oct target</a:t>
            </a:r>
            <a:endParaRPr sz="900" dirty="0">
              <a:latin typeface="Calibri"/>
              <a:ea typeface="Calibri"/>
              <a:cs typeface="Calibri"/>
            </a:endParaRPr>
          </a:p>
        </p:txBody>
      </p:sp>
      <p:sp>
        <p:nvSpPr>
          <p:cNvPr id="140" name="Shape 130">
            <a:extLst>
              <a:ext uri="{FF2B5EF4-FFF2-40B4-BE49-F238E27FC236}">
                <a16:creationId xmlns:a16="http://schemas.microsoft.com/office/drawing/2014/main" id="{DB6A0475-B44C-4375-A63F-F6B7A26711F9}"/>
              </a:ext>
            </a:extLst>
          </p:cNvPr>
          <p:cNvSpPr>
            <a:spLocks noGrp="1"/>
          </p:cNvSpPr>
          <p:nvPr/>
        </p:nvSpPr>
        <p:spPr>
          <a:xfrm>
            <a:off x="10908792" y="4315968"/>
            <a:ext cx="1124712" cy="283464"/>
          </a:xfrm>
          <a:prstGeom prst="rect">
            <a:avLst/>
          </a:prstGeom>
          <a:solidFill>
            <a:srgbClr val="FFFFFF"/>
          </a:solidFill>
          <a:ln w="6350">
            <a:solidFill>
              <a:srgbClr val="C9D7E7"/>
            </a:solidFill>
            <a:prstDash val="solid"/>
          </a:ln>
        </p:spPr>
        <p:txBody>
          <a:bodyPr/>
          <a:lstStyle/>
          <a:p>
            <a:endParaRPr/>
          </a:p>
        </p:txBody>
      </p:sp>
      <p:sp>
        <p:nvSpPr>
          <p:cNvPr id="141" name="Text 131">
            <a:extLst>
              <a:ext uri="{FF2B5EF4-FFF2-40B4-BE49-F238E27FC236}">
                <a16:creationId xmlns:a16="http://schemas.microsoft.com/office/drawing/2014/main" id="{30E16B01-7006-4D03-AFA8-8F02F5F38A72}"/>
              </a:ext>
            </a:extLst>
          </p:cNvPr>
          <p:cNvSpPr>
            <a:spLocks noGrp="1"/>
          </p:cNvSpPr>
          <p:nvPr/>
        </p:nvSpPr>
        <p:spPr>
          <a:xfrm>
            <a:off x="10945368" y="4343400"/>
            <a:ext cx="1051560" cy="237744"/>
          </a:xfrm>
          <a:prstGeom prst="rect">
            <a:avLst/>
          </a:prstGeom>
          <a:noFill/>
        </p:spPr>
        <p:txBody>
          <a:bodyPr wrap="square" lIns="254" tIns="254" rIns="254" bIns="254" anchor="ctr">
            <a:normAutofit/>
          </a:bodyPr>
          <a:lstStyle/>
          <a:p>
            <a:pPr marL="0" indent="0" algn="l">
              <a:buNone/>
            </a:pPr>
            <a:endParaRPr sz="585"/>
          </a:p>
        </p:txBody>
      </p:sp>
      <p:sp>
        <p:nvSpPr>
          <p:cNvPr id="142" name="Shape 132">
            <a:extLst>
              <a:ext uri="{FF2B5EF4-FFF2-40B4-BE49-F238E27FC236}">
                <a16:creationId xmlns:a16="http://schemas.microsoft.com/office/drawing/2014/main" id="{83CFFA80-061A-4BC5-BB38-2A95FB498D1D}"/>
              </a:ext>
            </a:extLst>
          </p:cNvPr>
          <p:cNvSpPr>
            <a:spLocks noGrp="1"/>
          </p:cNvSpPr>
          <p:nvPr/>
        </p:nvSpPr>
        <p:spPr>
          <a:xfrm>
            <a:off x="10991088" y="4366260"/>
            <a:ext cx="896112" cy="201168"/>
          </a:xfrm>
          <a:prstGeom prst="roundRect">
            <a:avLst>
              <a:gd name="adj" fmla="val 36364"/>
            </a:avLst>
          </a:prstGeom>
          <a:solidFill>
            <a:srgbClr val="DDF4E5"/>
          </a:solidFill>
          <a:ln w="12700">
            <a:solidFill>
              <a:srgbClr val="DDF4E5"/>
            </a:solidFill>
            <a:prstDash val="solid"/>
          </a:ln>
        </p:spPr>
        <p:txBody>
          <a:bodyPr/>
          <a:lstStyle/>
          <a:p>
            <a:endParaRPr/>
          </a:p>
        </p:txBody>
      </p:sp>
      <p:sp>
        <p:nvSpPr>
          <p:cNvPr id="143" name="Text 133">
            <a:extLst>
              <a:ext uri="{FF2B5EF4-FFF2-40B4-BE49-F238E27FC236}">
                <a16:creationId xmlns:a16="http://schemas.microsoft.com/office/drawing/2014/main" id="{091AD8A4-C8FE-41EF-8603-ED4F07B25018}"/>
              </a:ext>
            </a:extLst>
          </p:cNvPr>
          <p:cNvSpPr>
            <a:spLocks noGrp="1"/>
          </p:cNvSpPr>
          <p:nvPr/>
        </p:nvSpPr>
        <p:spPr>
          <a:xfrm>
            <a:off x="10991088" y="4389120"/>
            <a:ext cx="896112" cy="146304"/>
          </a:xfrm>
          <a:prstGeom prst="rect">
            <a:avLst/>
          </a:prstGeom>
          <a:noFill/>
        </p:spPr>
        <p:txBody>
          <a:bodyPr wrap="square" lIns="0" tIns="0" rIns="0" bIns="0" anchor="ctr">
            <a:normAutofit/>
          </a:bodyPr>
          <a:lstStyle/>
          <a:p>
            <a:pPr marL="0" indent="0" algn="ctr">
              <a:buNone/>
            </a:pPr>
            <a:r>
              <a:rPr sz="900" b="1" dirty="0">
                <a:solidFill>
                  <a:srgbClr val="006B3F"/>
                </a:solidFill>
                <a:latin typeface="Calibri"/>
                <a:ea typeface="Calibri"/>
                <a:cs typeface="Calibri"/>
              </a:rPr>
              <a:t>In Progress</a:t>
            </a:r>
            <a:endParaRPr sz="900" dirty="0">
              <a:latin typeface="Calibri"/>
              <a:ea typeface="Calibri"/>
              <a:cs typeface="Calibri"/>
            </a:endParaRPr>
          </a:p>
        </p:txBody>
      </p:sp>
      <p:sp>
        <p:nvSpPr>
          <p:cNvPr id="144" name="Shape 134">
            <a:extLst>
              <a:ext uri="{FF2B5EF4-FFF2-40B4-BE49-F238E27FC236}">
                <a16:creationId xmlns:a16="http://schemas.microsoft.com/office/drawing/2014/main" id="{5907D950-9FC0-42B3-9C60-7D32577663BE}"/>
              </a:ext>
            </a:extLst>
          </p:cNvPr>
          <p:cNvSpPr>
            <a:spLocks noGrp="1"/>
          </p:cNvSpPr>
          <p:nvPr/>
        </p:nvSpPr>
        <p:spPr>
          <a:xfrm>
            <a:off x="164592" y="4782312"/>
            <a:ext cx="11868912" cy="1572768"/>
          </a:xfrm>
          <a:prstGeom prst="roundRect">
            <a:avLst>
              <a:gd name="adj" fmla="val 3488"/>
            </a:avLst>
          </a:prstGeom>
          <a:solidFill>
            <a:srgbClr val="FFFFFF"/>
          </a:solidFill>
          <a:ln w="8890">
            <a:solidFill>
              <a:srgbClr val="D4E4F2"/>
            </a:solidFill>
            <a:prstDash val="solid"/>
          </a:ln>
        </p:spPr>
        <p:txBody>
          <a:bodyPr/>
          <a:lstStyle/>
          <a:p>
            <a:endParaRPr/>
          </a:p>
        </p:txBody>
      </p:sp>
      <p:sp>
        <p:nvSpPr>
          <p:cNvPr id="145" name="Shape 135">
            <a:extLst>
              <a:ext uri="{FF2B5EF4-FFF2-40B4-BE49-F238E27FC236}">
                <a16:creationId xmlns:a16="http://schemas.microsoft.com/office/drawing/2014/main" id="{E3F1826A-6D98-4129-940F-B756DC766A88}"/>
              </a:ext>
            </a:extLst>
          </p:cNvPr>
          <p:cNvSpPr>
            <a:spLocks noGrp="1"/>
          </p:cNvSpPr>
          <p:nvPr/>
        </p:nvSpPr>
        <p:spPr>
          <a:xfrm>
            <a:off x="164592" y="4782312"/>
            <a:ext cx="11868912" cy="256032"/>
          </a:xfrm>
          <a:prstGeom prst="rect">
            <a:avLst/>
          </a:prstGeom>
          <a:solidFill>
            <a:srgbClr val="0070C0"/>
          </a:solidFill>
          <a:ln w="12700">
            <a:solidFill>
              <a:srgbClr val="0070C0"/>
            </a:solidFill>
            <a:prstDash val="solid"/>
          </a:ln>
        </p:spPr>
        <p:txBody>
          <a:bodyPr/>
          <a:lstStyle/>
          <a:p>
            <a:endParaRPr/>
          </a:p>
        </p:txBody>
      </p:sp>
      <p:sp>
        <p:nvSpPr>
          <p:cNvPr id="146" name="Text 136">
            <a:extLst>
              <a:ext uri="{FF2B5EF4-FFF2-40B4-BE49-F238E27FC236}">
                <a16:creationId xmlns:a16="http://schemas.microsoft.com/office/drawing/2014/main" id="{DCE9B829-23D4-49BF-8340-BA3EB9DA6DA3}"/>
              </a:ext>
            </a:extLst>
          </p:cNvPr>
          <p:cNvSpPr>
            <a:spLocks noGrp="1"/>
          </p:cNvSpPr>
          <p:nvPr/>
        </p:nvSpPr>
        <p:spPr>
          <a:xfrm>
            <a:off x="274320" y="4828032"/>
            <a:ext cx="11649456" cy="210312"/>
          </a:xfrm>
          <a:prstGeom prst="rect">
            <a:avLst/>
          </a:prstGeom>
          <a:noFill/>
        </p:spPr>
        <p:txBody>
          <a:bodyPr wrap="square" lIns="254" tIns="254" rIns="254" bIns="254" anchor="ctr">
            <a:normAutofit/>
          </a:bodyPr>
          <a:lstStyle/>
          <a:p>
            <a:pPr marL="0" indent="0">
              <a:buNone/>
            </a:pPr>
            <a:r>
              <a:rPr sz="1200" b="1" dirty="0">
                <a:solidFill>
                  <a:srgbClr val="FFFFFF"/>
                </a:solidFill>
                <a:latin typeface="Aptos Display"/>
                <a:ea typeface="Aptos Display"/>
                <a:cs typeface="Aptos Display"/>
              </a:rPr>
              <a:t>Accomplishments / In Progress / Next Steps</a:t>
            </a:r>
            <a:endParaRPr sz="1200" dirty="0"/>
          </a:p>
        </p:txBody>
      </p:sp>
      <p:pic>
        <p:nvPicPr>
          <p:cNvPr id="147" name="Image 8">
            <a:extLst>
              <a:ext uri="{FF2B5EF4-FFF2-40B4-BE49-F238E27FC236}">
                <a16:creationId xmlns:a16="http://schemas.microsoft.com/office/drawing/2014/main" id="{12692EEE-085D-409A-93E1-14B0A15A7A4D}"/>
              </a:ext>
            </a:extLst>
          </p:cNvPr>
          <p:cNvPicPr>
            <a:picLocks noChangeAspect="1"/>
          </p:cNvPicPr>
          <p:nvPr/>
        </p:nvPicPr>
        <p:blipFill>
          <a:blip r:embed="rId11"/>
          <a:stretch>
            <a:fillRect/>
          </a:stretch>
        </p:blipFill>
        <p:spPr>
          <a:xfrm>
            <a:off x="347472" y="5111496"/>
            <a:ext cx="292608" cy="292608"/>
          </a:xfrm>
          <a:prstGeom prst="rect">
            <a:avLst/>
          </a:prstGeom>
        </p:spPr>
      </p:pic>
      <p:sp>
        <p:nvSpPr>
          <p:cNvPr id="148" name="Text 137">
            <a:extLst>
              <a:ext uri="{FF2B5EF4-FFF2-40B4-BE49-F238E27FC236}">
                <a16:creationId xmlns:a16="http://schemas.microsoft.com/office/drawing/2014/main" id="{A7A0351C-1325-45B3-B4F8-2DB918E83E33}"/>
              </a:ext>
            </a:extLst>
          </p:cNvPr>
          <p:cNvSpPr>
            <a:spLocks noGrp="1"/>
          </p:cNvSpPr>
          <p:nvPr/>
        </p:nvSpPr>
        <p:spPr>
          <a:xfrm>
            <a:off x="694944" y="5111496"/>
            <a:ext cx="3127248" cy="228600"/>
          </a:xfrm>
          <a:prstGeom prst="rect">
            <a:avLst/>
          </a:prstGeom>
          <a:noFill/>
        </p:spPr>
        <p:txBody>
          <a:bodyPr wrap="square" lIns="0" tIns="0" rIns="0" bIns="0" anchor="ctr">
            <a:normAutofit/>
          </a:bodyPr>
          <a:lstStyle/>
          <a:p>
            <a:pPr marL="0" indent="0" algn="l">
              <a:buNone/>
            </a:pPr>
            <a:r>
              <a:rPr sz="1260" b="1">
                <a:solidFill>
                  <a:srgbClr val="0E7A45"/>
                </a:solidFill>
                <a:latin typeface="Aptos Display"/>
                <a:ea typeface="Aptos Display"/>
                <a:cs typeface="Aptos Display"/>
              </a:rPr>
              <a:t>Accomplishments</a:t>
            </a:r>
            <a:endParaRPr sz="1260"/>
          </a:p>
        </p:txBody>
      </p:sp>
      <p:sp>
        <p:nvSpPr>
          <p:cNvPr id="149" name="Text 138">
            <a:extLst>
              <a:ext uri="{FF2B5EF4-FFF2-40B4-BE49-F238E27FC236}">
                <a16:creationId xmlns:a16="http://schemas.microsoft.com/office/drawing/2014/main" id="{1E98CB7E-FD3E-4A9D-BB51-BF698734D140}"/>
              </a:ext>
            </a:extLst>
          </p:cNvPr>
          <p:cNvSpPr>
            <a:spLocks noGrp="1"/>
          </p:cNvSpPr>
          <p:nvPr/>
        </p:nvSpPr>
        <p:spPr>
          <a:xfrm>
            <a:off x="758952" y="5404104"/>
            <a:ext cx="3154680" cy="713232"/>
          </a:xfrm>
          <a:prstGeom prst="rect">
            <a:avLst/>
          </a:prstGeom>
          <a:noFill/>
        </p:spPr>
        <p:txBody>
          <a:bodyPr wrap="square" lIns="254" tIns="254" rIns="254" bIns="254" anchor="t">
            <a:normAutofit/>
          </a:bodyPr>
          <a:lstStyle/>
          <a:p>
            <a:pPr marL="0" indent="0" algn="l">
              <a:buNone/>
            </a:pPr>
            <a:r>
              <a:rPr sz="900" dirty="0">
                <a:solidFill>
                  <a:srgbClr val="132043"/>
                </a:solidFill>
                <a:latin typeface="Calibri"/>
                <a:ea typeface="Calibri"/>
                <a:cs typeface="Calibri"/>
              </a:rPr>
              <a:t>• MI POC foundation deployed successfully.</a:t>
            </a:r>
            <a:endParaRPr sz="900" dirty="0">
              <a:latin typeface="Calibri"/>
              <a:ea typeface="Calibri"/>
              <a:cs typeface="Calibri"/>
            </a:endParaRPr>
          </a:p>
          <a:p>
            <a:pPr marL="0" indent="0" algn="l">
              <a:buNone/>
            </a:pPr>
            <a:r>
              <a:rPr sz="900" dirty="0">
                <a:solidFill>
                  <a:srgbClr val="132043"/>
                </a:solidFill>
                <a:latin typeface="Calibri"/>
                <a:ea typeface="Calibri"/>
                <a:cs typeface="Calibri"/>
              </a:rPr>
              <a:t>• Release 2: 30 segments deployed and business approved.</a:t>
            </a:r>
          </a:p>
          <a:p>
            <a:pPr marL="0" indent="0" algn="l">
              <a:buNone/>
            </a:pPr>
            <a:r>
              <a:rPr sz="900" dirty="0">
                <a:solidFill>
                  <a:srgbClr val="132043"/>
                </a:solidFill>
                <a:latin typeface="Calibri"/>
                <a:ea typeface="Calibri"/>
                <a:cs typeface="Calibri"/>
              </a:rPr>
              <a:t>• Current tracker scope totals 99 segments.</a:t>
            </a:r>
          </a:p>
        </p:txBody>
      </p:sp>
      <p:sp>
        <p:nvSpPr>
          <p:cNvPr id="150" name="Shape 139">
            <a:extLst>
              <a:ext uri="{FF2B5EF4-FFF2-40B4-BE49-F238E27FC236}">
                <a16:creationId xmlns:a16="http://schemas.microsoft.com/office/drawing/2014/main" id="{B04C2E62-0276-4DF1-AE8B-EBA57F366590}"/>
              </a:ext>
            </a:extLst>
          </p:cNvPr>
          <p:cNvSpPr>
            <a:spLocks noGrp="1"/>
          </p:cNvSpPr>
          <p:nvPr/>
        </p:nvSpPr>
        <p:spPr>
          <a:xfrm>
            <a:off x="3995928" y="5138928"/>
            <a:ext cx="0" cy="914400"/>
          </a:xfrm>
          <a:prstGeom prst="line">
            <a:avLst/>
          </a:prstGeom>
          <a:noFill/>
          <a:ln w="8890">
            <a:solidFill>
              <a:srgbClr val="D5E2EF"/>
            </a:solidFill>
            <a:prstDash val="solid"/>
          </a:ln>
        </p:spPr>
        <p:txBody>
          <a:bodyPr/>
          <a:lstStyle/>
          <a:p>
            <a:endParaRPr/>
          </a:p>
        </p:txBody>
      </p:sp>
      <p:pic>
        <p:nvPicPr>
          <p:cNvPr id="151" name="Image 9">
            <a:extLst>
              <a:ext uri="{FF2B5EF4-FFF2-40B4-BE49-F238E27FC236}">
                <a16:creationId xmlns:a16="http://schemas.microsoft.com/office/drawing/2014/main" id="{C259F695-6469-4FF0-A0D6-04DE4F244F2A}"/>
              </a:ext>
            </a:extLst>
          </p:cNvPr>
          <p:cNvPicPr>
            <a:picLocks noChangeAspect="1"/>
          </p:cNvPicPr>
          <p:nvPr/>
        </p:nvPicPr>
        <p:blipFill>
          <a:blip r:embed="rId12"/>
          <a:stretch>
            <a:fillRect/>
          </a:stretch>
        </p:blipFill>
        <p:spPr>
          <a:xfrm>
            <a:off x="4160520" y="5111496"/>
            <a:ext cx="292608" cy="292608"/>
          </a:xfrm>
          <a:prstGeom prst="rect">
            <a:avLst/>
          </a:prstGeom>
        </p:spPr>
      </p:pic>
      <p:sp>
        <p:nvSpPr>
          <p:cNvPr id="152" name="Text 140">
            <a:extLst>
              <a:ext uri="{FF2B5EF4-FFF2-40B4-BE49-F238E27FC236}">
                <a16:creationId xmlns:a16="http://schemas.microsoft.com/office/drawing/2014/main" id="{34ACD5DD-0040-48EB-868A-8468F41D95D8}"/>
              </a:ext>
            </a:extLst>
          </p:cNvPr>
          <p:cNvSpPr>
            <a:spLocks noGrp="1"/>
          </p:cNvSpPr>
          <p:nvPr/>
        </p:nvSpPr>
        <p:spPr>
          <a:xfrm>
            <a:off x="4507992" y="5111496"/>
            <a:ext cx="3035808" cy="228600"/>
          </a:xfrm>
          <a:prstGeom prst="rect">
            <a:avLst/>
          </a:prstGeom>
          <a:noFill/>
        </p:spPr>
        <p:txBody>
          <a:bodyPr wrap="square" lIns="0" tIns="0" rIns="0" bIns="0" anchor="ctr">
            <a:normAutofit/>
          </a:bodyPr>
          <a:lstStyle/>
          <a:p>
            <a:pPr marL="0" indent="0" algn="l">
              <a:buNone/>
            </a:pPr>
            <a:r>
              <a:rPr sz="1260" b="1">
                <a:solidFill>
                  <a:srgbClr val="D28B00"/>
                </a:solidFill>
                <a:latin typeface="Aptos Display"/>
                <a:ea typeface="Aptos Display"/>
                <a:cs typeface="Aptos Display"/>
              </a:rPr>
              <a:t>In Progress</a:t>
            </a:r>
            <a:endParaRPr sz="1260"/>
          </a:p>
        </p:txBody>
      </p:sp>
      <p:sp>
        <p:nvSpPr>
          <p:cNvPr id="153" name="Text 141">
            <a:extLst>
              <a:ext uri="{FF2B5EF4-FFF2-40B4-BE49-F238E27FC236}">
                <a16:creationId xmlns:a16="http://schemas.microsoft.com/office/drawing/2014/main" id="{64D8C0AE-0DE4-4495-98A9-A0DBDF11F6B0}"/>
              </a:ext>
            </a:extLst>
          </p:cNvPr>
          <p:cNvSpPr>
            <a:spLocks noGrp="1"/>
          </p:cNvSpPr>
          <p:nvPr/>
        </p:nvSpPr>
        <p:spPr>
          <a:xfrm>
            <a:off x="4572000" y="5404104"/>
            <a:ext cx="3063240" cy="713232"/>
          </a:xfrm>
          <a:prstGeom prst="rect">
            <a:avLst/>
          </a:prstGeom>
          <a:noFill/>
        </p:spPr>
        <p:txBody>
          <a:bodyPr wrap="square" lIns="254" tIns="254" rIns="254" bIns="254" anchor="t">
            <a:normAutofit/>
          </a:bodyPr>
          <a:lstStyle/>
          <a:p>
            <a:pPr marL="0" indent="0" algn="l">
              <a:buNone/>
            </a:pPr>
            <a:r>
              <a:rPr sz="900" dirty="0">
                <a:solidFill>
                  <a:srgbClr val="132043"/>
                </a:solidFill>
                <a:latin typeface="Calibri"/>
                <a:ea typeface="Calibri"/>
                <a:cs typeface="Calibri"/>
              </a:rPr>
              <a:t>• Release 1: 34 pilot segments in development.</a:t>
            </a:r>
            <a:endParaRPr sz="900" dirty="0">
              <a:latin typeface="Calibri"/>
              <a:ea typeface="Calibri"/>
              <a:cs typeface="Calibri"/>
            </a:endParaRPr>
          </a:p>
          <a:p>
            <a:pPr marL="0" indent="0" algn="l">
              <a:buNone/>
            </a:pPr>
            <a:r>
              <a:rPr sz="900" dirty="0">
                <a:solidFill>
                  <a:srgbClr val="132043"/>
                </a:solidFill>
                <a:latin typeface="Calibri"/>
                <a:ea typeface="Calibri"/>
                <a:cs typeface="Calibri"/>
              </a:rPr>
              <a:t>• Release 3: 13 segments in development / review.</a:t>
            </a:r>
          </a:p>
          <a:p>
            <a:pPr marL="0" indent="0" algn="l">
              <a:buNone/>
            </a:pPr>
            <a:r>
              <a:rPr sz="900" dirty="0">
                <a:solidFill>
                  <a:srgbClr val="132043"/>
                </a:solidFill>
                <a:latin typeface="Calibri"/>
                <a:ea typeface="Calibri"/>
                <a:cs typeface="Calibri"/>
              </a:rPr>
              <a:t>• Release 4: 10 segments awaiting review.</a:t>
            </a:r>
          </a:p>
          <a:p>
            <a:pPr marL="0" indent="0" algn="l">
              <a:buNone/>
            </a:pPr>
            <a:r>
              <a:rPr sz="900" dirty="0">
                <a:solidFill>
                  <a:srgbClr val="132043"/>
                </a:solidFill>
                <a:latin typeface="Calibri"/>
                <a:ea typeface="Calibri"/>
                <a:cs typeface="Calibri"/>
              </a:rPr>
              <a:t>• Release 5: 12 segments in QA; target 28 Oct.</a:t>
            </a:r>
          </a:p>
        </p:txBody>
      </p:sp>
      <p:sp>
        <p:nvSpPr>
          <p:cNvPr id="154" name="Shape 142">
            <a:extLst>
              <a:ext uri="{FF2B5EF4-FFF2-40B4-BE49-F238E27FC236}">
                <a16:creationId xmlns:a16="http://schemas.microsoft.com/office/drawing/2014/main" id="{E10EBB49-19CB-43AE-B15A-1F89D9C4FBB7}"/>
              </a:ext>
            </a:extLst>
          </p:cNvPr>
          <p:cNvSpPr>
            <a:spLocks noGrp="1"/>
          </p:cNvSpPr>
          <p:nvPr/>
        </p:nvSpPr>
        <p:spPr>
          <a:xfrm>
            <a:off x="7717536" y="5138928"/>
            <a:ext cx="0" cy="914400"/>
          </a:xfrm>
          <a:prstGeom prst="line">
            <a:avLst/>
          </a:prstGeom>
          <a:noFill/>
          <a:ln w="8890">
            <a:solidFill>
              <a:srgbClr val="D5E2EF"/>
            </a:solidFill>
            <a:prstDash val="solid"/>
          </a:ln>
        </p:spPr>
        <p:txBody>
          <a:bodyPr/>
          <a:lstStyle/>
          <a:p>
            <a:endParaRPr/>
          </a:p>
        </p:txBody>
      </p:sp>
      <p:pic>
        <p:nvPicPr>
          <p:cNvPr id="155" name="Image 10">
            <a:extLst>
              <a:ext uri="{FF2B5EF4-FFF2-40B4-BE49-F238E27FC236}">
                <a16:creationId xmlns:a16="http://schemas.microsoft.com/office/drawing/2014/main" id="{DD64F1DD-AB1F-4DB8-8E17-8E3415F46EBB}"/>
              </a:ext>
            </a:extLst>
          </p:cNvPr>
          <p:cNvPicPr>
            <a:picLocks noChangeAspect="1"/>
          </p:cNvPicPr>
          <p:nvPr/>
        </p:nvPicPr>
        <p:blipFill>
          <a:blip r:embed="rId13"/>
          <a:stretch>
            <a:fillRect/>
          </a:stretch>
        </p:blipFill>
        <p:spPr>
          <a:xfrm>
            <a:off x="7882128" y="5111496"/>
            <a:ext cx="292608" cy="292608"/>
          </a:xfrm>
          <a:prstGeom prst="rect">
            <a:avLst/>
          </a:prstGeom>
        </p:spPr>
      </p:pic>
      <p:sp>
        <p:nvSpPr>
          <p:cNvPr id="156" name="Text 143">
            <a:extLst>
              <a:ext uri="{FF2B5EF4-FFF2-40B4-BE49-F238E27FC236}">
                <a16:creationId xmlns:a16="http://schemas.microsoft.com/office/drawing/2014/main" id="{1799CC73-123F-41CE-9D83-2168BA8CD8C2}"/>
              </a:ext>
            </a:extLst>
          </p:cNvPr>
          <p:cNvSpPr>
            <a:spLocks noGrp="1"/>
          </p:cNvSpPr>
          <p:nvPr/>
        </p:nvSpPr>
        <p:spPr>
          <a:xfrm>
            <a:off x="8229600" y="5111496"/>
            <a:ext cx="3401568" cy="228600"/>
          </a:xfrm>
          <a:prstGeom prst="rect">
            <a:avLst/>
          </a:prstGeom>
          <a:noFill/>
        </p:spPr>
        <p:txBody>
          <a:bodyPr wrap="square" lIns="0" tIns="0" rIns="0" bIns="0" anchor="ctr">
            <a:normAutofit/>
          </a:bodyPr>
          <a:lstStyle/>
          <a:p>
            <a:pPr marL="0" indent="0" algn="l">
              <a:buNone/>
            </a:pPr>
            <a:r>
              <a:rPr sz="1260" b="1">
                <a:solidFill>
                  <a:srgbClr val="0068B7"/>
                </a:solidFill>
                <a:latin typeface="Aptos Display"/>
                <a:ea typeface="Aptos Display"/>
                <a:cs typeface="Aptos Display"/>
              </a:rPr>
              <a:t>Next Steps</a:t>
            </a:r>
            <a:endParaRPr sz="1260"/>
          </a:p>
        </p:txBody>
      </p:sp>
      <p:sp>
        <p:nvSpPr>
          <p:cNvPr id="157" name="Text 144">
            <a:extLst>
              <a:ext uri="{FF2B5EF4-FFF2-40B4-BE49-F238E27FC236}">
                <a16:creationId xmlns:a16="http://schemas.microsoft.com/office/drawing/2014/main" id="{11E18AEA-054D-4D48-A2BB-C4B049981CFC}"/>
              </a:ext>
            </a:extLst>
          </p:cNvPr>
          <p:cNvSpPr>
            <a:spLocks noGrp="1"/>
          </p:cNvSpPr>
          <p:nvPr/>
        </p:nvSpPr>
        <p:spPr>
          <a:xfrm>
            <a:off x="8293608" y="5404104"/>
            <a:ext cx="3429000" cy="713232"/>
          </a:xfrm>
          <a:prstGeom prst="rect">
            <a:avLst/>
          </a:prstGeom>
          <a:noFill/>
        </p:spPr>
        <p:txBody>
          <a:bodyPr wrap="square" lIns="254" tIns="254" rIns="254" bIns="254" anchor="t">
            <a:normAutofit/>
          </a:bodyPr>
          <a:lstStyle/>
          <a:p>
            <a:pPr marL="0" indent="0" algn="l">
              <a:buNone/>
            </a:pPr>
            <a:r>
              <a:rPr sz="900" dirty="0">
                <a:solidFill>
                  <a:srgbClr val="132043"/>
                </a:solidFill>
                <a:latin typeface="Calibri"/>
                <a:ea typeface="Calibri"/>
                <a:cs typeface="Calibri"/>
              </a:rPr>
              <a:t>• Close pending business reviews and confirm QNXT load.</a:t>
            </a:r>
            <a:endParaRPr sz="900" dirty="0">
              <a:latin typeface="Calibri"/>
              <a:ea typeface="Calibri"/>
              <a:cs typeface="Calibri"/>
            </a:endParaRPr>
          </a:p>
          <a:p>
            <a:pPr marL="0" indent="0" algn="l">
              <a:buNone/>
            </a:pPr>
            <a:r>
              <a:rPr sz="900" dirty="0">
                <a:solidFill>
                  <a:srgbClr val="132043"/>
                </a:solidFill>
                <a:latin typeface="Calibri"/>
                <a:ea typeface="Calibri"/>
                <a:cs typeface="Calibri"/>
              </a:rPr>
              <a:t>• Complete WV development and Release 5 testing.</a:t>
            </a:r>
          </a:p>
          <a:p>
            <a:pPr marL="0" indent="0" algn="l">
              <a:buNone/>
            </a:pPr>
            <a:r>
              <a:rPr sz="900" dirty="0">
                <a:solidFill>
                  <a:srgbClr val="132043"/>
                </a:solidFill>
                <a:latin typeface="Calibri"/>
                <a:ea typeface="Calibri"/>
                <a:cs typeface="Calibri"/>
              </a:rPr>
              <a:t>• Resolve missing or outdated QA files.</a:t>
            </a:r>
          </a:p>
          <a:p>
            <a:pPr marL="0" indent="0" algn="l">
              <a:buNone/>
            </a:pPr>
            <a:r>
              <a:rPr sz="900" dirty="0">
                <a:solidFill>
                  <a:srgbClr val="132043"/>
                </a:solidFill>
                <a:latin typeface="Calibri"/>
                <a:ea typeface="Calibri"/>
                <a:cs typeface="Calibri"/>
              </a:rPr>
              <a:t>• Track 30 Oct and 13 Nov deployment targets.</a:t>
            </a:r>
          </a:p>
        </p:txBody>
      </p:sp>
      <p:sp>
        <p:nvSpPr>
          <p:cNvPr id="158" name="Shape 145">
            <a:extLst>
              <a:ext uri="{FF2B5EF4-FFF2-40B4-BE49-F238E27FC236}">
                <a16:creationId xmlns:a16="http://schemas.microsoft.com/office/drawing/2014/main" id="{34800C3A-B40D-4354-B142-94412F4B1AEC}"/>
              </a:ext>
            </a:extLst>
          </p:cNvPr>
          <p:cNvSpPr>
            <a:spLocks noGrp="1"/>
          </p:cNvSpPr>
          <p:nvPr/>
        </p:nvSpPr>
        <p:spPr>
          <a:xfrm>
            <a:off x="164592" y="6428232"/>
            <a:ext cx="11868912" cy="0"/>
          </a:xfrm>
          <a:prstGeom prst="line">
            <a:avLst/>
          </a:prstGeom>
          <a:noFill/>
          <a:ln w="8890">
            <a:solidFill>
              <a:srgbClr val="E2EAF3"/>
            </a:solidFill>
            <a:prstDash val="solid"/>
          </a:ln>
        </p:spPr>
        <p:txBody>
          <a:bodyPr/>
          <a:lstStyle/>
          <a:p>
            <a:endParaRPr/>
          </a:p>
        </p:txBody>
      </p:sp>
      <p:pic>
        <p:nvPicPr>
          <p:cNvPr id="159" name="Image 11">
            <a:extLst>
              <a:ext uri="{FF2B5EF4-FFF2-40B4-BE49-F238E27FC236}">
                <a16:creationId xmlns:a16="http://schemas.microsoft.com/office/drawing/2014/main" id="{1D3B593B-17E7-4376-AFAC-72E618FB21DB}"/>
              </a:ext>
            </a:extLst>
          </p:cNvPr>
          <p:cNvPicPr>
            <a:picLocks noChangeAspect="1"/>
          </p:cNvPicPr>
          <p:nvPr/>
        </p:nvPicPr>
        <p:blipFill>
          <a:blip r:embed="rId14"/>
          <a:stretch>
            <a:fillRect/>
          </a:stretch>
        </p:blipFill>
        <p:spPr>
          <a:xfrm>
            <a:off x="210312" y="6400800"/>
            <a:ext cx="256032" cy="256032"/>
          </a:xfrm>
          <a:prstGeom prst="rect">
            <a:avLst/>
          </a:prstGeom>
        </p:spPr>
      </p:pic>
      <p:sp>
        <p:nvSpPr>
          <p:cNvPr id="160" name="Text 146">
            <a:extLst>
              <a:ext uri="{FF2B5EF4-FFF2-40B4-BE49-F238E27FC236}">
                <a16:creationId xmlns:a16="http://schemas.microsoft.com/office/drawing/2014/main" id="{41BB8813-F609-4A66-AE50-EFC45DBA4D73}"/>
              </a:ext>
            </a:extLst>
          </p:cNvPr>
          <p:cNvSpPr>
            <a:spLocks noGrp="1"/>
          </p:cNvSpPr>
          <p:nvPr/>
        </p:nvSpPr>
        <p:spPr>
          <a:xfrm>
            <a:off x="502920" y="6483096"/>
            <a:ext cx="1325880" cy="137160"/>
          </a:xfrm>
          <a:prstGeom prst="rect">
            <a:avLst/>
          </a:prstGeom>
          <a:noFill/>
        </p:spPr>
        <p:txBody>
          <a:bodyPr wrap="square" lIns="0" tIns="0" rIns="0" bIns="0" anchor="ctr">
            <a:normAutofit/>
          </a:bodyPr>
          <a:lstStyle/>
          <a:p>
            <a:pPr marL="0" indent="0" algn="l">
              <a:buNone/>
            </a:pPr>
            <a:r>
              <a:rPr sz="800" b="1">
                <a:solidFill>
                  <a:srgbClr val="5C1DB1"/>
                </a:solidFill>
                <a:latin typeface="Calibri"/>
                <a:ea typeface="Calibri"/>
                <a:cs typeface="Calibri"/>
              </a:rPr>
              <a:t>Status as of 22 Oct 2026:</a:t>
            </a:r>
            <a:endParaRPr sz="800">
              <a:latin typeface="Calibri"/>
              <a:ea typeface="Calibri"/>
              <a:cs typeface="Calibri"/>
            </a:endParaRPr>
          </a:p>
        </p:txBody>
      </p:sp>
      <p:sp>
        <p:nvSpPr>
          <p:cNvPr id="161" name="Text 147">
            <a:extLst>
              <a:ext uri="{FF2B5EF4-FFF2-40B4-BE49-F238E27FC236}">
                <a16:creationId xmlns:a16="http://schemas.microsoft.com/office/drawing/2014/main" id="{99BDDD9A-38F6-4E35-91CB-8A7D8FCF9E65}"/>
              </a:ext>
            </a:extLst>
          </p:cNvPr>
          <p:cNvSpPr>
            <a:spLocks noGrp="1"/>
          </p:cNvSpPr>
          <p:nvPr/>
        </p:nvSpPr>
        <p:spPr>
          <a:xfrm>
            <a:off x="2011680" y="6483096"/>
            <a:ext cx="8138160" cy="137160"/>
          </a:xfrm>
          <a:prstGeom prst="rect">
            <a:avLst/>
          </a:prstGeom>
          <a:noFill/>
        </p:spPr>
        <p:txBody>
          <a:bodyPr wrap="square" lIns="0" tIns="0" rIns="0" bIns="0" anchor="ctr">
            <a:normAutofit/>
          </a:bodyPr>
          <a:lstStyle/>
          <a:p>
            <a:pPr marL="0" indent="0" algn="l">
              <a:buNone/>
            </a:pPr>
            <a:r>
              <a:rPr sz="800">
                <a:solidFill>
                  <a:srgbClr val="132043"/>
                </a:solidFill>
                <a:latin typeface="Calibri"/>
                <a:ea typeface="Calibri"/>
                <a:cs typeface="Calibri"/>
              </a:rPr>
              <a:t>Segment totals: R1 34, R2 30, R3 13, R4 10, R5 12 = 99. Scope totals do not imply completed release. Dates are targets.</a:t>
            </a:r>
            <a:endParaRPr sz="800">
              <a:latin typeface="Calibri"/>
              <a:ea typeface="Calibri"/>
              <a:cs typeface="Calibri"/>
            </a:endParaRPr>
          </a:p>
        </p:txBody>
      </p:sp>
      <p:pic>
        <p:nvPicPr>
          <p:cNvPr id="162" name="Image 12">
            <a:extLst>
              <a:ext uri="{FF2B5EF4-FFF2-40B4-BE49-F238E27FC236}">
                <a16:creationId xmlns:a16="http://schemas.microsoft.com/office/drawing/2014/main" id="{715F2EB8-CF19-4408-94FB-DA1E07C3C0B1}"/>
              </a:ext>
            </a:extLst>
          </p:cNvPr>
          <p:cNvPicPr>
            <a:picLocks noChangeAspect="1"/>
          </p:cNvPicPr>
          <p:nvPr/>
        </p:nvPicPr>
        <p:blipFill>
          <a:blip r:embed="rId15"/>
          <a:stretch>
            <a:fillRect/>
          </a:stretch>
        </p:blipFill>
        <p:spPr>
          <a:xfrm>
            <a:off x="10497312" y="6409944"/>
            <a:ext cx="1307592" cy="329184"/>
          </a:xfrm>
          <a:prstGeom prst="rect">
            <a:avLst/>
          </a:prstGeom>
        </p:spPr>
      </p:pic>
      <p:sp>
        <p:nvSpPr>
          <p:cNvPr id="164" name="TextBox 163">
            <a:extLst>
              <a:ext uri="{FF2B5EF4-FFF2-40B4-BE49-F238E27FC236}">
                <a16:creationId xmlns:a16="http://schemas.microsoft.com/office/drawing/2014/main" id="{2AFC8D4B-BEBA-2B79-B995-4FB0CE8C7BAC}"/>
              </a:ext>
            </a:extLst>
          </p:cNvPr>
          <p:cNvSpPr txBox="1"/>
          <p:nvPr/>
        </p:nvSpPr>
        <p:spPr>
          <a:xfrm>
            <a:off x="-402336" y="4453128"/>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705192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583</Words>
  <Application>Microsoft Office PowerPoint</Application>
  <DocSecurity>0</DocSecurity>
  <PresentationFormat>Widescreen</PresentationFormat>
  <Paragraphs>73</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Calibri</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Sumeet Changari</cp:lastModifiedBy>
  <cp:revision>2</cp:revision>
  <dcterms:created xsi:type="dcterms:W3CDTF">2026-10-22T22:10:09Z</dcterms:created>
  <dcterms:modified xsi:type="dcterms:W3CDTF">2026-10-22T22:21:18Z</dcterms:modified>
</cp:coreProperties>
</file>