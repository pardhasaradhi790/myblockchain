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4" d="100"/>
          <a:sy n="104"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Planwise status screenshots dated 22 October 2026, plus requested changes in image(20261022-224002).png. R1: 7+20+7=34 segments. R2: 28 rows, including one 3-segment item, total30: MI24, ABH IL1, IL DUAL2, VA3. R3: 8 rows including one 6-segment item, total13: FL8, OK4, WV1. R4: NJ2, LA3, NY5 =10. R5: OHRS5, MD7 =12. Scope total99. Development R1 in progress; R2 complete; R3 mixed with FL and WV in progress; R4 and R5 complete. R4 awaiting business review, R5 QA in progress. Pass comments show all R2 rows and two OK rows in R3, total32 segments. No scope totals are equated with completed processing or released status. Table shows development and current status separately. Plan abbreviations preserved from tracker.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0D4DE4A-D903-4D9F-BB51-55862E6E3DB6}"/>
              </a:ext>
            </a:extLst>
          </p:cNvPr>
          <p:cNvSpPr>
            <a:spLocks noGrp="1"/>
          </p:cNvSpPr>
          <p:nvPr/>
        </p:nvSpPr>
        <p:spPr>
          <a:xfrm>
            <a:off x="0" y="0"/>
            <a:ext cx="12191695" cy="530352"/>
          </a:xfrm>
          <a:prstGeom prst="rect">
            <a:avLst/>
          </a:prstGeom>
          <a:solidFill>
            <a:srgbClr val="17266D"/>
          </a:solidFill>
          <a:ln w="12700">
            <a:solidFill>
              <a:srgbClr val="17266D"/>
            </a:solidFill>
            <a:prstDash val="solid"/>
          </a:ln>
        </p:spPr>
        <p:txBody>
          <a:bodyPr/>
          <a:lstStyle/>
          <a:p>
            <a:endParaRPr/>
          </a:p>
        </p:txBody>
      </p:sp>
      <p:sp>
        <p:nvSpPr>
          <p:cNvPr id="3" name="Text 1">
            <a:extLst>
              <a:ext uri="{FF2B5EF4-FFF2-40B4-BE49-F238E27FC236}">
                <a16:creationId xmlns:a16="http://schemas.microsoft.com/office/drawing/2014/main" id="{7680279D-6C53-49E2-8194-6B46A5043BFA}"/>
              </a:ext>
            </a:extLst>
          </p:cNvPr>
          <p:cNvSpPr>
            <a:spLocks noGrp="1"/>
          </p:cNvSpPr>
          <p:nvPr/>
        </p:nvSpPr>
        <p:spPr>
          <a:xfrm>
            <a:off x="228600" y="73152"/>
            <a:ext cx="4937760" cy="256032"/>
          </a:xfrm>
          <a:prstGeom prst="rect">
            <a:avLst/>
          </a:prstGeom>
          <a:noFill/>
        </p:spPr>
        <p:txBody>
          <a:bodyPr wrap="square" lIns="0" tIns="0" rIns="0" bIns="0" anchor="ctr">
            <a:normAutofit fontScale="92500" lnSpcReduction="20000"/>
          </a:bodyPr>
          <a:lstStyle/>
          <a:p>
            <a:pPr marL="0" indent="0" algn="l">
              <a:buNone/>
            </a:pPr>
            <a:r>
              <a:rPr sz="2200" b="1">
                <a:solidFill>
                  <a:srgbClr val="FFFFFF"/>
                </a:solidFill>
                <a:latin typeface="Aptos Display"/>
                <a:ea typeface="Aptos Display"/>
                <a:cs typeface="Aptos Display"/>
              </a:rPr>
              <a:t>CSRA FS Automation Project</a:t>
            </a:r>
            <a:endParaRPr sz="2200"/>
          </a:p>
        </p:txBody>
      </p:sp>
      <p:sp>
        <p:nvSpPr>
          <p:cNvPr id="4" name="Text 2">
            <a:extLst>
              <a:ext uri="{FF2B5EF4-FFF2-40B4-BE49-F238E27FC236}">
                <a16:creationId xmlns:a16="http://schemas.microsoft.com/office/drawing/2014/main" id="{9B5964C1-9060-4877-B7AD-3E8B76173893}"/>
              </a:ext>
            </a:extLst>
          </p:cNvPr>
          <p:cNvSpPr>
            <a:spLocks noGrp="1"/>
          </p:cNvSpPr>
          <p:nvPr/>
        </p:nvSpPr>
        <p:spPr>
          <a:xfrm>
            <a:off x="237744" y="356616"/>
            <a:ext cx="8778240" cy="137160"/>
          </a:xfrm>
          <a:prstGeom prst="rect">
            <a:avLst/>
          </a:prstGeom>
          <a:noFill/>
        </p:spPr>
        <p:txBody>
          <a:bodyPr wrap="square" lIns="0" tIns="0" rIns="0" bIns="0" anchor="ctr">
            <a:normAutofit/>
          </a:bodyPr>
          <a:lstStyle/>
          <a:p>
            <a:pPr marL="0" indent="0" algn="l">
              <a:buNone/>
            </a:pPr>
            <a:r>
              <a:rPr sz="900">
                <a:solidFill>
                  <a:srgbClr val="FFFFFF"/>
                </a:solidFill>
                <a:latin typeface="Calibri"/>
                <a:ea typeface="Calibri"/>
                <a:cs typeface="Calibri"/>
              </a:rPr>
              <a:t>Standardizing and automating the CSRA fee schedule process to improve accuracy, efficiency, and scalability.</a:t>
            </a:r>
            <a:endParaRPr sz="900">
              <a:latin typeface="Calibri"/>
              <a:ea typeface="Calibri"/>
              <a:cs typeface="Calibri"/>
            </a:endParaRPr>
          </a:p>
        </p:txBody>
      </p:sp>
      <p:sp>
        <p:nvSpPr>
          <p:cNvPr id="5" name="Shape 3">
            <a:extLst>
              <a:ext uri="{FF2B5EF4-FFF2-40B4-BE49-F238E27FC236}">
                <a16:creationId xmlns:a16="http://schemas.microsoft.com/office/drawing/2014/main" id="{EE8BE296-93D3-49A5-A88D-D8A3FCC43F01}"/>
              </a:ext>
            </a:extLst>
          </p:cNvPr>
          <p:cNvSpPr>
            <a:spLocks noGrp="1"/>
          </p:cNvSpPr>
          <p:nvPr/>
        </p:nvSpPr>
        <p:spPr>
          <a:xfrm>
            <a:off x="164592" y="658368"/>
            <a:ext cx="11868912" cy="749808"/>
          </a:xfrm>
          <a:prstGeom prst="roundRect">
            <a:avLst>
              <a:gd name="adj" fmla="val 7317"/>
            </a:avLst>
          </a:prstGeom>
          <a:solidFill>
            <a:srgbClr val="F8FCFF"/>
          </a:solidFill>
          <a:ln w="8890">
            <a:solidFill>
              <a:srgbClr val="A7D4F8"/>
            </a:solidFill>
            <a:prstDash val="solid"/>
          </a:ln>
        </p:spPr>
        <p:txBody>
          <a:bodyPr/>
          <a:lstStyle/>
          <a:p>
            <a:endParaRPr/>
          </a:p>
        </p:txBody>
      </p:sp>
      <p:sp>
        <p:nvSpPr>
          <p:cNvPr id="6" name="Shape 4">
            <a:extLst>
              <a:ext uri="{FF2B5EF4-FFF2-40B4-BE49-F238E27FC236}">
                <a16:creationId xmlns:a16="http://schemas.microsoft.com/office/drawing/2014/main" id="{0AF1BFE1-2779-4E22-B9E1-FF88FAC06E87}"/>
              </a:ext>
            </a:extLst>
          </p:cNvPr>
          <p:cNvSpPr>
            <a:spLocks noGrp="1"/>
          </p:cNvSpPr>
          <p:nvPr/>
        </p:nvSpPr>
        <p:spPr>
          <a:xfrm>
            <a:off x="164592" y="658368"/>
            <a:ext cx="11868912" cy="228600"/>
          </a:xfrm>
          <a:prstGeom prst="rect">
            <a:avLst/>
          </a:prstGeom>
          <a:solidFill>
            <a:srgbClr val="0070C0"/>
          </a:solidFill>
          <a:ln w="12700">
            <a:solidFill>
              <a:srgbClr val="0070C0"/>
            </a:solidFill>
            <a:prstDash val="solid"/>
          </a:ln>
        </p:spPr>
        <p:txBody>
          <a:bodyPr/>
          <a:lstStyle/>
          <a:p>
            <a:endParaRPr/>
          </a:p>
        </p:txBody>
      </p:sp>
      <p:sp>
        <p:nvSpPr>
          <p:cNvPr id="7" name="Text 5">
            <a:extLst>
              <a:ext uri="{FF2B5EF4-FFF2-40B4-BE49-F238E27FC236}">
                <a16:creationId xmlns:a16="http://schemas.microsoft.com/office/drawing/2014/main" id="{69EF1838-8645-45F8-8AE0-3AD8F2153EF9}"/>
              </a:ext>
            </a:extLst>
          </p:cNvPr>
          <p:cNvSpPr>
            <a:spLocks noGrp="1"/>
          </p:cNvSpPr>
          <p:nvPr/>
        </p:nvSpPr>
        <p:spPr>
          <a:xfrm>
            <a:off x="274320" y="704088"/>
            <a:ext cx="11649456" cy="182880"/>
          </a:xfrm>
          <a:prstGeom prst="rect">
            <a:avLst/>
          </a:prstGeom>
          <a:noFill/>
        </p:spPr>
        <p:txBody>
          <a:bodyPr wrap="square" lIns="254" tIns="254" rIns="254" bIns="254" anchor="ctr">
            <a:normAutofit lnSpcReduction="10000"/>
          </a:bodyPr>
          <a:lstStyle/>
          <a:p>
            <a:pPr marL="0" indent="0">
              <a:buNone/>
            </a:pPr>
            <a:r>
              <a:rPr sz="1200" b="1">
                <a:solidFill>
                  <a:srgbClr val="FFFFFF"/>
                </a:solidFill>
                <a:latin typeface="Aptos Display"/>
                <a:ea typeface="Aptos Display"/>
                <a:cs typeface="Aptos Display"/>
              </a:rPr>
              <a:t>Objective</a:t>
            </a:r>
            <a:endParaRPr sz="1200"/>
          </a:p>
        </p:txBody>
      </p:sp>
      <p:sp>
        <p:nvSpPr>
          <p:cNvPr id="8" name="Text 6">
            <a:extLst>
              <a:ext uri="{FF2B5EF4-FFF2-40B4-BE49-F238E27FC236}">
                <a16:creationId xmlns:a16="http://schemas.microsoft.com/office/drawing/2014/main" id="{C1FDA4E2-790C-4604-9370-1BD9F5D5AA56}"/>
              </a:ext>
            </a:extLst>
          </p:cNvPr>
          <p:cNvSpPr>
            <a:spLocks noGrp="1"/>
          </p:cNvSpPr>
          <p:nvPr/>
        </p:nvSpPr>
        <p:spPr>
          <a:xfrm>
            <a:off x="320040" y="960120"/>
            <a:ext cx="11521440" cy="237744"/>
          </a:xfrm>
          <a:prstGeom prst="rect">
            <a:avLst/>
          </a:prstGeom>
          <a:noFill/>
        </p:spPr>
        <p:txBody>
          <a:bodyPr wrap="square" lIns="0" tIns="0" rIns="0" bIns="0" anchor="ctr">
            <a:noAutofit/>
          </a:bodyPr>
          <a:lstStyle/>
          <a:p>
            <a:pPr marL="0" indent="0" algn="l">
              <a:buNone/>
            </a:pPr>
            <a:r>
              <a:rPr sz="1000" dirty="0">
                <a:solidFill>
                  <a:srgbClr val="17266D"/>
                </a:solidFill>
                <a:latin typeface="Calibri"/>
                <a:ea typeface="Calibri"/>
                <a:cs typeface="Calibri"/>
              </a:rPr>
              <a:t>Standardize and automate the CSRA fee schedule process across CMS state file download, SOP review and update, master file / QNXT validation, data-load preparation, and latest fee update in QNXT.</a:t>
            </a:r>
            <a:endParaRPr sz="1000" dirty="0">
              <a:latin typeface="Calibri"/>
              <a:ea typeface="Calibri"/>
              <a:cs typeface="Calibri"/>
            </a:endParaRPr>
          </a:p>
        </p:txBody>
      </p:sp>
      <p:sp>
        <p:nvSpPr>
          <p:cNvPr id="9" name="Shape 7">
            <a:extLst>
              <a:ext uri="{FF2B5EF4-FFF2-40B4-BE49-F238E27FC236}">
                <a16:creationId xmlns:a16="http://schemas.microsoft.com/office/drawing/2014/main" id="{C0BDA1D4-E71A-4473-A226-90E2BFEC7366}"/>
              </a:ext>
            </a:extLst>
          </p:cNvPr>
          <p:cNvSpPr>
            <a:spLocks noGrp="1"/>
          </p:cNvSpPr>
          <p:nvPr/>
        </p:nvSpPr>
        <p:spPr>
          <a:xfrm>
            <a:off x="164592" y="1508760"/>
            <a:ext cx="11868912" cy="804672"/>
          </a:xfrm>
          <a:prstGeom prst="roundRect">
            <a:avLst>
              <a:gd name="adj" fmla="val 6818"/>
            </a:avLst>
          </a:prstGeom>
          <a:solidFill>
            <a:srgbClr val="FFFFFF"/>
          </a:solidFill>
          <a:ln w="8890">
            <a:solidFill>
              <a:srgbClr val="D4E4F2"/>
            </a:solidFill>
            <a:prstDash val="solid"/>
          </a:ln>
        </p:spPr>
        <p:txBody>
          <a:bodyPr/>
          <a:lstStyle/>
          <a:p>
            <a:endParaRPr/>
          </a:p>
        </p:txBody>
      </p:sp>
      <p:sp>
        <p:nvSpPr>
          <p:cNvPr id="10" name="Shape 8">
            <a:extLst>
              <a:ext uri="{FF2B5EF4-FFF2-40B4-BE49-F238E27FC236}">
                <a16:creationId xmlns:a16="http://schemas.microsoft.com/office/drawing/2014/main" id="{7D741E93-398C-4D23-A779-C9D18DA45286}"/>
              </a:ext>
            </a:extLst>
          </p:cNvPr>
          <p:cNvSpPr>
            <a:spLocks noGrp="1"/>
          </p:cNvSpPr>
          <p:nvPr/>
        </p:nvSpPr>
        <p:spPr>
          <a:xfrm>
            <a:off x="164592" y="1508760"/>
            <a:ext cx="11868912" cy="237744"/>
          </a:xfrm>
          <a:prstGeom prst="rect">
            <a:avLst/>
          </a:prstGeom>
          <a:solidFill>
            <a:srgbClr val="0070C0"/>
          </a:solidFill>
          <a:ln w="12700">
            <a:solidFill>
              <a:srgbClr val="0070C0"/>
            </a:solidFill>
            <a:prstDash val="solid"/>
          </a:ln>
        </p:spPr>
        <p:txBody>
          <a:bodyPr/>
          <a:lstStyle/>
          <a:p>
            <a:endParaRPr/>
          </a:p>
        </p:txBody>
      </p:sp>
      <p:sp>
        <p:nvSpPr>
          <p:cNvPr id="11" name="Text 9">
            <a:extLst>
              <a:ext uri="{FF2B5EF4-FFF2-40B4-BE49-F238E27FC236}">
                <a16:creationId xmlns:a16="http://schemas.microsoft.com/office/drawing/2014/main" id="{170007BE-B4C9-439F-8BC8-E7EB1934FE89}"/>
              </a:ext>
            </a:extLst>
          </p:cNvPr>
          <p:cNvSpPr>
            <a:spLocks noGrp="1"/>
          </p:cNvSpPr>
          <p:nvPr/>
        </p:nvSpPr>
        <p:spPr>
          <a:xfrm>
            <a:off x="274320" y="1554480"/>
            <a:ext cx="11649456" cy="192024"/>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Top-Level Metrics / Summary</a:t>
            </a:r>
            <a:endParaRPr sz="1200"/>
          </a:p>
        </p:txBody>
      </p:sp>
      <p:sp>
        <p:nvSpPr>
          <p:cNvPr id="12" name="Shape 10">
            <a:extLst>
              <a:ext uri="{FF2B5EF4-FFF2-40B4-BE49-F238E27FC236}">
                <a16:creationId xmlns:a16="http://schemas.microsoft.com/office/drawing/2014/main" id="{58125422-8822-4647-A559-CDCC5E9EE3C0}"/>
              </a:ext>
            </a:extLst>
          </p:cNvPr>
          <p:cNvSpPr>
            <a:spLocks noGrp="1"/>
          </p:cNvSpPr>
          <p:nvPr/>
        </p:nvSpPr>
        <p:spPr>
          <a:xfrm>
            <a:off x="320040" y="1746504"/>
            <a:ext cx="2238375"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13" name="Image 0">
            <a:extLst>
              <a:ext uri="{FF2B5EF4-FFF2-40B4-BE49-F238E27FC236}">
                <a16:creationId xmlns:a16="http://schemas.microsoft.com/office/drawing/2014/main" id="{CB5E286A-0D2A-4B19-99BB-D20B01A21E83}"/>
              </a:ext>
            </a:extLst>
          </p:cNvPr>
          <p:cNvPicPr>
            <a:picLocks noChangeAspect="1"/>
          </p:cNvPicPr>
          <p:nvPr/>
        </p:nvPicPr>
        <p:blipFill>
          <a:blip r:embed="rId3"/>
          <a:stretch>
            <a:fillRect/>
          </a:stretch>
        </p:blipFill>
        <p:spPr>
          <a:xfrm>
            <a:off x="438912" y="1760220"/>
            <a:ext cx="438912" cy="438912"/>
          </a:xfrm>
          <a:prstGeom prst="rect">
            <a:avLst/>
          </a:prstGeom>
        </p:spPr>
      </p:pic>
      <p:sp>
        <p:nvSpPr>
          <p:cNvPr id="14" name="Text 11">
            <a:extLst>
              <a:ext uri="{FF2B5EF4-FFF2-40B4-BE49-F238E27FC236}">
                <a16:creationId xmlns:a16="http://schemas.microsoft.com/office/drawing/2014/main" id="{003D5BD1-07F8-4895-B454-AF42FB7F16CE}"/>
              </a:ext>
            </a:extLst>
          </p:cNvPr>
          <p:cNvSpPr>
            <a:spLocks noGrp="1"/>
          </p:cNvSpPr>
          <p:nvPr/>
        </p:nvSpPr>
        <p:spPr>
          <a:xfrm>
            <a:off x="886968" y="1801368"/>
            <a:ext cx="1476375" cy="210312"/>
          </a:xfrm>
          <a:prstGeom prst="rect">
            <a:avLst/>
          </a:prstGeom>
          <a:noFill/>
        </p:spPr>
        <p:txBody>
          <a:bodyPr wrap="square" lIns="0" tIns="0" rIns="0" bIns="0" anchor="ctr">
            <a:normAutofit fontScale="85185"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0068B7"/>
                </a:solidFill>
                <a:latin typeface="Aptos Display"/>
                <a:ea typeface="Aptos Display"/>
                <a:cs typeface="Aptos Display"/>
              </a:rPr>
              <a:t>34</a:t>
            </a:r>
            <a:endParaRPr sz="2000"/>
          </a:p>
        </p:txBody>
      </p:sp>
      <p:sp>
        <p:nvSpPr>
          <p:cNvPr id="15" name="Text 12">
            <a:extLst>
              <a:ext uri="{FF2B5EF4-FFF2-40B4-BE49-F238E27FC236}">
                <a16:creationId xmlns:a16="http://schemas.microsoft.com/office/drawing/2014/main" id="{C55FBB8C-72BF-4E9D-B4FD-E22E3A5D9B88}"/>
              </a:ext>
            </a:extLst>
          </p:cNvPr>
          <p:cNvSpPr>
            <a:spLocks noGrp="1"/>
          </p:cNvSpPr>
          <p:nvPr/>
        </p:nvSpPr>
        <p:spPr>
          <a:xfrm>
            <a:off x="905256" y="2011680"/>
            <a:ext cx="1619250" cy="137160"/>
          </a:xfrm>
          <a:prstGeom prst="rect">
            <a:avLst/>
          </a:prstGeom>
          <a:noFill/>
        </p:spPr>
        <p:txBody>
          <a:bodyPr wrap="square" lIns="0" tIns="0" rIns="0" bIns="0" anchor="ctr">
            <a:normAutofit/>
          </a:bodyPr>
          <a:lstStyle/>
          <a:p>
            <a:pPr marL="0" indent="0">
              <a:buNone/>
            </a:pPr>
            <a:r>
              <a:rPr sz="850" b="1" dirty="0">
                <a:solidFill>
                  <a:srgbClr val="0068B7"/>
                </a:solidFill>
                <a:latin typeface="Aptos"/>
                <a:ea typeface="Aptos"/>
                <a:cs typeface="Aptos"/>
              </a:rPr>
              <a:t>Release 1 Segments</a:t>
            </a:r>
            <a:endParaRPr sz="850" dirty="0"/>
          </a:p>
        </p:txBody>
      </p:sp>
      <p:sp>
        <p:nvSpPr>
          <p:cNvPr id="16" name="Shape 13">
            <a:extLst>
              <a:ext uri="{FF2B5EF4-FFF2-40B4-BE49-F238E27FC236}">
                <a16:creationId xmlns:a16="http://schemas.microsoft.com/office/drawing/2014/main" id="{D126735F-E1D9-4C54-A9B2-1996BAAB2DA3}"/>
              </a:ext>
            </a:extLst>
          </p:cNvPr>
          <p:cNvSpPr>
            <a:spLocks noGrp="1"/>
          </p:cNvSpPr>
          <p:nvPr/>
        </p:nvSpPr>
        <p:spPr>
          <a:xfrm>
            <a:off x="2653665" y="1746504"/>
            <a:ext cx="2238375"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17" name="Image 1">
            <a:extLst>
              <a:ext uri="{FF2B5EF4-FFF2-40B4-BE49-F238E27FC236}">
                <a16:creationId xmlns:a16="http://schemas.microsoft.com/office/drawing/2014/main" id="{14DF2125-ECFF-4012-9994-28A50993DDA2}"/>
              </a:ext>
            </a:extLst>
          </p:cNvPr>
          <p:cNvPicPr>
            <a:picLocks noChangeAspect="1"/>
          </p:cNvPicPr>
          <p:nvPr/>
        </p:nvPicPr>
        <p:blipFill>
          <a:blip r:embed="rId4"/>
          <a:stretch>
            <a:fillRect/>
          </a:stretch>
        </p:blipFill>
        <p:spPr>
          <a:xfrm>
            <a:off x="2772537" y="1760220"/>
            <a:ext cx="438912" cy="438912"/>
          </a:xfrm>
          <a:prstGeom prst="rect">
            <a:avLst/>
          </a:prstGeom>
        </p:spPr>
      </p:pic>
      <p:sp>
        <p:nvSpPr>
          <p:cNvPr id="18" name="Text 14">
            <a:extLst>
              <a:ext uri="{FF2B5EF4-FFF2-40B4-BE49-F238E27FC236}">
                <a16:creationId xmlns:a16="http://schemas.microsoft.com/office/drawing/2014/main" id="{F367086A-4462-4197-BEEE-71F108289CB3}"/>
              </a:ext>
            </a:extLst>
          </p:cNvPr>
          <p:cNvSpPr>
            <a:spLocks noGrp="1"/>
          </p:cNvSpPr>
          <p:nvPr/>
        </p:nvSpPr>
        <p:spPr>
          <a:xfrm>
            <a:off x="3220593" y="1801368"/>
            <a:ext cx="1476375" cy="210312"/>
          </a:xfrm>
          <a:prstGeom prst="rect">
            <a:avLst/>
          </a:prstGeom>
          <a:noFill/>
        </p:spPr>
        <p:txBody>
          <a:bodyPr wrap="square" lIns="0" tIns="0" rIns="0" bIns="0" anchor="ctr">
            <a:normAutofit fontScale="85185"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5C1DB1"/>
                </a:solidFill>
                <a:latin typeface="Aptos Display"/>
                <a:ea typeface="Aptos Display"/>
                <a:cs typeface="Aptos Display"/>
              </a:rPr>
              <a:t>30</a:t>
            </a:r>
            <a:endParaRPr sz="2000"/>
          </a:p>
        </p:txBody>
      </p:sp>
      <p:sp>
        <p:nvSpPr>
          <p:cNvPr id="19" name="Text 15">
            <a:extLst>
              <a:ext uri="{FF2B5EF4-FFF2-40B4-BE49-F238E27FC236}">
                <a16:creationId xmlns:a16="http://schemas.microsoft.com/office/drawing/2014/main" id="{09C47732-4B07-4F57-AC9C-46DC97F3D4A4}"/>
              </a:ext>
            </a:extLst>
          </p:cNvPr>
          <p:cNvSpPr>
            <a:spLocks noGrp="1"/>
          </p:cNvSpPr>
          <p:nvPr/>
        </p:nvSpPr>
        <p:spPr>
          <a:xfrm>
            <a:off x="3238881" y="2011680"/>
            <a:ext cx="1619250" cy="137160"/>
          </a:xfrm>
          <a:prstGeom prst="rect">
            <a:avLst/>
          </a:prstGeom>
          <a:noFill/>
        </p:spPr>
        <p:txBody>
          <a:bodyPr wrap="square" lIns="0" tIns="0" rIns="0" bIns="0" anchor="ctr">
            <a:normAutofit/>
          </a:bodyPr>
          <a:lstStyle/>
          <a:p>
            <a:pPr marL="0" indent="0">
              <a:buNone/>
            </a:pPr>
            <a:r>
              <a:rPr sz="850" b="1">
                <a:solidFill>
                  <a:srgbClr val="5C1DB1"/>
                </a:solidFill>
                <a:latin typeface="Aptos"/>
                <a:ea typeface="Aptos"/>
                <a:cs typeface="Aptos"/>
              </a:rPr>
              <a:t>Release 2 Released</a:t>
            </a:r>
            <a:endParaRPr sz="850"/>
          </a:p>
        </p:txBody>
      </p:sp>
      <p:sp>
        <p:nvSpPr>
          <p:cNvPr id="20" name="Shape 16">
            <a:extLst>
              <a:ext uri="{FF2B5EF4-FFF2-40B4-BE49-F238E27FC236}">
                <a16:creationId xmlns:a16="http://schemas.microsoft.com/office/drawing/2014/main" id="{76501828-F31C-4698-AD98-1576FE91BC29}"/>
              </a:ext>
            </a:extLst>
          </p:cNvPr>
          <p:cNvSpPr>
            <a:spLocks noGrp="1"/>
          </p:cNvSpPr>
          <p:nvPr/>
        </p:nvSpPr>
        <p:spPr>
          <a:xfrm>
            <a:off x="4987290" y="1746504"/>
            <a:ext cx="2238375"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21" name="Image 2">
            <a:extLst>
              <a:ext uri="{FF2B5EF4-FFF2-40B4-BE49-F238E27FC236}">
                <a16:creationId xmlns:a16="http://schemas.microsoft.com/office/drawing/2014/main" id="{47AE5D5A-047B-4BA7-95C7-6FABDDF9D8C5}"/>
              </a:ext>
            </a:extLst>
          </p:cNvPr>
          <p:cNvPicPr>
            <a:picLocks noChangeAspect="1"/>
          </p:cNvPicPr>
          <p:nvPr/>
        </p:nvPicPr>
        <p:blipFill>
          <a:blip r:embed="rId5"/>
          <a:stretch>
            <a:fillRect/>
          </a:stretch>
        </p:blipFill>
        <p:spPr>
          <a:xfrm>
            <a:off x="5106162" y="1760220"/>
            <a:ext cx="438912" cy="438912"/>
          </a:xfrm>
          <a:prstGeom prst="rect">
            <a:avLst/>
          </a:prstGeom>
        </p:spPr>
      </p:pic>
      <p:sp>
        <p:nvSpPr>
          <p:cNvPr id="22" name="Text 17">
            <a:extLst>
              <a:ext uri="{FF2B5EF4-FFF2-40B4-BE49-F238E27FC236}">
                <a16:creationId xmlns:a16="http://schemas.microsoft.com/office/drawing/2014/main" id="{750725C8-E35C-472F-B17E-4D678AE11CAE}"/>
              </a:ext>
            </a:extLst>
          </p:cNvPr>
          <p:cNvSpPr>
            <a:spLocks noGrp="1"/>
          </p:cNvSpPr>
          <p:nvPr/>
        </p:nvSpPr>
        <p:spPr>
          <a:xfrm>
            <a:off x="5554218" y="1801368"/>
            <a:ext cx="1476375" cy="210312"/>
          </a:xfrm>
          <a:prstGeom prst="rect">
            <a:avLst/>
          </a:prstGeom>
          <a:noFill/>
        </p:spPr>
        <p:txBody>
          <a:bodyPr wrap="square" lIns="0" tIns="0" rIns="0" bIns="0" anchor="ctr">
            <a:normAutofit fontScale="85185"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0E7A45"/>
                </a:solidFill>
                <a:latin typeface="Aptos Display"/>
                <a:ea typeface="Aptos Display"/>
                <a:cs typeface="Aptos Display"/>
              </a:rPr>
              <a:t>13</a:t>
            </a:r>
            <a:endParaRPr sz="2000"/>
          </a:p>
        </p:txBody>
      </p:sp>
      <p:sp>
        <p:nvSpPr>
          <p:cNvPr id="23" name="Text 18">
            <a:extLst>
              <a:ext uri="{FF2B5EF4-FFF2-40B4-BE49-F238E27FC236}">
                <a16:creationId xmlns:a16="http://schemas.microsoft.com/office/drawing/2014/main" id="{08CA37D1-16A1-4F80-B82E-9FC30CCC74F9}"/>
              </a:ext>
            </a:extLst>
          </p:cNvPr>
          <p:cNvSpPr>
            <a:spLocks noGrp="1"/>
          </p:cNvSpPr>
          <p:nvPr/>
        </p:nvSpPr>
        <p:spPr>
          <a:xfrm>
            <a:off x="5572506" y="2011680"/>
            <a:ext cx="1619250" cy="137160"/>
          </a:xfrm>
          <a:prstGeom prst="rect">
            <a:avLst/>
          </a:prstGeom>
          <a:noFill/>
        </p:spPr>
        <p:txBody>
          <a:bodyPr wrap="square" lIns="0" tIns="0" rIns="0" bIns="0" anchor="ctr">
            <a:normAutofit/>
          </a:bodyPr>
          <a:lstStyle/>
          <a:p>
            <a:pPr marL="0" indent="0">
              <a:buNone/>
            </a:pPr>
            <a:r>
              <a:rPr sz="850" b="1">
                <a:solidFill>
                  <a:srgbClr val="0E7A45"/>
                </a:solidFill>
                <a:latin typeface="Aptos"/>
                <a:ea typeface="Aptos"/>
                <a:cs typeface="Aptos"/>
              </a:rPr>
              <a:t>Release 3 Segments</a:t>
            </a:r>
            <a:endParaRPr sz="850"/>
          </a:p>
        </p:txBody>
      </p:sp>
      <p:sp>
        <p:nvSpPr>
          <p:cNvPr id="24" name="Shape 19">
            <a:extLst>
              <a:ext uri="{FF2B5EF4-FFF2-40B4-BE49-F238E27FC236}">
                <a16:creationId xmlns:a16="http://schemas.microsoft.com/office/drawing/2014/main" id="{6D05FA83-1F47-4276-A907-72C66DC04F10}"/>
              </a:ext>
            </a:extLst>
          </p:cNvPr>
          <p:cNvSpPr>
            <a:spLocks noGrp="1"/>
          </p:cNvSpPr>
          <p:nvPr/>
        </p:nvSpPr>
        <p:spPr>
          <a:xfrm>
            <a:off x="7320915" y="1746504"/>
            <a:ext cx="2238375"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25" name="Image 3">
            <a:extLst>
              <a:ext uri="{FF2B5EF4-FFF2-40B4-BE49-F238E27FC236}">
                <a16:creationId xmlns:a16="http://schemas.microsoft.com/office/drawing/2014/main" id="{BED87C05-1502-4C5A-BF92-D1FA71978458}"/>
              </a:ext>
            </a:extLst>
          </p:cNvPr>
          <p:cNvPicPr>
            <a:picLocks noChangeAspect="1"/>
          </p:cNvPicPr>
          <p:nvPr/>
        </p:nvPicPr>
        <p:blipFill>
          <a:blip r:embed="rId6"/>
          <a:stretch>
            <a:fillRect/>
          </a:stretch>
        </p:blipFill>
        <p:spPr>
          <a:xfrm>
            <a:off x="7439787" y="1760220"/>
            <a:ext cx="438912" cy="438912"/>
          </a:xfrm>
          <a:prstGeom prst="rect">
            <a:avLst/>
          </a:prstGeom>
        </p:spPr>
      </p:pic>
      <p:sp>
        <p:nvSpPr>
          <p:cNvPr id="26" name="Text 20">
            <a:extLst>
              <a:ext uri="{FF2B5EF4-FFF2-40B4-BE49-F238E27FC236}">
                <a16:creationId xmlns:a16="http://schemas.microsoft.com/office/drawing/2014/main" id="{6495BF0E-3391-464D-A012-E230810E1A5B}"/>
              </a:ext>
            </a:extLst>
          </p:cNvPr>
          <p:cNvSpPr>
            <a:spLocks noGrp="1"/>
          </p:cNvSpPr>
          <p:nvPr/>
        </p:nvSpPr>
        <p:spPr>
          <a:xfrm>
            <a:off x="7887843" y="1801368"/>
            <a:ext cx="1476375" cy="210312"/>
          </a:xfrm>
          <a:prstGeom prst="rect">
            <a:avLst/>
          </a:prstGeom>
          <a:noFill/>
        </p:spPr>
        <p:txBody>
          <a:bodyPr wrap="square" lIns="0" tIns="0" rIns="0" bIns="0" anchor="ctr">
            <a:normAutofit fontScale="85185"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D71920"/>
                </a:solidFill>
                <a:latin typeface="Aptos Display"/>
                <a:ea typeface="Aptos Display"/>
                <a:cs typeface="Aptos Display"/>
              </a:rPr>
              <a:t>10</a:t>
            </a:r>
            <a:endParaRPr sz="2000"/>
          </a:p>
        </p:txBody>
      </p:sp>
      <p:sp>
        <p:nvSpPr>
          <p:cNvPr id="27" name="Text 21">
            <a:extLst>
              <a:ext uri="{FF2B5EF4-FFF2-40B4-BE49-F238E27FC236}">
                <a16:creationId xmlns:a16="http://schemas.microsoft.com/office/drawing/2014/main" id="{459074F4-B7AB-4E16-AD46-112E444F8827}"/>
              </a:ext>
            </a:extLst>
          </p:cNvPr>
          <p:cNvSpPr>
            <a:spLocks noGrp="1"/>
          </p:cNvSpPr>
          <p:nvPr/>
        </p:nvSpPr>
        <p:spPr>
          <a:xfrm>
            <a:off x="7906131" y="2011680"/>
            <a:ext cx="1619250" cy="137160"/>
          </a:xfrm>
          <a:prstGeom prst="rect">
            <a:avLst/>
          </a:prstGeom>
          <a:noFill/>
        </p:spPr>
        <p:txBody>
          <a:bodyPr wrap="square" lIns="0" tIns="0" rIns="0" bIns="0" anchor="ctr">
            <a:normAutofit/>
          </a:bodyPr>
          <a:lstStyle/>
          <a:p>
            <a:pPr marL="0" indent="0">
              <a:buNone/>
            </a:pPr>
            <a:r>
              <a:rPr sz="850" b="1">
                <a:solidFill>
                  <a:srgbClr val="D71920"/>
                </a:solidFill>
                <a:latin typeface="Aptos"/>
                <a:ea typeface="Aptos"/>
                <a:cs typeface="Aptos"/>
              </a:rPr>
              <a:t>Release 4 Segments</a:t>
            </a:r>
            <a:endParaRPr sz="850"/>
          </a:p>
        </p:txBody>
      </p:sp>
      <p:sp>
        <p:nvSpPr>
          <p:cNvPr id="28" name="Shape 22">
            <a:extLst>
              <a:ext uri="{FF2B5EF4-FFF2-40B4-BE49-F238E27FC236}">
                <a16:creationId xmlns:a16="http://schemas.microsoft.com/office/drawing/2014/main" id="{D84F8ABF-90BC-4358-B79F-46C6EB33F3F6}"/>
              </a:ext>
            </a:extLst>
          </p:cNvPr>
          <p:cNvSpPr>
            <a:spLocks noGrp="1"/>
          </p:cNvSpPr>
          <p:nvPr/>
        </p:nvSpPr>
        <p:spPr>
          <a:xfrm>
            <a:off x="164592" y="2432304"/>
            <a:ext cx="6355080" cy="2212848"/>
          </a:xfrm>
          <a:prstGeom prst="roundRect">
            <a:avLst>
              <a:gd name="adj" fmla="val 2479"/>
            </a:avLst>
          </a:prstGeom>
          <a:solidFill>
            <a:srgbClr val="FFFFFF"/>
          </a:solidFill>
          <a:ln w="8890">
            <a:solidFill>
              <a:srgbClr val="D4E4F2"/>
            </a:solidFill>
            <a:prstDash val="solid"/>
          </a:ln>
        </p:spPr>
        <p:txBody>
          <a:bodyPr/>
          <a:lstStyle/>
          <a:p>
            <a:endParaRPr/>
          </a:p>
        </p:txBody>
      </p:sp>
      <p:sp>
        <p:nvSpPr>
          <p:cNvPr id="29" name="Shape 23">
            <a:extLst>
              <a:ext uri="{FF2B5EF4-FFF2-40B4-BE49-F238E27FC236}">
                <a16:creationId xmlns:a16="http://schemas.microsoft.com/office/drawing/2014/main" id="{DF8B08CE-9E5B-4447-8316-60E68A23F463}"/>
              </a:ext>
            </a:extLst>
          </p:cNvPr>
          <p:cNvSpPr>
            <a:spLocks noGrp="1"/>
          </p:cNvSpPr>
          <p:nvPr/>
        </p:nvSpPr>
        <p:spPr>
          <a:xfrm>
            <a:off x="164592" y="2432304"/>
            <a:ext cx="6355080" cy="256032"/>
          </a:xfrm>
          <a:prstGeom prst="rect">
            <a:avLst/>
          </a:prstGeom>
          <a:solidFill>
            <a:srgbClr val="0070C0"/>
          </a:solidFill>
          <a:ln w="12700">
            <a:solidFill>
              <a:srgbClr val="0070C0"/>
            </a:solidFill>
            <a:prstDash val="solid"/>
          </a:ln>
        </p:spPr>
        <p:txBody>
          <a:bodyPr/>
          <a:lstStyle/>
          <a:p>
            <a:endParaRPr/>
          </a:p>
        </p:txBody>
      </p:sp>
      <p:sp>
        <p:nvSpPr>
          <p:cNvPr id="30" name="Text 24">
            <a:extLst>
              <a:ext uri="{FF2B5EF4-FFF2-40B4-BE49-F238E27FC236}">
                <a16:creationId xmlns:a16="http://schemas.microsoft.com/office/drawing/2014/main" id="{DA4DF424-EAD9-4DE9-8854-DF504093000D}"/>
              </a:ext>
            </a:extLst>
          </p:cNvPr>
          <p:cNvSpPr>
            <a:spLocks noGrp="1"/>
          </p:cNvSpPr>
          <p:nvPr/>
        </p:nvSpPr>
        <p:spPr>
          <a:xfrm>
            <a:off x="274320" y="2478024"/>
            <a:ext cx="6135624" cy="210312"/>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Release Status / Plans / Segments</a:t>
            </a:r>
            <a:endParaRPr sz="1200"/>
          </a:p>
        </p:txBody>
      </p:sp>
      <p:sp>
        <p:nvSpPr>
          <p:cNvPr id="87" name="Shape 77">
            <a:extLst>
              <a:ext uri="{FF2B5EF4-FFF2-40B4-BE49-F238E27FC236}">
                <a16:creationId xmlns:a16="http://schemas.microsoft.com/office/drawing/2014/main" id="{7F1242B9-6503-4A8E-A4F6-2BDEA700F77D}"/>
              </a:ext>
            </a:extLst>
          </p:cNvPr>
          <p:cNvSpPr>
            <a:spLocks noGrp="1"/>
          </p:cNvSpPr>
          <p:nvPr/>
        </p:nvSpPr>
        <p:spPr>
          <a:xfrm>
            <a:off x="6629400" y="2432304"/>
            <a:ext cx="5404104" cy="2212848"/>
          </a:xfrm>
          <a:prstGeom prst="roundRect">
            <a:avLst>
              <a:gd name="adj" fmla="val 2479"/>
            </a:avLst>
          </a:prstGeom>
          <a:solidFill>
            <a:srgbClr val="FFFFFF"/>
          </a:solidFill>
          <a:ln w="8890">
            <a:solidFill>
              <a:srgbClr val="D4E4F2"/>
            </a:solidFill>
            <a:prstDash val="solid"/>
          </a:ln>
        </p:spPr>
        <p:txBody>
          <a:bodyPr/>
          <a:lstStyle/>
          <a:p>
            <a:endParaRPr/>
          </a:p>
        </p:txBody>
      </p:sp>
      <p:sp>
        <p:nvSpPr>
          <p:cNvPr id="88" name="Shape 78">
            <a:extLst>
              <a:ext uri="{FF2B5EF4-FFF2-40B4-BE49-F238E27FC236}">
                <a16:creationId xmlns:a16="http://schemas.microsoft.com/office/drawing/2014/main" id="{C776BB6B-DF57-4F4C-A5D6-BF4C6B5918A5}"/>
              </a:ext>
            </a:extLst>
          </p:cNvPr>
          <p:cNvSpPr>
            <a:spLocks noGrp="1"/>
          </p:cNvSpPr>
          <p:nvPr/>
        </p:nvSpPr>
        <p:spPr>
          <a:xfrm>
            <a:off x="6629400" y="2432304"/>
            <a:ext cx="5404104" cy="256032"/>
          </a:xfrm>
          <a:prstGeom prst="rect">
            <a:avLst/>
          </a:prstGeom>
          <a:solidFill>
            <a:srgbClr val="0070C0"/>
          </a:solidFill>
          <a:ln w="12700">
            <a:solidFill>
              <a:srgbClr val="0070C0"/>
            </a:solidFill>
            <a:prstDash val="solid"/>
          </a:ln>
        </p:spPr>
        <p:txBody>
          <a:bodyPr/>
          <a:lstStyle/>
          <a:p>
            <a:endParaRPr/>
          </a:p>
        </p:txBody>
      </p:sp>
      <p:sp>
        <p:nvSpPr>
          <p:cNvPr id="89" name="Text 79">
            <a:extLst>
              <a:ext uri="{FF2B5EF4-FFF2-40B4-BE49-F238E27FC236}">
                <a16:creationId xmlns:a16="http://schemas.microsoft.com/office/drawing/2014/main" id="{B8D13EE4-4735-4605-BB5A-43AA437A3998}"/>
              </a:ext>
            </a:extLst>
          </p:cNvPr>
          <p:cNvSpPr>
            <a:spLocks noGrp="1"/>
          </p:cNvSpPr>
          <p:nvPr/>
        </p:nvSpPr>
        <p:spPr>
          <a:xfrm>
            <a:off x="6739128" y="2478024"/>
            <a:ext cx="5184648" cy="210312"/>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Milestones</a:t>
            </a:r>
            <a:endParaRPr sz="1200"/>
          </a:p>
        </p:txBody>
      </p:sp>
      <p:sp>
        <p:nvSpPr>
          <p:cNvPr id="90" name="Shape 80">
            <a:extLst>
              <a:ext uri="{FF2B5EF4-FFF2-40B4-BE49-F238E27FC236}">
                <a16:creationId xmlns:a16="http://schemas.microsoft.com/office/drawing/2014/main" id="{226F4638-712B-40C0-AD47-E0CB729445F6}"/>
              </a:ext>
            </a:extLst>
          </p:cNvPr>
          <p:cNvSpPr>
            <a:spLocks noGrp="1"/>
          </p:cNvSpPr>
          <p:nvPr/>
        </p:nvSpPr>
        <p:spPr>
          <a:xfrm>
            <a:off x="6629400" y="2688336"/>
            <a:ext cx="3246120" cy="210312"/>
          </a:xfrm>
          <a:prstGeom prst="rect">
            <a:avLst/>
          </a:prstGeom>
          <a:solidFill>
            <a:srgbClr val="EEF4FA"/>
          </a:solidFill>
          <a:ln w="6350">
            <a:solidFill>
              <a:srgbClr val="C9D7E7"/>
            </a:solidFill>
            <a:prstDash val="solid"/>
          </a:ln>
        </p:spPr>
        <p:txBody>
          <a:bodyPr/>
          <a:lstStyle/>
          <a:p>
            <a:endParaRPr/>
          </a:p>
        </p:txBody>
      </p:sp>
      <p:sp>
        <p:nvSpPr>
          <p:cNvPr id="91" name="Text 81">
            <a:extLst>
              <a:ext uri="{FF2B5EF4-FFF2-40B4-BE49-F238E27FC236}">
                <a16:creationId xmlns:a16="http://schemas.microsoft.com/office/drawing/2014/main" id="{C49EA34D-82F0-4F22-B1B9-66246E7A0092}"/>
              </a:ext>
            </a:extLst>
          </p:cNvPr>
          <p:cNvSpPr>
            <a:spLocks noGrp="1"/>
          </p:cNvSpPr>
          <p:nvPr/>
        </p:nvSpPr>
        <p:spPr>
          <a:xfrm>
            <a:off x="6665976" y="2715768"/>
            <a:ext cx="3172968" cy="164592"/>
          </a:xfrm>
          <a:prstGeom prst="rect">
            <a:avLst/>
          </a:prstGeom>
          <a:noFill/>
        </p:spPr>
        <p:txBody>
          <a:bodyPr wrap="square" lIns="254" tIns="254" rIns="254" bIns="254" anchor="ctr">
            <a:normAutofit/>
          </a:bodyPr>
          <a:lstStyle/>
          <a:p>
            <a:pPr marL="0" indent="0" algn="l">
              <a:buNone/>
            </a:pPr>
            <a:r>
              <a:rPr sz="900" b="1" dirty="0">
                <a:solidFill>
                  <a:srgbClr val="132043"/>
                </a:solidFill>
                <a:latin typeface="Calibri" panose="020F0502020204030204" pitchFamily="34" charset="0"/>
                <a:ea typeface="Calibri" panose="020F0502020204030204" pitchFamily="34" charset="0"/>
                <a:cs typeface="Calibri" panose="020F0502020204030204" pitchFamily="34" charset="0"/>
              </a:rPr>
              <a:t>Key Milestone</a:t>
            </a:r>
            <a:endParaRPr sz="900" dirty="0">
              <a:latin typeface="Calibri" panose="020F0502020204030204" pitchFamily="34" charset="0"/>
              <a:ea typeface="Calibri" panose="020F0502020204030204" pitchFamily="34" charset="0"/>
              <a:cs typeface="Calibri" panose="020F0502020204030204" pitchFamily="34" charset="0"/>
            </a:endParaRPr>
          </a:p>
        </p:txBody>
      </p:sp>
      <p:sp>
        <p:nvSpPr>
          <p:cNvPr id="92" name="Shape 82">
            <a:extLst>
              <a:ext uri="{FF2B5EF4-FFF2-40B4-BE49-F238E27FC236}">
                <a16:creationId xmlns:a16="http://schemas.microsoft.com/office/drawing/2014/main" id="{22383264-C35D-47BF-A109-7423E00F16ED}"/>
              </a:ext>
            </a:extLst>
          </p:cNvPr>
          <p:cNvSpPr>
            <a:spLocks noGrp="1"/>
          </p:cNvSpPr>
          <p:nvPr/>
        </p:nvSpPr>
        <p:spPr>
          <a:xfrm>
            <a:off x="9875520" y="2688336"/>
            <a:ext cx="1033272" cy="210312"/>
          </a:xfrm>
          <a:prstGeom prst="rect">
            <a:avLst/>
          </a:prstGeom>
          <a:solidFill>
            <a:srgbClr val="EEF4FA"/>
          </a:solidFill>
          <a:ln w="6350">
            <a:solidFill>
              <a:srgbClr val="C9D7E7"/>
            </a:solidFill>
            <a:prstDash val="solid"/>
          </a:ln>
        </p:spPr>
        <p:txBody>
          <a:bodyPr/>
          <a:lstStyle/>
          <a:p>
            <a:endParaRPr/>
          </a:p>
        </p:txBody>
      </p:sp>
      <p:sp>
        <p:nvSpPr>
          <p:cNvPr id="93" name="Text 83">
            <a:extLst>
              <a:ext uri="{FF2B5EF4-FFF2-40B4-BE49-F238E27FC236}">
                <a16:creationId xmlns:a16="http://schemas.microsoft.com/office/drawing/2014/main" id="{A1365E12-FE17-435E-9456-58ADABEB32C2}"/>
              </a:ext>
            </a:extLst>
          </p:cNvPr>
          <p:cNvSpPr>
            <a:spLocks noGrp="1"/>
          </p:cNvSpPr>
          <p:nvPr/>
        </p:nvSpPr>
        <p:spPr>
          <a:xfrm>
            <a:off x="9912096" y="2715768"/>
            <a:ext cx="960120" cy="164592"/>
          </a:xfrm>
          <a:prstGeom prst="rect">
            <a:avLst/>
          </a:prstGeom>
          <a:noFill/>
        </p:spPr>
        <p:txBody>
          <a:bodyPr wrap="square" lIns="254" tIns="254" rIns="254" bIns="254" anchor="ctr">
            <a:normAutofit/>
          </a:bodyPr>
          <a:lstStyle/>
          <a:p>
            <a:pPr marL="0" indent="0" algn="ctr">
              <a:buNone/>
            </a:pPr>
            <a:r>
              <a:rPr sz="900" b="1" dirty="0">
                <a:solidFill>
                  <a:srgbClr val="132043"/>
                </a:solidFill>
                <a:latin typeface="Calibri" panose="020F0502020204030204" pitchFamily="34" charset="0"/>
                <a:ea typeface="Calibri" panose="020F0502020204030204" pitchFamily="34" charset="0"/>
                <a:cs typeface="Calibri" panose="020F0502020204030204" pitchFamily="34" charset="0"/>
              </a:rPr>
              <a:t>Date / Status</a:t>
            </a:r>
            <a:endParaRPr sz="900" dirty="0">
              <a:latin typeface="Calibri" panose="020F0502020204030204" pitchFamily="34" charset="0"/>
              <a:ea typeface="Calibri" panose="020F0502020204030204" pitchFamily="34" charset="0"/>
              <a:cs typeface="Calibri" panose="020F0502020204030204" pitchFamily="34" charset="0"/>
            </a:endParaRPr>
          </a:p>
        </p:txBody>
      </p:sp>
      <p:sp>
        <p:nvSpPr>
          <p:cNvPr id="94" name="Shape 84">
            <a:extLst>
              <a:ext uri="{FF2B5EF4-FFF2-40B4-BE49-F238E27FC236}">
                <a16:creationId xmlns:a16="http://schemas.microsoft.com/office/drawing/2014/main" id="{108769AB-C838-4967-9DC4-A3C394EF178D}"/>
              </a:ext>
            </a:extLst>
          </p:cNvPr>
          <p:cNvSpPr>
            <a:spLocks noGrp="1"/>
          </p:cNvSpPr>
          <p:nvPr/>
        </p:nvSpPr>
        <p:spPr>
          <a:xfrm>
            <a:off x="10908792" y="2688336"/>
            <a:ext cx="1124712" cy="210312"/>
          </a:xfrm>
          <a:prstGeom prst="rect">
            <a:avLst/>
          </a:prstGeom>
          <a:solidFill>
            <a:srgbClr val="EEF4FA"/>
          </a:solidFill>
          <a:ln w="6350">
            <a:solidFill>
              <a:srgbClr val="C9D7E7"/>
            </a:solidFill>
            <a:prstDash val="solid"/>
          </a:ln>
        </p:spPr>
        <p:txBody>
          <a:bodyPr/>
          <a:lstStyle/>
          <a:p>
            <a:endParaRPr/>
          </a:p>
        </p:txBody>
      </p:sp>
      <p:sp>
        <p:nvSpPr>
          <p:cNvPr id="95" name="Text 85">
            <a:extLst>
              <a:ext uri="{FF2B5EF4-FFF2-40B4-BE49-F238E27FC236}">
                <a16:creationId xmlns:a16="http://schemas.microsoft.com/office/drawing/2014/main" id="{A5B2EE58-80EE-404D-B693-8124C91D00AE}"/>
              </a:ext>
            </a:extLst>
          </p:cNvPr>
          <p:cNvSpPr>
            <a:spLocks noGrp="1"/>
          </p:cNvSpPr>
          <p:nvPr/>
        </p:nvSpPr>
        <p:spPr>
          <a:xfrm>
            <a:off x="10945368" y="2715768"/>
            <a:ext cx="1051560" cy="164592"/>
          </a:xfrm>
          <a:prstGeom prst="rect">
            <a:avLst/>
          </a:prstGeom>
          <a:noFill/>
        </p:spPr>
        <p:txBody>
          <a:bodyPr wrap="square" lIns="254" tIns="254" rIns="254" bIns="254" anchor="ctr">
            <a:normAutofit/>
          </a:bodyPr>
          <a:lstStyle/>
          <a:p>
            <a:pPr marL="0" indent="0" algn="ctr">
              <a:buNone/>
            </a:pPr>
            <a:endParaRPr sz="590"/>
          </a:p>
        </p:txBody>
      </p:sp>
      <p:sp>
        <p:nvSpPr>
          <p:cNvPr id="96" name="Shape 86">
            <a:extLst>
              <a:ext uri="{FF2B5EF4-FFF2-40B4-BE49-F238E27FC236}">
                <a16:creationId xmlns:a16="http://schemas.microsoft.com/office/drawing/2014/main" id="{A76B04AA-A944-4142-83A9-930C3C78A85B}"/>
              </a:ext>
            </a:extLst>
          </p:cNvPr>
          <p:cNvSpPr>
            <a:spLocks noGrp="1"/>
          </p:cNvSpPr>
          <p:nvPr/>
        </p:nvSpPr>
        <p:spPr>
          <a:xfrm>
            <a:off x="6629400" y="2898648"/>
            <a:ext cx="5404104" cy="1792224"/>
          </a:xfrm>
          <a:prstGeom prst="rect">
            <a:avLst/>
          </a:prstGeom>
          <a:solidFill>
            <a:srgbClr val="FFFFFF"/>
          </a:solidFill>
          <a:ln w="6350">
            <a:solidFill>
              <a:srgbClr val="C9D7E7"/>
            </a:solidFill>
            <a:prstDash val="solid"/>
          </a:ln>
        </p:spPr>
        <p:txBody>
          <a:bodyPr/>
          <a:lstStyle/>
          <a:p>
            <a:endParaRPr sz="900" dirty="0">
              <a:latin typeface="Calibri" panose="020F0502020204030204" pitchFamily="34" charset="0"/>
              <a:ea typeface="Calibri" panose="020F0502020204030204" pitchFamily="34" charset="0"/>
              <a:cs typeface="Calibri" panose="020F0502020204030204" pitchFamily="34" charset="0"/>
            </a:endParaRPr>
          </a:p>
        </p:txBody>
      </p:sp>
      <p:sp>
        <p:nvSpPr>
          <p:cNvPr id="97" name="Text 87">
            <a:extLst>
              <a:ext uri="{FF2B5EF4-FFF2-40B4-BE49-F238E27FC236}">
                <a16:creationId xmlns:a16="http://schemas.microsoft.com/office/drawing/2014/main" id="{5887BD2C-CB3E-4C0E-8634-E09797C12F20}"/>
              </a:ext>
            </a:extLst>
          </p:cNvPr>
          <p:cNvSpPr>
            <a:spLocks noGrp="1"/>
          </p:cNvSpPr>
          <p:nvPr/>
        </p:nvSpPr>
        <p:spPr>
          <a:xfrm>
            <a:off x="6665976" y="2926080"/>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1: MI Pilot, 34 segments</a:t>
            </a:r>
            <a:endParaRPr sz="900" dirty="0">
              <a:latin typeface="Calibri"/>
              <a:ea typeface="Calibri"/>
              <a:cs typeface="Calibri"/>
            </a:endParaRPr>
          </a:p>
        </p:txBody>
      </p:sp>
      <p:sp>
        <p:nvSpPr>
          <p:cNvPr id="98" name="Shape 88">
            <a:extLst>
              <a:ext uri="{FF2B5EF4-FFF2-40B4-BE49-F238E27FC236}">
                <a16:creationId xmlns:a16="http://schemas.microsoft.com/office/drawing/2014/main" id="{515C2794-1F7E-46E0-8122-D526B6057853}"/>
              </a:ext>
            </a:extLst>
          </p:cNvPr>
          <p:cNvSpPr>
            <a:spLocks noGrp="1"/>
          </p:cNvSpPr>
          <p:nvPr/>
        </p:nvSpPr>
        <p:spPr>
          <a:xfrm>
            <a:off x="9875520" y="2898648"/>
            <a:ext cx="1033272" cy="283464"/>
          </a:xfrm>
          <a:prstGeom prst="rect">
            <a:avLst/>
          </a:prstGeom>
          <a:solidFill>
            <a:srgbClr val="FFFFFF"/>
          </a:solidFill>
          <a:ln w="6350">
            <a:solidFill>
              <a:srgbClr val="C9D7E7"/>
            </a:solidFill>
            <a:prstDash val="solid"/>
          </a:ln>
        </p:spPr>
        <p:txBody>
          <a:bodyPr/>
          <a:lstStyle/>
          <a:p>
            <a:endParaRPr/>
          </a:p>
        </p:txBody>
      </p:sp>
      <p:sp>
        <p:nvSpPr>
          <p:cNvPr id="99" name="Text 89">
            <a:extLst>
              <a:ext uri="{FF2B5EF4-FFF2-40B4-BE49-F238E27FC236}">
                <a16:creationId xmlns:a16="http://schemas.microsoft.com/office/drawing/2014/main" id="{13975508-7682-4574-B0FB-E0E86DB1AA51}"/>
              </a:ext>
            </a:extLst>
          </p:cNvPr>
          <p:cNvSpPr>
            <a:spLocks noGrp="1"/>
          </p:cNvSpPr>
          <p:nvPr/>
        </p:nvSpPr>
        <p:spPr>
          <a:xfrm>
            <a:off x="9912096" y="2926080"/>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13 Nov target</a:t>
            </a:r>
            <a:endParaRPr sz="900">
              <a:latin typeface="Calibri"/>
              <a:ea typeface="Calibri"/>
              <a:cs typeface="Calibri"/>
            </a:endParaRPr>
          </a:p>
        </p:txBody>
      </p:sp>
      <p:sp>
        <p:nvSpPr>
          <p:cNvPr id="100" name="Shape 90">
            <a:extLst>
              <a:ext uri="{FF2B5EF4-FFF2-40B4-BE49-F238E27FC236}">
                <a16:creationId xmlns:a16="http://schemas.microsoft.com/office/drawing/2014/main" id="{1AD44C68-3502-455A-AE26-0B1599825F15}"/>
              </a:ext>
            </a:extLst>
          </p:cNvPr>
          <p:cNvSpPr>
            <a:spLocks noGrp="1"/>
          </p:cNvSpPr>
          <p:nvPr/>
        </p:nvSpPr>
        <p:spPr>
          <a:xfrm>
            <a:off x="10908792" y="2898648"/>
            <a:ext cx="1124712" cy="283464"/>
          </a:xfrm>
          <a:prstGeom prst="rect">
            <a:avLst/>
          </a:prstGeom>
          <a:solidFill>
            <a:srgbClr val="FFFFFF"/>
          </a:solidFill>
          <a:ln w="6350">
            <a:solidFill>
              <a:srgbClr val="C9D7E7"/>
            </a:solidFill>
            <a:prstDash val="solid"/>
          </a:ln>
        </p:spPr>
        <p:txBody>
          <a:bodyPr/>
          <a:lstStyle/>
          <a:p>
            <a:endParaRPr/>
          </a:p>
        </p:txBody>
      </p:sp>
      <p:sp>
        <p:nvSpPr>
          <p:cNvPr id="101" name="Text 91">
            <a:extLst>
              <a:ext uri="{FF2B5EF4-FFF2-40B4-BE49-F238E27FC236}">
                <a16:creationId xmlns:a16="http://schemas.microsoft.com/office/drawing/2014/main" id="{D3C40A6E-D5E7-477D-8559-80A8F882C3D2}"/>
              </a:ext>
            </a:extLst>
          </p:cNvPr>
          <p:cNvSpPr>
            <a:spLocks noGrp="1"/>
          </p:cNvSpPr>
          <p:nvPr/>
        </p:nvSpPr>
        <p:spPr>
          <a:xfrm>
            <a:off x="10945368" y="2926080"/>
            <a:ext cx="1051560" cy="237744"/>
          </a:xfrm>
          <a:prstGeom prst="rect">
            <a:avLst/>
          </a:prstGeom>
          <a:noFill/>
        </p:spPr>
        <p:txBody>
          <a:bodyPr wrap="square" lIns="254" tIns="254" rIns="254" bIns="254" anchor="ctr">
            <a:normAutofit/>
          </a:bodyPr>
          <a:lstStyle/>
          <a:p>
            <a:pPr marL="0" indent="0" algn="l">
              <a:buNone/>
            </a:pPr>
            <a:endParaRPr sz="585"/>
          </a:p>
        </p:txBody>
      </p:sp>
      <p:sp>
        <p:nvSpPr>
          <p:cNvPr id="102" name="Shape 92">
            <a:extLst>
              <a:ext uri="{FF2B5EF4-FFF2-40B4-BE49-F238E27FC236}">
                <a16:creationId xmlns:a16="http://schemas.microsoft.com/office/drawing/2014/main" id="{23E3FE54-3CFA-479E-8D4C-C644C3A26568}"/>
              </a:ext>
            </a:extLst>
          </p:cNvPr>
          <p:cNvSpPr>
            <a:spLocks noGrp="1"/>
          </p:cNvSpPr>
          <p:nvPr/>
        </p:nvSpPr>
        <p:spPr>
          <a:xfrm>
            <a:off x="10991088" y="2948940"/>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03" name="Text 93">
            <a:extLst>
              <a:ext uri="{FF2B5EF4-FFF2-40B4-BE49-F238E27FC236}">
                <a16:creationId xmlns:a16="http://schemas.microsoft.com/office/drawing/2014/main" id="{39D93A6E-0939-4204-8A21-2ACC32633DCC}"/>
              </a:ext>
            </a:extLst>
          </p:cNvPr>
          <p:cNvSpPr>
            <a:spLocks noGrp="1"/>
          </p:cNvSpPr>
          <p:nvPr/>
        </p:nvSpPr>
        <p:spPr>
          <a:xfrm>
            <a:off x="10991088" y="2971800"/>
            <a:ext cx="896112" cy="146304"/>
          </a:xfrm>
          <a:prstGeom prst="rect">
            <a:avLst/>
          </a:prstGeom>
          <a:noFill/>
        </p:spPr>
        <p:txBody>
          <a:bodyPr wrap="square" lIns="0" tIns="0" rIns="0" bIns="0" anchor="ctr">
            <a:normAutofit/>
          </a:bodyPr>
          <a:lstStyle/>
          <a:p>
            <a:pPr marL="0" indent="0" algn="ctr">
              <a:buNone/>
            </a:pPr>
            <a:r>
              <a:rPr sz="900" b="1">
                <a:solidFill>
                  <a:srgbClr val="006B3F"/>
                </a:solidFill>
                <a:latin typeface="Calibri"/>
                <a:ea typeface="Calibri"/>
                <a:cs typeface="Calibri"/>
              </a:rPr>
              <a:t>Development</a:t>
            </a:r>
            <a:endParaRPr sz="900">
              <a:latin typeface="Calibri"/>
              <a:ea typeface="Calibri"/>
              <a:cs typeface="Calibri"/>
            </a:endParaRPr>
          </a:p>
        </p:txBody>
      </p:sp>
      <p:sp>
        <p:nvSpPr>
          <p:cNvPr id="104" name="Shape 94">
            <a:extLst>
              <a:ext uri="{FF2B5EF4-FFF2-40B4-BE49-F238E27FC236}">
                <a16:creationId xmlns:a16="http://schemas.microsoft.com/office/drawing/2014/main" id="{404A2F3B-2DB0-42BD-9226-72D88613FE25}"/>
              </a:ext>
            </a:extLst>
          </p:cNvPr>
          <p:cNvSpPr>
            <a:spLocks noGrp="1"/>
          </p:cNvSpPr>
          <p:nvPr/>
        </p:nvSpPr>
        <p:spPr>
          <a:xfrm>
            <a:off x="6629400" y="3182112"/>
            <a:ext cx="3246120" cy="283464"/>
          </a:xfrm>
          <a:prstGeom prst="rect">
            <a:avLst/>
          </a:prstGeom>
          <a:solidFill>
            <a:srgbClr val="FFFFFF"/>
          </a:solidFill>
          <a:ln w="6350">
            <a:solidFill>
              <a:srgbClr val="C9D7E7"/>
            </a:solidFill>
            <a:prstDash val="solid"/>
          </a:ln>
        </p:spPr>
        <p:txBody>
          <a:bodyPr/>
          <a:lstStyle/>
          <a:p>
            <a:endParaRPr/>
          </a:p>
        </p:txBody>
      </p:sp>
      <p:sp>
        <p:nvSpPr>
          <p:cNvPr id="105" name="Text 95">
            <a:extLst>
              <a:ext uri="{FF2B5EF4-FFF2-40B4-BE49-F238E27FC236}">
                <a16:creationId xmlns:a16="http://schemas.microsoft.com/office/drawing/2014/main" id="{A4E74717-A544-4828-805E-D3B1F194C3E3}"/>
              </a:ext>
            </a:extLst>
          </p:cNvPr>
          <p:cNvSpPr>
            <a:spLocks noGrp="1"/>
          </p:cNvSpPr>
          <p:nvPr/>
        </p:nvSpPr>
        <p:spPr>
          <a:xfrm>
            <a:off x="6665976" y="3209544"/>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2: MI / ABH IL / IL DUAL / VA, 30 segments</a:t>
            </a:r>
            <a:endParaRPr sz="900" dirty="0">
              <a:latin typeface="Calibri"/>
              <a:ea typeface="Calibri"/>
              <a:cs typeface="Calibri"/>
            </a:endParaRPr>
          </a:p>
        </p:txBody>
      </p:sp>
      <p:sp>
        <p:nvSpPr>
          <p:cNvPr id="106" name="Shape 96">
            <a:extLst>
              <a:ext uri="{FF2B5EF4-FFF2-40B4-BE49-F238E27FC236}">
                <a16:creationId xmlns:a16="http://schemas.microsoft.com/office/drawing/2014/main" id="{5EBC5327-2465-4A2B-8DC4-7F70EC2F4888}"/>
              </a:ext>
            </a:extLst>
          </p:cNvPr>
          <p:cNvSpPr>
            <a:spLocks noGrp="1"/>
          </p:cNvSpPr>
          <p:nvPr/>
        </p:nvSpPr>
        <p:spPr>
          <a:xfrm>
            <a:off x="9875520" y="3182112"/>
            <a:ext cx="1033272" cy="283464"/>
          </a:xfrm>
          <a:prstGeom prst="rect">
            <a:avLst/>
          </a:prstGeom>
          <a:solidFill>
            <a:srgbClr val="FFFFFF"/>
          </a:solidFill>
          <a:ln w="6350">
            <a:solidFill>
              <a:srgbClr val="C9D7E7"/>
            </a:solidFill>
            <a:prstDash val="solid"/>
          </a:ln>
        </p:spPr>
        <p:txBody>
          <a:bodyPr/>
          <a:lstStyle/>
          <a:p>
            <a:endParaRPr/>
          </a:p>
        </p:txBody>
      </p:sp>
      <p:sp>
        <p:nvSpPr>
          <p:cNvPr id="107" name="Text 97">
            <a:extLst>
              <a:ext uri="{FF2B5EF4-FFF2-40B4-BE49-F238E27FC236}">
                <a16:creationId xmlns:a16="http://schemas.microsoft.com/office/drawing/2014/main" id="{4776585A-8029-469F-A578-49C7B3729B7D}"/>
              </a:ext>
            </a:extLst>
          </p:cNvPr>
          <p:cNvSpPr>
            <a:spLocks noGrp="1"/>
          </p:cNvSpPr>
          <p:nvPr/>
        </p:nvSpPr>
        <p:spPr>
          <a:xfrm>
            <a:off x="9912096" y="3209544"/>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Completed</a:t>
            </a:r>
            <a:endParaRPr sz="900">
              <a:latin typeface="Calibri"/>
              <a:ea typeface="Calibri"/>
              <a:cs typeface="Calibri"/>
            </a:endParaRPr>
          </a:p>
        </p:txBody>
      </p:sp>
      <p:sp>
        <p:nvSpPr>
          <p:cNvPr id="108" name="Shape 98">
            <a:extLst>
              <a:ext uri="{FF2B5EF4-FFF2-40B4-BE49-F238E27FC236}">
                <a16:creationId xmlns:a16="http://schemas.microsoft.com/office/drawing/2014/main" id="{EA9217E1-C07E-4FF2-838F-F5C5FBDD4FE7}"/>
              </a:ext>
            </a:extLst>
          </p:cNvPr>
          <p:cNvSpPr>
            <a:spLocks noGrp="1"/>
          </p:cNvSpPr>
          <p:nvPr/>
        </p:nvSpPr>
        <p:spPr>
          <a:xfrm>
            <a:off x="10908792" y="3182112"/>
            <a:ext cx="1124712" cy="283464"/>
          </a:xfrm>
          <a:prstGeom prst="rect">
            <a:avLst/>
          </a:prstGeom>
          <a:solidFill>
            <a:srgbClr val="FFFFFF"/>
          </a:solidFill>
          <a:ln w="6350">
            <a:solidFill>
              <a:srgbClr val="C9D7E7"/>
            </a:solidFill>
            <a:prstDash val="solid"/>
          </a:ln>
        </p:spPr>
        <p:txBody>
          <a:bodyPr/>
          <a:lstStyle/>
          <a:p>
            <a:endParaRPr/>
          </a:p>
        </p:txBody>
      </p:sp>
      <p:sp>
        <p:nvSpPr>
          <p:cNvPr id="109" name="Text 99">
            <a:extLst>
              <a:ext uri="{FF2B5EF4-FFF2-40B4-BE49-F238E27FC236}">
                <a16:creationId xmlns:a16="http://schemas.microsoft.com/office/drawing/2014/main" id="{73D32BEF-EF16-49EF-916F-29097618951E}"/>
              </a:ext>
            </a:extLst>
          </p:cNvPr>
          <p:cNvSpPr>
            <a:spLocks noGrp="1"/>
          </p:cNvSpPr>
          <p:nvPr/>
        </p:nvSpPr>
        <p:spPr>
          <a:xfrm>
            <a:off x="10945368" y="3209544"/>
            <a:ext cx="1051560" cy="237744"/>
          </a:xfrm>
          <a:prstGeom prst="rect">
            <a:avLst/>
          </a:prstGeom>
          <a:noFill/>
        </p:spPr>
        <p:txBody>
          <a:bodyPr wrap="square" lIns="254" tIns="254" rIns="254" bIns="254" anchor="ctr">
            <a:normAutofit/>
          </a:bodyPr>
          <a:lstStyle/>
          <a:p>
            <a:pPr marL="0" indent="0" algn="l">
              <a:buNone/>
            </a:pPr>
            <a:endParaRPr sz="585"/>
          </a:p>
        </p:txBody>
      </p:sp>
      <p:sp>
        <p:nvSpPr>
          <p:cNvPr id="110" name="Shape 100">
            <a:extLst>
              <a:ext uri="{FF2B5EF4-FFF2-40B4-BE49-F238E27FC236}">
                <a16:creationId xmlns:a16="http://schemas.microsoft.com/office/drawing/2014/main" id="{9FC2147B-C471-4B53-A8B7-6320EE307D30}"/>
              </a:ext>
            </a:extLst>
          </p:cNvPr>
          <p:cNvSpPr>
            <a:spLocks noGrp="1"/>
          </p:cNvSpPr>
          <p:nvPr/>
        </p:nvSpPr>
        <p:spPr>
          <a:xfrm>
            <a:off x="10991088" y="3232404"/>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11" name="Text 101">
            <a:extLst>
              <a:ext uri="{FF2B5EF4-FFF2-40B4-BE49-F238E27FC236}">
                <a16:creationId xmlns:a16="http://schemas.microsoft.com/office/drawing/2014/main" id="{E578C8DC-5558-4DBA-8F08-5E711ED588B0}"/>
              </a:ext>
            </a:extLst>
          </p:cNvPr>
          <p:cNvSpPr>
            <a:spLocks noGrp="1"/>
          </p:cNvSpPr>
          <p:nvPr/>
        </p:nvSpPr>
        <p:spPr>
          <a:xfrm>
            <a:off x="10991088" y="3255264"/>
            <a:ext cx="896112" cy="146304"/>
          </a:xfrm>
          <a:prstGeom prst="rect">
            <a:avLst/>
          </a:prstGeom>
          <a:noFill/>
        </p:spPr>
        <p:txBody>
          <a:bodyPr wrap="square" lIns="0" tIns="0" rIns="0" bIns="0" anchor="ctr">
            <a:normAutofit/>
          </a:bodyPr>
          <a:lstStyle/>
          <a:p>
            <a:pPr marL="0" indent="0" algn="ctr">
              <a:buNone/>
            </a:pPr>
            <a:r>
              <a:rPr sz="900" b="1">
                <a:solidFill>
                  <a:srgbClr val="006B3F"/>
                </a:solidFill>
                <a:latin typeface="Calibri"/>
                <a:ea typeface="Calibri"/>
                <a:cs typeface="Calibri"/>
              </a:rPr>
              <a:t>Released</a:t>
            </a:r>
            <a:endParaRPr sz="900">
              <a:latin typeface="Calibri"/>
              <a:ea typeface="Calibri"/>
              <a:cs typeface="Calibri"/>
            </a:endParaRPr>
          </a:p>
        </p:txBody>
      </p:sp>
      <p:sp>
        <p:nvSpPr>
          <p:cNvPr id="112" name="Shape 102">
            <a:extLst>
              <a:ext uri="{FF2B5EF4-FFF2-40B4-BE49-F238E27FC236}">
                <a16:creationId xmlns:a16="http://schemas.microsoft.com/office/drawing/2014/main" id="{0490A583-8A37-4012-80BA-67FA435EFEC1}"/>
              </a:ext>
            </a:extLst>
          </p:cNvPr>
          <p:cNvSpPr>
            <a:spLocks noGrp="1"/>
          </p:cNvSpPr>
          <p:nvPr/>
        </p:nvSpPr>
        <p:spPr>
          <a:xfrm>
            <a:off x="6629400" y="3465576"/>
            <a:ext cx="3246120" cy="283464"/>
          </a:xfrm>
          <a:prstGeom prst="rect">
            <a:avLst/>
          </a:prstGeom>
          <a:solidFill>
            <a:srgbClr val="FFFFFF"/>
          </a:solidFill>
          <a:ln w="6350">
            <a:solidFill>
              <a:srgbClr val="C9D7E7"/>
            </a:solidFill>
            <a:prstDash val="solid"/>
          </a:ln>
        </p:spPr>
        <p:txBody>
          <a:bodyPr/>
          <a:lstStyle/>
          <a:p>
            <a:endParaRPr/>
          </a:p>
        </p:txBody>
      </p:sp>
      <p:sp>
        <p:nvSpPr>
          <p:cNvPr id="113" name="Text 103">
            <a:extLst>
              <a:ext uri="{FF2B5EF4-FFF2-40B4-BE49-F238E27FC236}">
                <a16:creationId xmlns:a16="http://schemas.microsoft.com/office/drawing/2014/main" id="{B3F9606E-C7B4-4CF8-99F9-77D8C435E124}"/>
              </a:ext>
            </a:extLst>
          </p:cNvPr>
          <p:cNvSpPr>
            <a:spLocks noGrp="1"/>
          </p:cNvSpPr>
          <p:nvPr/>
        </p:nvSpPr>
        <p:spPr>
          <a:xfrm>
            <a:off x="6665976" y="3493008"/>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3: FL / OK / WV, 13 segments</a:t>
            </a:r>
            <a:endParaRPr sz="900" dirty="0">
              <a:latin typeface="Calibri"/>
              <a:ea typeface="Calibri"/>
              <a:cs typeface="Calibri"/>
            </a:endParaRPr>
          </a:p>
        </p:txBody>
      </p:sp>
      <p:sp>
        <p:nvSpPr>
          <p:cNvPr id="114" name="Shape 104">
            <a:extLst>
              <a:ext uri="{FF2B5EF4-FFF2-40B4-BE49-F238E27FC236}">
                <a16:creationId xmlns:a16="http://schemas.microsoft.com/office/drawing/2014/main" id="{101B5B6A-7D12-4400-B6D4-DDD9F678C2FC}"/>
              </a:ext>
            </a:extLst>
          </p:cNvPr>
          <p:cNvSpPr>
            <a:spLocks noGrp="1"/>
          </p:cNvSpPr>
          <p:nvPr/>
        </p:nvSpPr>
        <p:spPr>
          <a:xfrm>
            <a:off x="9875520" y="3465576"/>
            <a:ext cx="1033272" cy="283464"/>
          </a:xfrm>
          <a:prstGeom prst="rect">
            <a:avLst/>
          </a:prstGeom>
          <a:solidFill>
            <a:srgbClr val="FFFFFF"/>
          </a:solidFill>
          <a:ln w="6350">
            <a:solidFill>
              <a:srgbClr val="C9D7E7"/>
            </a:solidFill>
            <a:prstDash val="solid"/>
          </a:ln>
        </p:spPr>
        <p:txBody>
          <a:bodyPr/>
          <a:lstStyle/>
          <a:p>
            <a:endParaRPr/>
          </a:p>
        </p:txBody>
      </p:sp>
      <p:sp>
        <p:nvSpPr>
          <p:cNvPr id="115" name="Text 105">
            <a:extLst>
              <a:ext uri="{FF2B5EF4-FFF2-40B4-BE49-F238E27FC236}">
                <a16:creationId xmlns:a16="http://schemas.microsoft.com/office/drawing/2014/main" id="{37BC91C0-281E-4F3F-AF3D-3AFDA5E8C6AF}"/>
              </a:ext>
            </a:extLst>
          </p:cNvPr>
          <p:cNvSpPr>
            <a:spLocks noGrp="1"/>
          </p:cNvSpPr>
          <p:nvPr/>
        </p:nvSpPr>
        <p:spPr>
          <a:xfrm>
            <a:off x="9912096" y="3493008"/>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30 Oct / varies</a:t>
            </a:r>
            <a:endParaRPr sz="900">
              <a:latin typeface="Calibri"/>
              <a:ea typeface="Calibri"/>
              <a:cs typeface="Calibri"/>
            </a:endParaRPr>
          </a:p>
        </p:txBody>
      </p:sp>
      <p:sp>
        <p:nvSpPr>
          <p:cNvPr id="116" name="Shape 106">
            <a:extLst>
              <a:ext uri="{FF2B5EF4-FFF2-40B4-BE49-F238E27FC236}">
                <a16:creationId xmlns:a16="http://schemas.microsoft.com/office/drawing/2014/main" id="{4E457C56-7578-4318-98E1-B68DD8A094B8}"/>
              </a:ext>
            </a:extLst>
          </p:cNvPr>
          <p:cNvSpPr>
            <a:spLocks noGrp="1"/>
          </p:cNvSpPr>
          <p:nvPr/>
        </p:nvSpPr>
        <p:spPr>
          <a:xfrm>
            <a:off x="10908792" y="3465576"/>
            <a:ext cx="1124712" cy="283464"/>
          </a:xfrm>
          <a:prstGeom prst="rect">
            <a:avLst/>
          </a:prstGeom>
          <a:solidFill>
            <a:srgbClr val="FFFFFF"/>
          </a:solidFill>
          <a:ln w="6350">
            <a:solidFill>
              <a:srgbClr val="C9D7E7"/>
            </a:solidFill>
            <a:prstDash val="solid"/>
          </a:ln>
        </p:spPr>
        <p:txBody>
          <a:bodyPr/>
          <a:lstStyle/>
          <a:p>
            <a:endParaRPr/>
          </a:p>
        </p:txBody>
      </p:sp>
      <p:sp>
        <p:nvSpPr>
          <p:cNvPr id="117" name="Text 107">
            <a:extLst>
              <a:ext uri="{FF2B5EF4-FFF2-40B4-BE49-F238E27FC236}">
                <a16:creationId xmlns:a16="http://schemas.microsoft.com/office/drawing/2014/main" id="{292C500B-FC39-43EC-8D58-D452B76A0C85}"/>
              </a:ext>
            </a:extLst>
          </p:cNvPr>
          <p:cNvSpPr>
            <a:spLocks noGrp="1"/>
          </p:cNvSpPr>
          <p:nvPr/>
        </p:nvSpPr>
        <p:spPr>
          <a:xfrm>
            <a:off x="10945368" y="3493008"/>
            <a:ext cx="1051560" cy="237744"/>
          </a:xfrm>
          <a:prstGeom prst="rect">
            <a:avLst/>
          </a:prstGeom>
          <a:noFill/>
        </p:spPr>
        <p:txBody>
          <a:bodyPr wrap="square" lIns="254" tIns="254" rIns="254" bIns="254" anchor="ctr">
            <a:normAutofit/>
          </a:bodyPr>
          <a:lstStyle/>
          <a:p>
            <a:pPr marL="0" indent="0" algn="l">
              <a:buNone/>
            </a:pPr>
            <a:endParaRPr sz="585"/>
          </a:p>
        </p:txBody>
      </p:sp>
      <p:sp>
        <p:nvSpPr>
          <p:cNvPr id="118" name="Shape 108">
            <a:extLst>
              <a:ext uri="{FF2B5EF4-FFF2-40B4-BE49-F238E27FC236}">
                <a16:creationId xmlns:a16="http://schemas.microsoft.com/office/drawing/2014/main" id="{5DB7EF2F-34BC-4F7B-A239-E554CF5E9F0C}"/>
              </a:ext>
            </a:extLst>
          </p:cNvPr>
          <p:cNvSpPr>
            <a:spLocks noGrp="1"/>
          </p:cNvSpPr>
          <p:nvPr/>
        </p:nvSpPr>
        <p:spPr>
          <a:xfrm>
            <a:off x="10991088" y="3515868"/>
            <a:ext cx="896112"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119" name="Text 109">
            <a:extLst>
              <a:ext uri="{FF2B5EF4-FFF2-40B4-BE49-F238E27FC236}">
                <a16:creationId xmlns:a16="http://schemas.microsoft.com/office/drawing/2014/main" id="{74758A6D-A745-4F84-95D2-A340C56BEA43}"/>
              </a:ext>
            </a:extLst>
          </p:cNvPr>
          <p:cNvSpPr>
            <a:spLocks noGrp="1"/>
          </p:cNvSpPr>
          <p:nvPr/>
        </p:nvSpPr>
        <p:spPr>
          <a:xfrm>
            <a:off x="10991088" y="3538728"/>
            <a:ext cx="896112" cy="146304"/>
          </a:xfrm>
          <a:prstGeom prst="rect">
            <a:avLst/>
          </a:prstGeom>
          <a:noFill/>
        </p:spPr>
        <p:txBody>
          <a:bodyPr wrap="square" lIns="0" tIns="0" rIns="0" bIns="0" anchor="ctr">
            <a:normAutofit/>
          </a:bodyPr>
          <a:lstStyle/>
          <a:p>
            <a:pPr marL="0" indent="0" algn="ctr">
              <a:buNone/>
            </a:pPr>
            <a:r>
              <a:rPr sz="900" b="1">
                <a:solidFill>
                  <a:srgbClr val="8A5A00"/>
                </a:solidFill>
                <a:latin typeface="Calibri"/>
                <a:ea typeface="Calibri"/>
                <a:cs typeface="Calibri"/>
              </a:rPr>
              <a:t>In Progress</a:t>
            </a:r>
            <a:endParaRPr sz="900">
              <a:latin typeface="Calibri"/>
              <a:ea typeface="Calibri"/>
              <a:cs typeface="Calibri"/>
            </a:endParaRPr>
          </a:p>
        </p:txBody>
      </p:sp>
      <p:sp>
        <p:nvSpPr>
          <p:cNvPr id="120" name="Shape 110">
            <a:extLst>
              <a:ext uri="{FF2B5EF4-FFF2-40B4-BE49-F238E27FC236}">
                <a16:creationId xmlns:a16="http://schemas.microsoft.com/office/drawing/2014/main" id="{B232C4E4-C303-43D8-AD79-2D22551EAB4E}"/>
              </a:ext>
            </a:extLst>
          </p:cNvPr>
          <p:cNvSpPr>
            <a:spLocks noGrp="1"/>
          </p:cNvSpPr>
          <p:nvPr/>
        </p:nvSpPr>
        <p:spPr>
          <a:xfrm>
            <a:off x="6629400" y="3749040"/>
            <a:ext cx="3246120" cy="283464"/>
          </a:xfrm>
          <a:prstGeom prst="rect">
            <a:avLst/>
          </a:prstGeom>
          <a:solidFill>
            <a:srgbClr val="FFFFFF"/>
          </a:solidFill>
          <a:ln w="6350">
            <a:solidFill>
              <a:srgbClr val="C9D7E7"/>
            </a:solidFill>
            <a:prstDash val="solid"/>
          </a:ln>
        </p:spPr>
        <p:txBody>
          <a:bodyPr/>
          <a:lstStyle/>
          <a:p>
            <a:endParaRPr/>
          </a:p>
        </p:txBody>
      </p:sp>
      <p:sp>
        <p:nvSpPr>
          <p:cNvPr id="121" name="Text 111">
            <a:extLst>
              <a:ext uri="{FF2B5EF4-FFF2-40B4-BE49-F238E27FC236}">
                <a16:creationId xmlns:a16="http://schemas.microsoft.com/office/drawing/2014/main" id="{B844C84C-F711-4B08-B73D-63911B393B5D}"/>
              </a:ext>
            </a:extLst>
          </p:cNvPr>
          <p:cNvSpPr>
            <a:spLocks noGrp="1"/>
          </p:cNvSpPr>
          <p:nvPr/>
        </p:nvSpPr>
        <p:spPr>
          <a:xfrm>
            <a:off x="6665976" y="3776472"/>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4: NJ / LA / NY, 10 segments</a:t>
            </a:r>
            <a:endParaRPr sz="900" dirty="0">
              <a:latin typeface="Calibri"/>
              <a:ea typeface="Calibri"/>
              <a:cs typeface="Calibri"/>
            </a:endParaRPr>
          </a:p>
        </p:txBody>
      </p:sp>
      <p:sp>
        <p:nvSpPr>
          <p:cNvPr id="122" name="Shape 112">
            <a:extLst>
              <a:ext uri="{FF2B5EF4-FFF2-40B4-BE49-F238E27FC236}">
                <a16:creationId xmlns:a16="http://schemas.microsoft.com/office/drawing/2014/main" id="{384AC1A5-1219-47CD-920D-D81E2D946D9C}"/>
              </a:ext>
            </a:extLst>
          </p:cNvPr>
          <p:cNvSpPr>
            <a:spLocks noGrp="1"/>
          </p:cNvSpPr>
          <p:nvPr/>
        </p:nvSpPr>
        <p:spPr>
          <a:xfrm>
            <a:off x="9875520" y="3749040"/>
            <a:ext cx="1033272" cy="283464"/>
          </a:xfrm>
          <a:prstGeom prst="rect">
            <a:avLst/>
          </a:prstGeom>
          <a:solidFill>
            <a:srgbClr val="FFFFFF"/>
          </a:solidFill>
          <a:ln w="6350">
            <a:solidFill>
              <a:srgbClr val="C9D7E7"/>
            </a:solidFill>
            <a:prstDash val="solid"/>
          </a:ln>
        </p:spPr>
        <p:txBody>
          <a:bodyPr/>
          <a:lstStyle/>
          <a:p>
            <a:endParaRPr/>
          </a:p>
        </p:txBody>
      </p:sp>
      <p:sp>
        <p:nvSpPr>
          <p:cNvPr id="123" name="Text 113">
            <a:extLst>
              <a:ext uri="{FF2B5EF4-FFF2-40B4-BE49-F238E27FC236}">
                <a16:creationId xmlns:a16="http://schemas.microsoft.com/office/drawing/2014/main" id="{3DC52021-1A2E-4EF8-9988-858AC6E43F5E}"/>
              </a:ext>
            </a:extLst>
          </p:cNvPr>
          <p:cNvSpPr>
            <a:spLocks noGrp="1"/>
          </p:cNvSpPr>
          <p:nvPr/>
        </p:nvSpPr>
        <p:spPr>
          <a:xfrm>
            <a:off x="9912096" y="3776472"/>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Review pending</a:t>
            </a:r>
            <a:endParaRPr sz="900">
              <a:latin typeface="Calibri"/>
              <a:ea typeface="Calibri"/>
              <a:cs typeface="Calibri"/>
            </a:endParaRPr>
          </a:p>
        </p:txBody>
      </p:sp>
      <p:sp>
        <p:nvSpPr>
          <p:cNvPr id="124" name="Shape 114">
            <a:extLst>
              <a:ext uri="{FF2B5EF4-FFF2-40B4-BE49-F238E27FC236}">
                <a16:creationId xmlns:a16="http://schemas.microsoft.com/office/drawing/2014/main" id="{6595B5EB-9F33-4082-B19C-CD741088F9E7}"/>
              </a:ext>
            </a:extLst>
          </p:cNvPr>
          <p:cNvSpPr>
            <a:spLocks noGrp="1"/>
          </p:cNvSpPr>
          <p:nvPr/>
        </p:nvSpPr>
        <p:spPr>
          <a:xfrm>
            <a:off x="10908792" y="3749040"/>
            <a:ext cx="1124712" cy="283464"/>
          </a:xfrm>
          <a:prstGeom prst="rect">
            <a:avLst/>
          </a:prstGeom>
          <a:solidFill>
            <a:srgbClr val="FFFFFF"/>
          </a:solidFill>
          <a:ln w="6350">
            <a:solidFill>
              <a:srgbClr val="C9D7E7"/>
            </a:solidFill>
            <a:prstDash val="solid"/>
          </a:ln>
        </p:spPr>
        <p:txBody>
          <a:bodyPr/>
          <a:lstStyle/>
          <a:p>
            <a:endParaRPr/>
          </a:p>
        </p:txBody>
      </p:sp>
      <p:sp>
        <p:nvSpPr>
          <p:cNvPr id="125" name="Text 115">
            <a:extLst>
              <a:ext uri="{FF2B5EF4-FFF2-40B4-BE49-F238E27FC236}">
                <a16:creationId xmlns:a16="http://schemas.microsoft.com/office/drawing/2014/main" id="{7565BFD7-65A5-4466-B55C-F62FB3E8BACD}"/>
              </a:ext>
            </a:extLst>
          </p:cNvPr>
          <p:cNvSpPr>
            <a:spLocks noGrp="1"/>
          </p:cNvSpPr>
          <p:nvPr/>
        </p:nvSpPr>
        <p:spPr>
          <a:xfrm>
            <a:off x="10945368" y="3776472"/>
            <a:ext cx="1051560" cy="237744"/>
          </a:xfrm>
          <a:prstGeom prst="rect">
            <a:avLst/>
          </a:prstGeom>
          <a:noFill/>
        </p:spPr>
        <p:txBody>
          <a:bodyPr wrap="square" lIns="254" tIns="254" rIns="254" bIns="254" anchor="ctr">
            <a:normAutofit/>
          </a:bodyPr>
          <a:lstStyle/>
          <a:p>
            <a:pPr marL="0" indent="0" algn="l">
              <a:buNone/>
            </a:pPr>
            <a:endParaRPr sz="585"/>
          </a:p>
        </p:txBody>
      </p:sp>
      <p:sp>
        <p:nvSpPr>
          <p:cNvPr id="126" name="Shape 116">
            <a:extLst>
              <a:ext uri="{FF2B5EF4-FFF2-40B4-BE49-F238E27FC236}">
                <a16:creationId xmlns:a16="http://schemas.microsoft.com/office/drawing/2014/main" id="{2EB544F9-4243-437E-9A46-1E04E357BBD7}"/>
              </a:ext>
            </a:extLst>
          </p:cNvPr>
          <p:cNvSpPr>
            <a:spLocks noGrp="1"/>
          </p:cNvSpPr>
          <p:nvPr/>
        </p:nvSpPr>
        <p:spPr>
          <a:xfrm>
            <a:off x="10991088" y="3799332"/>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27" name="Text 117">
            <a:extLst>
              <a:ext uri="{FF2B5EF4-FFF2-40B4-BE49-F238E27FC236}">
                <a16:creationId xmlns:a16="http://schemas.microsoft.com/office/drawing/2014/main" id="{4056236B-BE05-408F-A4E3-FE6A472B02FB}"/>
              </a:ext>
            </a:extLst>
          </p:cNvPr>
          <p:cNvSpPr>
            <a:spLocks noGrp="1"/>
          </p:cNvSpPr>
          <p:nvPr/>
        </p:nvSpPr>
        <p:spPr>
          <a:xfrm>
            <a:off x="10991088" y="3822192"/>
            <a:ext cx="896112" cy="146304"/>
          </a:xfrm>
          <a:prstGeom prst="rect">
            <a:avLst/>
          </a:prstGeom>
          <a:noFill/>
        </p:spPr>
        <p:txBody>
          <a:bodyPr wrap="square" lIns="0" tIns="0" rIns="0" bIns="0" anchor="ctr">
            <a:normAutofit/>
          </a:bodyPr>
          <a:lstStyle/>
          <a:p>
            <a:pPr marL="0" indent="0" algn="ctr">
              <a:buNone/>
            </a:pPr>
            <a:r>
              <a:rPr sz="900" b="1">
                <a:solidFill>
                  <a:srgbClr val="006B3F"/>
                </a:solidFill>
                <a:latin typeface="Calibri"/>
                <a:ea typeface="Calibri"/>
                <a:cs typeface="Calibri"/>
              </a:rPr>
              <a:t>Dev Complete</a:t>
            </a:r>
            <a:endParaRPr sz="900">
              <a:latin typeface="Calibri"/>
              <a:ea typeface="Calibri"/>
              <a:cs typeface="Calibri"/>
            </a:endParaRPr>
          </a:p>
        </p:txBody>
      </p:sp>
      <p:sp>
        <p:nvSpPr>
          <p:cNvPr id="128" name="Shape 118">
            <a:extLst>
              <a:ext uri="{FF2B5EF4-FFF2-40B4-BE49-F238E27FC236}">
                <a16:creationId xmlns:a16="http://schemas.microsoft.com/office/drawing/2014/main" id="{A7208D75-6878-4245-9AF9-3B5A6B1B48B3}"/>
              </a:ext>
            </a:extLst>
          </p:cNvPr>
          <p:cNvSpPr>
            <a:spLocks noGrp="1"/>
          </p:cNvSpPr>
          <p:nvPr/>
        </p:nvSpPr>
        <p:spPr>
          <a:xfrm>
            <a:off x="6629400" y="4032504"/>
            <a:ext cx="3246120" cy="283464"/>
          </a:xfrm>
          <a:prstGeom prst="rect">
            <a:avLst/>
          </a:prstGeom>
          <a:solidFill>
            <a:srgbClr val="FFFFFF"/>
          </a:solidFill>
          <a:ln w="6350">
            <a:solidFill>
              <a:srgbClr val="C9D7E7"/>
            </a:solidFill>
            <a:prstDash val="solid"/>
          </a:ln>
        </p:spPr>
        <p:txBody>
          <a:bodyPr/>
          <a:lstStyle/>
          <a:p>
            <a:endParaRPr/>
          </a:p>
        </p:txBody>
      </p:sp>
      <p:sp>
        <p:nvSpPr>
          <p:cNvPr id="129" name="Text 119">
            <a:extLst>
              <a:ext uri="{FF2B5EF4-FFF2-40B4-BE49-F238E27FC236}">
                <a16:creationId xmlns:a16="http://schemas.microsoft.com/office/drawing/2014/main" id="{DB17E86B-7A70-40A8-A54A-DF9C1418F174}"/>
              </a:ext>
            </a:extLst>
          </p:cNvPr>
          <p:cNvSpPr>
            <a:spLocks noGrp="1"/>
          </p:cNvSpPr>
          <p:nvPr/>
        </p:nvSpPr>
        <p:spPr>
          <a:xfrm>
            <a:off x="6665976" y="4059936"/>
            <a:ext cx="3172968"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Release 5: OHRS / MD, 12 segments</a:t>
            </a:r>
            <a:endParaRPr sz="900">
              <a:latin typeface="Calibri"/>
              <a:ea typeface="Calibri"/>
              <a:cs typeface="Calibri"/>
            </a:endParaRPr>
          </a:p>
        </p:txBody>
      </p:sp>
      <p:sp>
        <p:nvSpPr>
          <p:cNvPr id="130" name="Shape 120">
            <a:extLst>
              <a:ext uri="{FF2B5EF4-FFF2-40B4-BE49-F238E27FC236}">
                <a16:creationId xmlns:a16="http://schemas.microsoft.com/office/drawing/2014/main" id="{81A779E1-CA18-49EE-BDF1-96CFBAE1B9B6}"/>
              </a:ext>
            </a:extLst>
          </p:cNvPr>
          <p:cNvSpPr>
            <a:spLocks noGrp="1"/>
          </p:cNvSpPr>
          <p:nvPr/>
        </p:nvSpPr>
        <p:spPr>
          <a:xfrm>
            <a:off x="9875520" y="4032504"/>
            <a:ext cx="1033272" cy="283464"/>
          </a:xfrm>
          <a:prstGeom prst="rect">
            <a:avLst/>
          </a:prstGeom>
          <a:solidFill>
            <a:srgbClr val="FFFFFF"/>
          </a:solidFill>
          <a:ln w="6350">
            <a:solidFill>
              <a:srgbClr val="C9D7E7"/>
            </a:solidFill>
            <a:prstDash val="solid"/>
          </a:ln>
        </p:spPr>
        <p:txBody>
          <a:bodyPr/>
          <a:lstStyle/>
          <a:p>
            <a:endParaRPr/>
          </a:p>
        </p:txBody>
      </p:sp>
      <p:sp>
        <p:nvSpPr>
          <p:cNvPr id="131" name="Text 121">
            <a:extLst>
              <a:ext uri="{FF2B5EF4-FFF2-40B4-BE49-F238E27FC236}">
                <a16:creationId xmlns:a16="http://schemas.microsoft.com/office/drawing/2014/main" id="{6EDA3778-D069-4DE5-BC01-F96B069983DA}"/>
              </a:ext>
            </a:extLst>
          </p:cNvPr>
          <p:cNvSpPr>
            <a:spLocks noGrp="1"/>
          </p:cNvSpPr>
          <p:nvPr/>
        </p:nvSpPr>
        <p:spPr>
          <a:xfrm>
            <a:off x="9912096" y="4059936"/>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30 Oct target</a:t>
            </a:r>
            <a:endParaRPr sz="900">
              <a:latin typeface="Calibri"/>
              <a:ea typeface="Calibri"/>
              <a:cs typeface="Calibri"/>
            </a:endParaRPr>
          </a:p>
        </p:txBody>
      </p:sp>
      <p:sp>
        <p:nvSpPr>
          <p:cNvPr id="132" name="Shape 122">
            <a:extLst>
              <a:ext uri="{FF2B5EF4-FFF2-40B4-BE49-F238E27FC236}">
                <a16:creationId xmlns:a16="http://schemas.microsoft.com/office/drawing/2014/main" id="{C3CCF1D0-DD0A-4A4C-AD60-09D1CB859745}"/>
              </a:ext>
            </a:extLst>
          </p:cNvPr>
          <p:cNvSpPr>
            <a:spLocks noGrp="1"/>
          </p:cNvSpPr>
          <p:nvPr/>
        </p:nvSpPr>
        <p:spPr>
          <a:xfrm>
            <a:off x="10908792" y="4032504"/>
            <a:ext cx="1124712" cy="283464"/>
          </a:xfrm>
          <a:prstGeom prst="rect">
            <a:avLst/>
          </a:prstGeom>
          <a:solidFill>
            <a:srgbClr val="FFFFFF"/>
          </a:solidFill>
          <a:ln w="6350">
            <a:solidFill>
              <a:srgbClr val="C9D7E7"/>
            </a:solidFill>
            <a:prstDash val="solid"/>
          </a:ln>
        </p:spPr>
        <p:txBody>
          <a:bodyPr/>
          <a:lstStyle/>
          <a:p>
            <a:endParaRPr/>
          </a:p>
        </p:txBody>
      </p:sp>
      <p:sp>
        <p:nvSpPr>
          <p:cNvPr id="133" name="Text 123">
            <a:extLst>
              <a:ext uri="{FF2B5EF4-FFF2-40B4-BE49-F238E27FC236}">
                <a16:creationId xmlns:a16="http://schemas.microsoft.com/office/drawing/2014/main" id="{8A1D5CA5-42D4-4239-B2CF-8240E2E3F560}"/>
              </a:ext>
            </a:extLst>
          </p:cNvPr>
          <p:cNvSpPr>
            <a:spLocks noGrp="1"/>
          </p:cNvSpPr>
          <p:nvPr/>
        </p:nvSpPr>
        <p:spPr>
          <a:xfrm>
            <a:off x="10945368" y="4059936"/>
            <a:ext cx="1051560" cy="237744"/>
          </a:xfrm>
          <a:prstGeom prst="rect">
            <a:avLst/>
          </a:prstGeom>
          <a:noFill/>
        </p:spPr>
        <p:txBody>
          <a:bodyPr wrap="square" lIns="254" tIns="254" rIns="254" bIns="254" anchor="ctr">
            <a:normAutofit/>
          </a:bodyPr>
          <a:lstStyle/>
          <a:p>
            <a:pPr marL="0" indent="0" algn="l">
              <a:buNone/>
            </a:pPr>
            <a:endParaRPr sz="585"/>
          </a:p>
        </p:txBody>
      </p:sp>
      <p:sp>
        <p:nvSpPr>
          <p:cNvPr id="134" name="Shape 124">
            <a:extLst>
              <a:ext uri="{FF2B5EF4-FFF2-40B4-BE49-F238E27FC236}">
                <a16:creationId xmlns:a16="http://schemas.microsoft.com/office/drawing/2014/main" id="{3A79861B-004A-41B2-B417-FC15A5283642}"/>
              </a:ext>
            </a:extLst>
          </p:cNvPr>
          <p:cNvSpPr>
            <a:spLocks noGrp="1"/>
          </p:cNvSpPr>
          <p:nvPr/>
        </p:nvSpPr>
        <p:spPr>
          <a:xfrm>
            <a:off x="10991088" y="4082796"/>
            <a:ext cx="896112"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135" name="Text 125">
            <a:extLst>
              <a:ext uri="{FF2B5EF4-FFF2-40B4-BE49-F238E27FC236}">
                <a16:creationId xmlns:a16="http://schemas.microsoft.com/office/drawing/2014/main" id="{F19EC270-DE07-4FCF-A4F7-ABF76152DC9B}"/>
              </a:ext>
            </a:extLst>
          </p:cNvPr>
          <p:cNvSpPr>
            <a:spLocks noGrp="1"/>
          </p:cNvSpPr>
          <p:nvPr/>
        </p:nvSpPr>
        <p:spPr>
          <a:xfrm>
            <a:off x="10991088" y="4105656"/>
            <a:ext cx="896112" cy="146304"/>
          </a:xfrm>
          <a:prstGeom prst="rect">
            <a:avLst/>
          </a:prstGeom>
          <a:noFill/>
        </p:spPr>
        <p:txBody>
          <a:bodyPr wrap="square" lIns="0" tIns="0" rIns="0" bIns="0" anchor="ctr">
            <a:normAutofit/>
          </a:bodyPr>
          <a:lstStyle/>
          <a:p>
            <a:pPr marL="0" indent="0" algn="ctr">
              <a:buNone/>
            </a:pPr>
            <a:r>
              <a:rPr sz="900" b="1">
                <a:solidFill>
                  <a:srgbClr val="8A5A00"/>
                </a:solidFill>
                <a:latin typeface="Calibri"/>
                <a:ea typeface="Calibri"/>
                <a:cs typeface="Calibri"/>
              </a:rPr>
              <a:t>QA In Progress</a:t>
            </a:r>
            <a:endParaRPr sz="900">
              <a:latin typeface="Calibri"/>
              <a:ea typeface="Calibri"/>
              <a:cs typeface="Calibri"/>
            </a:endParaRPr>
          </a:p>
        </p:txBody>
      </p:sp>
      <p:sp>
        <p:nvSpPr>
          <p:cNvPr id="136" name="Shape 126">
            <a:extLst>
              <a:ext uri="{FF2B5EF4-FFF2-40B4-BE49-F238E27FC236}">
                <a16:creationId xmlns:a16="http://schemas.microsoft.com/office/drawing/2014/main" id="{1EB31358-4AF3-461A-94E0-D8B7DA59DB60}"/>
              </a:ext>
            </a:extLst>
          </p:cNvPr>
          <p:cNvSpPr>
            <a:spLocks noGrp="1"/>
          </p:cNvSpPr>
          <p:nvPr/>
        </p:nvSpPr>
        <p:spPr>
          <a:xfrm>
            <a:off x="6629400" y="4315968"/>
            <a:ext cx="3246120" cy="283464"/>
          </a:xfrm>
          <a:prstGeom prst="rect">
            <a:avLst/>
          </a:prstGeom>
          <a:solidFill>
            <a:srgbClr val="FFFFFF"/>
          </a:solidFill>
          <a:ln w="6350">
            <a:solidFill>
              <a:srgbClr val="C9D7E7"/>
            </a:solidFill>
            <a:prstDash val="solid"/>
          </a:ln>
        </p:spPr>
        <p:txBody>
          <a:bodyPr/>
          <a:lstStyle/>
          <a:p>
            <a:endParaRPr/>
          </a:p>
        </p:txBody>
      </p:sp>
      <p:sp>
        <p:nvSpPr>
          <p:cNvPr id="137" name="Text 127">
            <a:extLst>
              <a:ext uri="{FF2B5EF4-FFF2-40B4-BE49-F238E27FC236}">
                <a16:creationId xmlns:a16="http://schemas.microsoft.com/office/drawing/2014/main" id="{BC97274A-E54E-4EF1-9284-1197226FFA43}"/>
              </a:ext>
            </a:extLst>
          </p:cNvPr>
          <p:cNvSpPr>
            <a:spLocks noGrp="1"/>
          </p:cNvSpPr>
          <p:nvPr/>
        </p:nvSpPr>
        <p:spPr>
          <a:xfrm>
            <a:off x="6665976" y="4343400"/>
            <a:ext cx="3172968"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Total scope across Releases 1–5: 99 segments</a:t>
            </a:r>
            <a:endParaRPr sz="900">
              <a:latin typeface="Calibri"/>
              <a:ea typeface="Calibri"/>
              <a:cs typeface="Calibri"/>
            </a:endParaRPr>
          </a:p>
        </p:txBody>
      </p:sp>
      <p:sp>
        <p:nvSpPr>
          <p:cNvPr id="138" name="Shape 128">
            <a:extLst>
              <a:ext uri="{FF2B5EF4-FFF2-40B4-BE49-F238E27FC236}">
                <a16:creationId xmlns:a16="http://schemas.microsoft.com/office/drawing/2014/main" id="{5C2D2434-3F3B-44AA-9B96-E27438BBAA46}"/>
              </a:ext>
            </a:extLst>
          </p:cNvPr>
          <p:cNvSpPr>
            <a:spLocks noGrp="1"/>
          </p:cNvSpPr>
          <p:nvPr/>
        </p:nvSpPr>
        <p:spPr>
          <a:xfrm>
            <a:off x="9875520" y="4315968"/>
            <a:ext cx="1033272" cy="283464"/>
          </a:xfrm>
          <a:prstGeom prst="rect">
            <a:avLst/>
          </a:prstGeom>
          <a:solidFill>
            <a:srgbClr val="FFFFFF"/>
          </a:solidFill>
          <a:ln w="6350">
            <a:solidFill>
              <a:srgbClr val="C9D7E7"/>
            </a:solidFill>
            <a:prstDash val="solid"/>
          </a:ln>
        </p:spPr>
        <p:txBody>
          <a:bodyPr/>
          <a:lstStyle/>
          <a:p>
            <a:endParaRPr>
              <a:latin typeface="Calibri"/>
              <a:ea typeface="Calibri"/>
              <a:cs typeface="Calibri"/>
            </a:endParaRPr>
          </a:p>
        </p:txBody>
      </p:sp>
      <p:sp>
        <p:nvSpPr>
          <p:cNvPr id="139" name="Text 129">
            <a:extLst>
              <a:ext uri="{FF2B5EF4-FFF2-40B4-BE49-F238E27FC236}">
                <a16:creationId xmlns:a16="http://schemas.microsoft.com/office/drawing/2014/main" id="{DE32A8BF-39E7-4067-9AAF-C8E396A7F02F}"/>
              </a:ext>
            </a:extLst>
          </p:cNvPr>
          <p:cNvSpPr>
            <a:spLocks noGrp="1"/>
          </p:cNvSpPr>
          <p:nvPr/>
        </p:nvSpPr>
        <p:spPr>
          <a:xfrm>
            <a:off x="9912096" y="4343400"/>
            <a:ext cx="960120" cy="237744"/>
          </a:xfrm>
          <a:prstGeom prst="rect">
            <a:avLst/>
          </a:prstGeom>
          <a:noFill/>
        </p:spPr>
        <p:txBody>
          <a:bodyPr wrap="square" lIns="254" tIns="254" rIns="254" bIns="254" anchor="ctr">
            <a:normAutofit/>
          </a:bodyPr>
          <a:lstStyle/>
          <a:p>
            <a:pPr marL="0" indent="0" algn="l">
              <a:buNone/>
            </a:pPr>
            <a:r>
              <a:rPr sz="900">
                <a:solidFill>
                  <a:srgbClr val="132043"/>
                </a:solidFill>
                <a:latin typeface="Calibri"/>
                <a:ea typeface="Calibri"/>
                <a:cs typeface="Calibri"/>
              </a:rPr>
              <a:t>22 Oct status</a:t>
            </a:r>
            <a:endParaRPr sz="900">
              <a:latin typeface="Calibri"/>
              <a:ea typeface="Calibri"/>
              <a:cs typeface="Calibri"/>
            </a:endParaRPr>
          </a:p>
        </p:txBody>
      </p:sp>
      <p:sp>
        <p:nvSpPr>
          <p:cNvPr id="140" name="Shape 130">
            <a:extLst>
              <a:ext uri="{FF2B5EF4-FFF2-40B4-BE49-F238E27FC236}">
                <a16:creationId xmlns:a16="http://schemas.microsoft.com/office/drawing/2014/main" id="{DB6A0475-B44C-4375-A63F-F6B7A26711F9}"/>
              </a:ext>
            </a:extLst>
          </p:cNvPr>
          <p:cNvSpPr>
            <a:spLocks noGrp="1"/>
          </p:cNvSpPr>
          <p:nvPr/>
        </p:nvSpPr>
        <p:spPr>
          <a:xfrm>
            <a:off x="10908792" y="4315968"/>
            <a:ext cx="1124712" cy="283464"/>
          </a:xfrm>
          <a:prstGeom prst="rect">
            <a:avLst/>
          </a:prstGeom>
          <a:solidFill>
            <a:srgbClr val="FFFFFF"/>
          </a:solidFill>
          <a:ln w="6350">
            <a:solidFill>
              <a:srgbClr val="C9D7E7"/>
            </a:solidFill>
            <a:prstDash val="solid"/>
          </a:ln>
        </p:spPr>
        <p:txBody>
          <a:bodyPr/>
          <a:lstStyle/>
          <a:p>
            <a:endParaRPr/>
          </a:p>
        </p:txBody>
      </p:sp>
      <p:sp>
        <p:nvSpPr>
          <p:cNvPr id="141" name="Text 131">
            <a:extLst>
              <a:ext uri="{FF2B5EF4-FFF2-40B4-BE49-F238E27FC236}">
                <a16:creationId xmlns:a16="http://schemas.microsoft.com/office/drawing/2014/main" id="{30E16B01-7006-4D03-AFA8-8F02F5F38A72}"/>
              </a:ext>
            </a:extLst>
          </p:cNvPr>
          <p:cNvSpPr>
            <a:spLocks noGrp="1"/>
          </p:cNvSpPr>
          <p:nvPr/>
        </p:nvSpPr>
        <p:spPr>
          <a:xfrm>
            <a:off x="10945368" y="4343400"/>
            <a:ext cx="1051560" cy="237744"/>
          </a:xfrm>
          <a:prstGeom prst="rect">
            <a:avLst/>
          </a:prstGeom>
          <a:noFill/>
        </p:spPr>
        <p:txBody>
          <a:bodyPr wrap="square" lIns="254" tIns="254" rIns="254" bIns="254" anchor="ctr">
            <a:normAutofit/>
          </a:bodyPr>
          <a:lstStyle/>
          <a:p>
            <a:pPr marL="0" indent="0" algn="l">
              <a:buNone/>
            </a:pPr>
            <a:endParaRPr sz="585"/>
          </a:p>
        </p:txBody>
      </p:sp>
      <p:sp>
        <p:nvSpPr>
          <p:cNvPr id="142" name="Shape 132">
            <a:extLst>
              <a:ext uri="{FF2B5EF4-FFF2-40B4-BE49-F238E27FC236}">
                <a16:creationId xmlns:a16="http://schemas.microsoft.com/office/drawing/2014/main" id="{83CFFA80-061A-4BC5-BB38-2A95FB498D1D}"/>
              </a:ext>
            </a:extLst>
          </p:cNvPr>
          <p:cNvSpPr>
            <a:spLocks noGrp="1"/>
          </p:cNvSpPr>
          <p:nvPr/>
        </p:nvSpPr>
        <p:spPr>
          <a:xfrm>
            <a:off x="10991088" y="4366260"/>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43" name="Text 133">
            <a:extLst>
              <a:ext uri="{FF2B5EF4-FFF2-40B4-BE49-F238E27FC236}">
                <a16:creationId xmlns:a16="http://schemas.microsoft.com/office/drawing/2014/main" id="{091AD8A4-C8FE-41EF-8603-ED4F07B25018}"/>
              </a:ext>
            </a:extLst>
          </p:cNvPr>
          <p:cNvSpPr>
            <a:spLocks noGrp="1"/>
          </p:cNvSpPr>
          <p:nvPr/>
        </p:nvSpPr>
        <p:spPr>
          <a:xfrm>
            <a:off x="10991088" y="4389120"/>
            <a:ext cx="896112" cy="146304"/>
          </a:xfrm>
          <a:prstGeom prst="rect">
            <a:avLst/>
          </a:prstGeom>
          <a:noFill/>
        </p:spPr>
        <p:txBody>
          <a:bodyPr wrap="square" lIns="0" tIns="0" rIns="0" bIns="0" anchor="ctr">
            <a:normAutofit/>
          </a:bodyPr>
          <a:lstStyle/>
          <a:p>
            <a:pPr marL="0" indent="0" algn="ctr">
              <a:buNone/>
            </a:pPr>
            <a:r>
              <a:rPr sz="900" b="1">
                <a:solidFill>
                  <a:srgbClr val="006B3F"/>
                </a:solidFill>
                <a:latin typeface="Calibri"/>
                <a:ea typeface="Calibri"/>
                <a:cs typeface="Calibri"/>
              </a:rPr>
              <a:t>In Progress</a:t>
            </a:r>
            <a:endParaRPr sz="900">
              <a:latin typeface="Calibri"/>
              <a:ea typeface="Calibri"/>
              <a:cs typeface="Calibri"/>
            </a:endParaRPr>
          </a:p>
        </p:txBody>
      </p:sp>
      <p:sp>
        <p:nvSpPr>
          <p:cNvPr id="144" name="Shape 134">
            <a:extLst>
              <a:ext uri="{FF2B5EF4-FFF2-40B4-BE49-F238E27FC236}">
                <a16:creationId xmlns:a16="http://schemas.microsoft.com/office/drawing/2014/main" id="{5907D950-9FC0-42B3-9C60-7D32577663BE}"/>
              </a:ext>
            </a:extLst>
          </p:cNvPr>
          <p:cNvSpPr>
            <a:spLocks noGrp="1"/>
          </p:cNvSpPr>
          <p:nvPr/>
        </p:nvSpPr>
        <p:spPr>
          <a:xfrm>
            <a:off x="164592" y="4782312"/>
            <a:ext cx="11868912" cy="1572768"/>
          </a:xfrm>
          <a:prstGeom prst="roundRect">
            <a:avLst>
              <a:gd name="adj" fmla="val 3488"/>
            </a:avLst>
          </a:prstGeom>
          <a:solidFill>
            <a:srgbClr val="FFFFFF"/>
          </a:solidFill>
          <a:ln w="8890">
            <a:solidFill>
              <a:srgbClr val="D4E4F2"/>
            </a:solidFill>
            <a:prstDash val="solid"/>
          </a:ln>
        </p:spPr>
        <p:txBody>
          <a:bodyPr/>
          <a:lstStyle/>
          <a:p>
            <a:endParaRPr/>
          </a:p>
        </p:txBody>
      </p:sp>
      <p:sp>
        <p:nvSpPr>
          <p:cNvPr id="145" name="Shape 135">
            <a:extLst>
              <a:ext uri="{FF2B5EF4-FFF2-40B4-BE49-F238E27FC236}">
                <a16:creationId xmlns:a16="http://schemas.microsoft.com/office/drawing/2014/main" id="{E3F1826A-6D98-4129-940F-B756DC766A88}"/>
              </a:ext>
            </a:extLst>
          </p:cNvPr>
          <p:cNvSpPr>
            <a:spLocks noGrp="1"/>
          </p:cNvSpPr>
          <p:nvPr/>
        </p:nvSpPr>
        <p:spPr>
          <a:xfrm>
            <a:off x="164592" y="4782312"/>
            <a:ext cx="11868912" cy="256032"/>
          </a:xfrm>
          <a:prstGeom prst="rect">
            <a:avLst/>
          </a:prstGeom>
          <a:solidFill>
            <a:srgbClr val="0070C0"/>
          </a:solidFill>
          <a:ln w="12700">
            <a:solidFill>
              <a:srgbClr val="0070C0"/>
            </a:solidFill>
            <a:prstDash val="solid"/>
          </a:ln>
        </p:spPr>
        <p:txBody>
          <a:bodyPr/>
          <a:lstStyle/>
          <a:p>
            <a:endParaRPr/>
          </a:p>
        </p:txBody>
      </p:sp>
      <p:sp>
        <p:nvSpPr>
          <p:cNvPr id="146" name="Text 136">
            <a:extLst>
              <a:ext uri="{FF2B5EF4-FFF2-40B4-BE49-F238E27FC236}">
                <a16:creationId xmlns:a16="http://schemas.microsoft.com/office/drawing/2014/main" id="{DCE9B829-23D4-49BF-8340-BA3EB9DA6DA3}"/>
              </a:ext>
            </a:extLst>
          </p:cNvPr>
          <p:cNvSpPr>
            <a:spLocks noGrp="1"/>
          </p:cNvSpPr>
          <p:nvPr/>
        </p:nvSpPr>
        <p:spPr>
          <a:xfrm>
            <a:off x="274320" y="4828032"/>
            <a:ext cx="11649456" cy="210312"/>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Accomplishments / In Progress / Next Steps</a:t>
            </a:r>
            <a:endParaRPr sz="1200"/>
          </a:p>
        </p:txBody>
      </p:sp>
      <p:pic>
        <p:nvPicPr>
          <p:cNvPr id="147" name="Image 8">
            <a:extLst>
              <a:ext uri="{FF2B5EF4-FFF2-40B4-BE49-F238E27FC236}">
                <a16:creationId xmlns:a16="http://schemas.microsoft.com/office/drawing/2014/main" id="{4536B2A9-A017-4FBE-8063-24F0E07E9A9A}"/>
              </a:ext>
            </a:extLst>
          </p:cNvPr>
          <p:cNvPicPr>
            <a:picLocks noChangeAspect="1"/>
          </p:cNvPicPr>
          <p:nvPr/>
        </p:nvPicPr>
        <p:blipFill>
          <a:blip r:embed="rId7"/>
          <a:stretch>
            <a:fillRect/>
          </a:stretch>
        </p:blipFill>
        <p:spPr>
          <a:xfrm>
            <a:off x="347472" y="5111496"/>
            <a:ext cx="292608" cy="292608"/>
          </a:xfrm>
          <a:prstGeom prst="rect">
            <a:avLst/>
          </a:prstGeom>
        </p:spPr>
      </p:pic>
      <p:sp>
        <p:nvSpPr>
          <p:cNvPr id="148" name="Text 137">
            <a:extLst>
              <a:ext uri="{FF2B5EF4-FFF2-40B4-BE49-F238E27FC236}">
                <a16:creationId xmlns:a16="http://schemas.microsoft.com/office/drawing/2014/main" id="{A7A0351C-1325-45B3-B4F8-2DB918E83E33}"/>
              </a:ext>
            </a:extLst>
          </p:cNvPr>
          <p:cNvSpPr>
            <a:spLocks noGrp="1"/>
          </p:cNvSpPr>
          <p:nvPr/>
        </p:nvSpPr>
        <p:spPr>
          <a:xfrm>
            <a:off x="694944" y="5111496"/>
            <a:ext cx="3127248" cy="228600"/>
          </a:xfrm>
          <a:prstGeom prst="rect">
            <a:avLst/>
          </a:prstGeom>
          <a:noFill/>
        </p:spPr>
        <p:txBody>
          <a:bodyPr wrap="square" lIns="0" tIns="0" rIns="0" bIns="0" anchor="ctr">
            <a:normAutofit/>
          </a:bodyPr>
          <a:lstStyle/>
          <a:p>
            <a:pPr marL="0" indent="0" algn="l">
              <a:buNone/>
            </a:pPr>
            <a:r>
              <a:rPr sz="1260" b="1">
                <a:solidFill>
                  <a:srgbClr val="0E7A45"/>
                </a:solidFill>
                <a:latin typeface="Aptos Display"/>
                <a:ea typeface="Aptos Display"/>
                <a:cs typeface="Aptos Display"/>
              </a:rPr>
              <a:t>Accomplishments</a:t>
            </a:r>
            <a:endParaRPr sz="1260"/>
          </a:p>
        </p:txBody>
      </p:sp>
      <p:sp>
        <p:nvSpPr>
          <p:cNvPr id="149" name="Text 138">
            <a:extLst>
              <a:ext uri="{FF2B5EF4-FFF2-40B4-BE49-F238E27FC236}">
                <a16:creationId xmlns:a16="http://schemas.microsoft.com/office/drawing/2014/main" id="{1E98CB7E-FD3E-4A9D-BB51-BF698734D140}"/>
              </a:ext>
            </a:extLst>
          </p:cNvPr>
          <p:cNvSpPr>
            <a:spLocks noGrp="1"/>
          </p:cNvSpPr>
          <p:nvPr/>
        </p:nvSpPr>
        <p:spPr>
          <a:xfrm>
            <a:off x="758952" y="5404104"/>
            <a:ext cx="3154680" cy="713232"/>
          </a:xfrm>
          <a:prstGeom prst="rect">
            <a:avLst/>
          </a:prstGeom>
          <a:noFill/>
        </p:spPr>
        <p:txBody>
          <a:bodyPr wrap="square" lIns="254" tIns="254" rIns="254" bIns="254" anchor="t">
            <a:normAutofit/>
          </a:bodyPr>
          <a:lstStyle/>
          <a:p>
            <a:pPr marL="0" indent="0" algn="l">
              <a:buNone/>
            </a:pPr>
            <a:r>
              <a:rPr sz="900">
                <a:solidFill>
                  <a:srgbClr val="132043"/>
                </a:solidFill>
                <a:latin typeface="Calibri"/>
                <a:ea typeface="Calibri"/>
                <a:cs typeface="Calibri"/>
              </a:rPr>
              <a:t>• R2 Pass: MI 24 segments; ABH IL 1; IL DUAL 2; VA 3.</a:t>
            </a:r>
            <a:endParaRPr sz="900">
              <a:latin typeface="Calibri"/>
              <a:ea typeface="Calibri"/>
              <a:cs typeface="Calibri"/>
            </a:endParaRPr>
          </a:p>
          <a:p>
            <a:pPr marL="0" indent="0" algn="l">
              <a:buNone/>
            </a:pPr>
            <a:r>
              <a:rPr sz="900">
                <a:solidFill>
                  <a:srgbClr val="132043"/>
                </a:solidFill>
                <a:latin typeface="Calibri"/>
                <a:ea typeface="Calibri"/>
                <a:cs typeface="Calibri"/>
              </a:rPr>
              <a:t>• R3 Pass: OK 2 segments.</a:t>
            </a:r>
          </a:p>
          <a:p>
            <a:pPr marL="0" indent="0" algn="l">
              <a:buNone/>
            </a:pPr>
            <a:r>
              <a:rPr sz="900">
                <a:solidFill>
                  <a:srgbClr val="132043"/>
                </a:solidFill>
                <a:latin typeface="Calibri"/>
                <a:ea typeface="Calibri"/>
                <a:cs typeface="Calibri"/>
              </a:rPr>
              <a:t>• Total Pass: 32 segments across these plans.</a:t>
            </a:r>
          </a:p>
        </p:txBody>
      </p:sp>
      <p:sp>
        <p:nvSpPr>
          <p:cNvPr id="150" name="Shape 139">
            <a:extLst>
              <a:ext uri="{FF2B5EF4-FFF2-40B4-BE49-F238E27FC236}">
                <a16:creationId xmlns:a16="http://schemas.microsoft.com/office/drawing/2014/main" id="{B04C2E62-0276-4DF1-AE8B-EBA57F366590}"/>
              </a:ext>
            </a:extLst>
          </p:cNvPr>
          <p:cNvSpPr>
            <a:spLocks noGrp="1"/>
          </p:cNvSpPr>
          <p:nvPr/>
        </p:nvSpPr>
        <p:spPr>
          <a:xfrm>
            <a:off x="3995928" y="5138928"/>
            <a:ext cx="0" cy="914400"/>
          </a:xfrm>
          <a:prstGeom prst="line">
            <a:avLst/>
          </a:prstGeom>
          <a:noFill/>
          <a:ln w="8890">
            <a:solidFill>
              <a:srgbClr val="D5E2EF"/>
            </a:solidFill>
            <a:prstDash val="solid"/>
          </a:ln>
        </p:spPr>
        <p:txBody>
          <a:bodyPr/>
          <a:lstStyle/>
          <a:p>
            <a:endParaRPr/>
          </a:p>
        </p:txBody>
      </p:sp>
      <p:pic>
        <p:nvPicPr>
          <p:cNvPr id="151" name="Image 9">
            <a:extLst>
              <a:ext uri="{FF2B5EF4-FFF2-40B4-BE49-F238E27FC236}">
                <a16:creationId xmlns:a16="http://schemas.microsoft.com/office/drawing/2014/main" id="{556AA8E9-1DD5-49D1-854D-86A607FB700F}"/>
              </a:ext>
            </a:extLst>
          </p:cNvPr>
          <p:cNvPicPr>
            <a:picLocks noChangeAspect="1"/>
          </p:cNvPicPr>
          <p:nvPr/>
        </p:nvPicPr>
        <p:blipFill>
          <a:blip r:embed="rId8"/>
          <a:stretch>
            <a:fillRect/>
          </a:stretch>
        </p:blipFill>
        <p:spPr>
          <a:xfrm>
            <a:off x="4160520" y="5111496"/>
            <a:ext cx="292608" cy="292608"/>
          </a:xfrm>
          <a:prstGeom prst="rect">
            <a:avLst/>
          </a:prstGeom>
        </p:spPr>
      </p:pic>
      <p:sp>
        <p:nvSpPr>
          <p:cNvPr id="152" name="Text 140">
            <a:extLst>
              <a:ext uri="{FF2B5EF4-FFF2-40B4-BE49-F238E27FC236}">
                <a16:creationId xmlns:a16="http://schemas.microsoft.com/office/drawing/2014/main" id="{34ACD5DD-0040-48EB-868A-8468F41D95D8}"/>
              </a:ext>
            </a:extLst>
          </p:cNvPr>
          <p:cNvSpPr>
            <a:spLocks noGrp="1"/>
          </p:cNvSpPr>
          <p:nvPr/>
        </p:nvSpPr>
        <p:spPr>
          <a:xfrm>
            <a:off x="4507992" y="5111496"/>
            <a:ext cx="3035808" cy="228600"/>
          </a:xfrm>
          <a:prstGeom prst="rect">
            <a:avLst/>
          </a:prstGeom>
          <a:noFill/>
        </p:spPr>
        <p:txBody>
          <a:bodyPr wrap="square" lIns="0" tIns="0" rIns="0" bIns="0" anchor="ctr">
            <a:normAutofit/>
          </a:bodyPr>
          <a:lstStyle/>
          <a:p>
            <a:pPr marL="0" indent="0" algn="l">
              <a:buNone/>
            </a:pPr>
            <a:r>
              <a:rPr sz="1260" b="1">
                <a:solidFill>
                  <a:srgbClr val="D28B00"/>
                </a:solidFill>
                <a:latin typeface="Aptos Display"/>
                <a:ea typeface="Aptos Display"/>
                <a:cs typeface="Aptos Display"/>
              </a:rPr>
              <a:t>In Progress</a:t>
            </a:r>
            <a:endParaRPr sz="1260"/>
          </a:p>
        </p:txBody>
      </p:sp>
      <p:sp>
        <p:nvSpPr>
          <p:cNvPr id="153" name="Text 141">
            <a:extLst>
              <a:ext uri="{FF2B5EF4-FFF2-40B4-BE49-F238E27FC236}">
                <a16:creationId xmlns:a16="http://schemas.microsoft.com/office/drawing/2014/main" id="{64D8C0AE-0DE4-4495-98A9-A0DBDF11F6B0}"/>
              </a:ext>
            </a:extLst>
          </p:cNvPr>
          <p:cNvSpPr>
            <a:spLocks noGrp="1"/>
          </p:cNvSpPr>
          <p:nvPr/>
        </p:nvSpPr>
        <p:spPr>
          <a:xfrm>
            <a:off x="4572000" y="5404104"/>
            <a:ext cx="3063240" cy="713232"/>
          </a:xfrm>
          <a:prstGeom prst="rect">
            <a:avLst/>
          </a:prstGeom>
          <a:noFill/>
        </p:spPr>
        <p:txBody>
          <a:bodyPr wrap="square" lIns="254" tIns="254" rIns="254" bIns="254" anchor="t">
            <a:normAutofit fontScale="92579"/>
          </a:bodyPr>
          <a:lstStyle/>
          <a:p>
            <a:pPr marL="0" indent="0" algn="l">
              <a:buNone/>
            </a:pPr>
            <a:r>
              <a:rPr sz="900">
                <a:solidFill>
                  <a:srgbClr val="132043"/>
                </a:solidFill>
                <a:latin typeface="Calibri"/>
                <a:ea typeface="Calibri"/>
                <a:cs typeface="Calibri"/>
              </a:rPr>
              <a:t>• R1 MI Pilot: 34 segments, development in progress.</a:t>
            </a:r>
            <a:endParaRPr sz="900">
              <a:latin typeface="Calibri"/>
              <a:ea typeface="Calibri"/>
              <a:cs typeface="Calibri"/>
            </a:endParaRPr>
          </a:p>
          <a:p>
            <a:pPr marL="0" indent="0" algn="l">
              <a:buNone/>
            </a:pPr>
            <a:r>
              <a:rPr sz="900">
                <a:solidFill>
                  <a:srgbClr val="132043"/>
                </a:solidFill>
                <a:latin typeface="Calibri"/>
                <a:ea typeface="Calibri"/>
                <a:cs typeface="Calibri"/>
              </a:rPr>
              <a:t>• R3 FL / OK / WV: 13 segments, mixed development and review.</a:t>
            </a:r>
          </a:p>
          <a:p>
            <a:pPr marL="0" indent="0" algn="l">
              <a:buNone/>
            </a:pPr>
            <a:r>
              <a:rPr sz="900">
                <a:solidFill>
                  <a:srgbClr val="132043"/>
                </a:solidFill>
                <a:latin typeface="Calibri"/>
                <a:ea typeface="Calibri"/>
                <a:cs typeface="Calibri"/>
              </a:rPr>
              <a:t>• R4 NJ / LA / NY: 10 segments, development complete.</a:t>
            </a:r>
          </a:p>
          <a:p>
            <a:pPr marL="0" indent="0" algn="l">
              <a:buNone/>
            </a:pPr>
            <a:r>
              <a:rPr sz="900">
                <a:solidFill>
                  <a:srgbClr val="132043"/>
                </a:solidFill>
                <a:latin typeface="Calibri"/>
                <a:ea typeface="Calibri"/>
                <a:cs typeface="Calibri"/>
              </a:rPr>
              <a:t>• R5 OHRS / MD: 12 segments, development complete; QA ongoing.</a:t>
            </a:r>
          </a:p>
        </p:txBody>
      </p:sp>
      <p:sp>
        <p:nvSpPr>
          <p:cNvPr id="154" name="Shape 142">
            <a:extLst>
              <a:ext uri="{FF2B5EF4-FFF2-40B4-BE49-F238E27FC236}">
                <a16:creationId xmlns:a16="http://schemas.microsoft.com/office/drawing/2014/main" id="{E10EBB49-19CB-43AE-B15A-1F89D9C4FBB7}"/>
              </a:ext>
            </a:extLst>
          </p:cNvPr>
          <p:cNvSpPr>
            <a:spLocks noGrp="1"/>
          </p:cNvSpPr>
          <p:nvPr/>
        </p:nvSpPr>
        <p:spPr>
          <a:xfrm>
            <a:off x="7717536" y="5138928"/>
            <a:ext cx="0" cy="914400"/>
          </a:xfrm>
          <a:prstGeom prst="line">
            <a:avLst/>
          </a:prstGeom>
          <a:noFill/>
          <a:ln w="8890">
            <a:solidFill>
              <a:srgbClr val="D5E2EF"/>
            </a:solidFill>
            <a:prstDash val="solid"/>
          </a:ln>
        </p:spPr>
        <p:txBody>
          <a:bodyPr/>
          <a:lstStyle/>
          <a:p>
            <a:endParaRPr/>
          </a:p>
        </p:txBody>
      </p:sp>
      <p:pic>
        <p:nvPicPr>
          <p:cNvPr id="155" name="Image 10">
            <a:extLst>
              <a:ext uri="{FF2B5EF4-FFF2-40B4-BE49-F238E27FC236}">
                <a16:creationId xmlns:a16="http://schemas.microsoft.com/office/drawing/2014/main" id="{488E5E2A-9621-4A09-881B-D922142A824C}"/>
              </a:ext>
            </a:extLst>
          </p:cNvPr>
          <p:cNvPicPr>
            <a:picLocks noChangeAspect="1"/>
          </p:cNvPicPr>
          <p:nvPr/>
        </p:nvPicPr>
        <p:blipFill>
          <a:blip r:embed="rId9"/>
          <a:stretch>
            <a:fillRect/>
          </a:stretch>
        </p:blipFill>
        <p:spPr>
          <a:xfrm>
            <a:off x="7882128" y="5111496"/>
            <a:ext cx="292608" cy="292608"/>
          </a:xfrm>
          <a:prstGeom prst="rect">
            <a:avLst/>
          </a:prstGeom>
        </p:spPr>
      </p:pic>
      <p:sp>
        <p:nvSpPr>
          <p:cNvPr id="156" name="Text 143">
            <a:extLst>
              <a:ext uri="{FF2B5EF4-FFF2-40B4-BE49-F238E27FC236}">
                <a16:creationId xmlns:a16="http://schemas.microsoft.com/office/drawing/2014/main" id="{1799CC73-123F-41CE-9D83-2168BA8CD8C2}"/>
              </a:ext>
            </a:extLst>
          </p:cNvPr>
          <p:cNvSpPr>
            <a:spLocks noGrp="1"/>
          </p:cNvSpPr>
          <p:nvPr/>
        </p:nvSpPr>
        <p:spPr>
          <a:xfrm>
            <a:off x="8229600" y="5111496"/>
            <a:ext cx="3401568" cy="228600"/>
          </a:xfrm>
          <a:prstGeom prst="rect">
            <a:avLst/>
          </a:prstGeom>
          <a:noFill/>
        </p:spPr>
        <p:txBody>
          <a:bodyPr wrap="square" lIns="0" tIns="0" rIns="0" bIns="0" anchor="ctr">
            <a:normAutofit/>
          </a:bodyPr>
          <a:lstStyle/>
          <a:p>
            <a:pPr marL="0" indent="0" algn="l">
              <a:buNone/>
            </a:pPr>
            <a:r>
              <a:rPr sz="1260" b="1">
                <a:solidFill>
                  <a:srgbClr val="0068B7"/>
                </a:solidFill>
                <a:latin typeface="Aptos Display"/>
                <a:ea typeface="Aptos Display"/>
                <a:cs typeface="Aptos Display"/>
              </a:rPr>
              <a:t>Next Steps</a:t>
            </a:r>
            <a:endParaRPr sz="1260"/>
          </a:p>
        </p:txBody>
      </p:sp>
      <p:sp>
        <p:nvSpPr>
          <p:cNvPr id="157" name="Text 144">
            <a:extLst>
              <a:ext uri="{FF2B5EF4-FFF2-40B4-BE49-F238E27FC236}">
                <a16:creationId xmlns:a16="http://schemas.microsoft.com/office/drawing/2014/main" id="{11E18AEA-054D-4D48-A2BB-C4B049981CFC}"/>
              </a:ext>
            </a:extLst>
          </p:cNvPr>
          <p:cNvSpPr>
            <a:spLocks noGrp="1"/>
          </p:cNvSpPr>
          <p:nvPr/>
        </p:nvSpPr>
        <p:spPr>
          <a:xfrm>
            <a:off x="8293608" y="5404104"/>
            <a:ext cx="3429000" cy="713232"/>
          </a:xfrm>
          <a:prstGeom prst="rect">
            <a:avLst/>
          </a:prstGeom>
          <a:noFill/>
        </p:spPr>
        <p:txBody>
          <a:bodyPr wrap="square" lIns="254" tIns="254" rIns="254" bIns="254" anchor="t">
            <a:normAutofit/>
          </a:bodyPr>
          <a:lstStyle/>
          <a:p>
            <a:pPr marL="0" indent="0" algn="l">
              <a:buNone/>
            </a:pPr>
            <a:r>
              <a:rPr sz="900">
                <a:solidFill>
                  <a:srgbClr val="132043"/>
                </a:solidFill>
                <a:latin typeface="Calibri"/>
                <a:ea typeface="Calibri"/>
                <a:cs typeface="Calibri"/>
              </a:rPr>
              <a:t>• Close pending business reviews and confirm QNXT load.</a:t>
            </a:r>
            <a:endParaRPr sz="900">
              <a:latin typeface="Calibri"/>
              <a:ea typeface="Calibri"/>
              <a:cs typeface="Calibri"/>
            </a:endParaRPr>
          </a:p>
          <a:p>
            <a:pPr marL="0" indent="0" algn="l">
              <a:buNone/>
            </a:pPr>
            <a:r>
              <a:rPr sz="900">
                <a:solidFill>
                  <a:srgbClr val="132043"/>
                </a:solidFill>
                <a:latin typeface="Calibri"/>
                <a:ea typeface="Calibri"/>
                <a:cs typeface="Calibri"/>
              </a:rPr>
              <a:t>• Complete WV development and Release 5 testing.</a:t>
            </a:r>
          </a:p>
          <a:p>
            <a:pPr marL="0" indent="0" algn="l">
              <a:buNone/>
            </a:pPr>
            <a:r>
              <a:rPr sz="900">
                <a:solidFill>
                  <a:srgbClr val="132043"/>
                </a:solidFill>
                <a:latin typeface="Calibri"/>
                <a:ea typeface="Calibri"/>
                <a:cs typeface="Calibri"/>
              </a:rPr>
              <a:t>• Resolve missing or outdated QA files.</a:t>
            </a:r>
          </a:p>
          <a:p>
            <a:pPr marL="0" indent="0" algn="l">
              <a:buNone/>
            </a:pPr>
            <a:r>
              <a:rPr sz="900">
                <a:solidFill>
                  <a:srgbClr val="132043"/>
                </a:solidFill>
                <a:latin typeface="Calibri"/>
                <a:ea typeface="Calibri"/>
                <a:cs typeface="Calibri"/>
              </a:rPr>
              <a:t>• Track 30 Oct and 13 Nov deployment targets.</a:t>
            </a:r>
          </a:p>
        </p:txBody>
      </p:sp>
      <p:sp>
        <p:nvSpPr>
          <p:cNvPr id="158" name="Shape 145">
            <a:extLst>
              <a:ext uri="{FF2B5EF4-FFF2-40B4-BE49-F238E27FC236}">
                <a16:creationId xmlns:a16="http://schemas.microsoft.com/office/drawing/2014/main" id="{34800C3A-B40D-4354-B142-94412F4B1AEC}"/>
              </a:ext>
            </a:extLst>
          </p:cNvPr>
          <p:cNvSpPr>
            <a:spLocks noGrp="1"/>
          </p:cNvSpPr>
          <p:nvPr/>
        </p:nvSpPr>
        <p:spPr>
          <a:xfrm>
            <a:off x="164592" y="6428232"/>
            <a:ext cx="11868912" cy="0"/>
          </a:xfrm>
          <a:prstGeom prst="line">
            <a:avLst/>
          </a:prstGeom>
          <a:noFill/>
          <a:ln w="8890">
            <a:solidFill>
              <a:srgbClr val="E2EAF3"/>
            </a:solidFill>
            <a:prstDash val="solid"/>
          </a:ln>
        </p:spPr>
        <p:txBody>
          <a:bodyPr/>
          <a:lstStyle/>
          <a:p>
            <a:endParaRPr/>
          </a:p>
        </p:txBody>
      </p:sp>
      <p:pic>
        <p:nvPicPr>
          <p:cNvPr id="159" name="Image 11">
            <a:extLst>
              <a:ext uri="{FF2B5EF4-FFF2-40B4-BE49-F238E27FC236}">
                <a16:creationId xmlns:a16="http://schemas.microsoft.com/office/drawing/2014/main" id="{4D9233A3-8D89-4EF8-9215-3A5DAB0A5375}"/>
              </a:ext>
            </a:extLst>
          </p:cNvPr>
          <p:cNvPicPr>
            <a:picLocks noChangeAspect="1"/>
          </p:cNvPicPr>
          <p:nvPr/>
        </p:nvPicPr>
        <p:blipFill>
          <a:blip r:embed="rId10"/>
          <a:stretch>
            <a:fillRect/>
          </a:stretch>
        </p:blipFill>
        <p:spPr>
          <a:xfrm>
            <a:off x="210312" y="6400800"/>
            <a:ext cx="256032" cy="256032"/>
          </a:xfrm>
          <a:prstGeom prst="rect">
            <a:avLst/>
          </a:prstGeom>
        </p:spPr>
      </p:pic>
      <p:sp>
        <p:nvSpPr>
          <p:cNvPr id="160" name="Text 146">
            <a:extLst>
              <a:ext uri="{FF2B5EF4-FFF2-40B4-BE49-F238E27FC236}">
                <a16:creationId xmlns:a16="http://schemas.microsoft.com/office/drawing/2014/main" id="{41BB8813-F609-4A66-AE50-EFC45DBA4D73}"/>
              </a:ext>
            </a:extLst>
          </p:cNvPr>
          <p:cNvSpPr>
            <a:spLocks noGrp="1"/>
          </p:cNvSpPr>
          <p:nvPr/>
        </p:nvSpPr>
        <p:spPr>
          <a:xfrm>
            <a:off x="502920" y="6483096"/>
            <a:ext cx="1325880" cy="137160"/>
          </a:xfrm>
          <a:prstGeom prst="rect">
            <a:avLst/>
          </a:prstGeom>
          <a:noFill/>
        </p:spPr>
        <p:txBody>
          <a:bodyPr wrap="square" lIns="0" tIns="0" rIns="0" bIns="0" anchor="ctr">
            <a:normAutofit/>
          </a:bodyPr>
          <a:lstStyle/>
          <a:p>
            <a:pPr marL="0" indent="0" algn="l">
              <a:buNone/>
            </a:pPr>
            <a:r>
              <a:rPr sz="800" b="1">
                <a:solidFill>
                  <a:srgbClr val="5C1DB1"/>
                </a:solidFill>
                <a:latin typeface="Calibri"/>
                <a:ea typeface="Calibri"/>
                <a:cs typeface="Calibri"/>
              </a:rPr>
              <a:t>Status as of 22 Oct 2026:</a:t>
            </a:r>
            <a:endParaRPr sz="800">
              <a:latin typeface="Calibri"/>
              <a:ea typeface="Calibri"/>
              <a:cs typeface="Calibri"/>
            </a:endParaRPr>
          </a:p>
        </p:txBody>
      </p:sp>
      <p:sp>
        <p:nvSpPr>
          <p:cNvPr id="161" name="Text 147">
            <a:extLst>
              <a:ext uri="{FF2B5EF4-FFF2-40B4-BE49-F238E27FC236}">
                <a16:creationId xmlns:a16="http://schemas.microsoft.com/office/drawing/2014/main" id="{99BDDD9A-38F6-4E35-91CB-8A7D8FCF9E65}"/>
              </a:ext>
            </a:extLst>
          </p:cNvPr>
          <p:cNvSpPr>
            <a:spLocks noGrp="1"/>
          </p:cNvSpPr>
          <p:nvPr/>
        </p:nvSpPr>
        <p:spPr>
          <a:xfrm>
            <a:off x="2011680" y="6483096"/>
            <a:ext cx="8138160" cy="137160"/>
          </a:xfrm>
          <a:prstGeom prst="rect">
            <a:avLst/>
          </a:prstGeom>
          <a:noFill/>
        </p:spPr>
        <p:txBody>
          <a:bodyPr wrap="square" lIns="0" tIns="0" rIns="0" bIns="0" anchor="ctr">
            <a:normAutofit/>
          </a:bodyPr>
          <a:lstStyle/>
          <a:p>
            <a:pPr marL="0" indent="0" algn="l">
              <a:buNone/>
            </a:pPr>
            <a:r>
              <a:rPr sz="800">
                <a:solidFill>
                  <a:srgbClr val="132043"/>
                </a:solidFill>
                <a:latin typeface="Calibri"/>
                <a:ea typeface="Calibri"/>
                <a:cs typeface="Calibri"/>
              </a:rPr>
              <a:t>Scope: R1 34 + R2 30 + R3 13 + R4 10 + R5 12 = 99 segments. Pass reflects tracker comments; scope does not imply release.</a:t>
            </a:r>
            <a:endParaRPr sz="800">
              <a:latin typeface="Calibri"/>
              <a:ea typeface="Calibri"/>
              <a:cs typeface="Calibri"/>
            </a:endParaRPr>
          </a:p>
        </p:txBody>
      </p:sp>
      <p:pic>
        <p:nvPicPr>
          <p:cNvPr id="162" name="Image 12">
            <a:extLst>
              <a:ext uri="{FF2B5EF4-FFF2-40B4-BE49-F238E27FC236}">
                <a16:creationId xmlns:a16="http://schemas.microsoft.com/office/drawing/2014/main" id="{D93369BE-3CEB-4694-BDD0-E7E8722A88F0}"/>
              </a:ext>
            </a:extLst>
          </p:cNvPr>
          <p:cNvPicPr>
            <a:picLocks noChangeAspect="1"/>
          </p:cNvPicPr>
          <p:nvPr/>
        </p:nvPicPr>
        <p:blipFill>
          <a:blip r:embed="rId11"/>
          <a:stretch>
            <a:fillRect/>
          </a:stretch>
        </p:blipFill>
        <p:spPr>
          <a:xfrm>
            <a:off x="10497312" y="6409944"/>
            <a:ext cx="1307592" cy="329184"/>
          </a:xfrm>
          <a:prstGeom prst="rect">
            <a:avLst/>
          </a:prstGeom>
        </p:spPr>
      </p:pic>
      <p:graphicFrame>
        <p:nvGraphicFramePr>
          <p:cNvPr id="163" name="Table 162">
            <a:extLst>
              <a:ext uri="{FF2B5EF4-FFF2-40B4-BE49-F238E27FC236}">
                <a16:creationId xmlns:a16="http://schemas.microsoft.com/office/drawing/2014/main" id="{9D0A07FF-5C27-43C8-AEC1-D03E5B9BEF47}"/>
              </a:ext>
            </a:extLst>
          </p:cNvPr>
          <p:cNvGraphicFramePr/>
          <p:nvPr>
            <p:extLst>
              <p:ext uri="{D42A27DB-BD31-4B8C-83A1-F6EECF244321}">
                <p14:modId xmlns:p14="http://schemas.microsoft.com/office/powerpoint/2010/main" val="2316138234"/>
              </p:ext>
            </p:extLst>
          </p:nvPr>
        </p:nvGraphicFramePr>
        <p:xfrm>
          <a:off x="164592" y="2688336"/>
          <a:ext cx="6355080" cy="1950720"/>
        </p:xfrm>
        <a:graphic>
          <a:graphicData uri="http://schemas.openxmlformats.org/drawingml/2006/table">
            <a:tbl>
              <a:tblPr/>
              <a:tblGrid>
                <a:gridCol w="7620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1133475">
                  <a:extLst>
                    <a:ext uri="{9D8B030D-6E8A-4147-A177-3AD203B41FA5}">
                      <a16:colId xmlns:a16="http://schemas.microsoft.com/office/drawing/2014/main" val="20003"/>
                    </a:ext>
                  </a:extLst>
                </a:gridCol>
                <a:gridCol w="2268855">
                  <a:extLst>
                    <a:ext uri="{9D8B030D-6E8A-4147-A177-3AD203B41FA5}">
                      <a16:colId xmlns:a16="http://schemas.microsoft.com/office/drawing/2014/main" val="20004"/>
                    </a:ext>
                  </a:extLst>
                </a:gridCol>
              </a:tblGrid>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a:t>
                      </a:r>
                    </a:p>
                  </a:txBody>
                  <a:tcPr>
                    <a:lnL w="5715">
                      <a:solidFill>
                        <a:srgbClr val="D5E2F1"/>
                      </a:solidFill>
                      <a:prstDash val="solid"/>
                    </a:lnL>
                    <a:lnR w="5715">
                      <a:solidFill>
                        <a:srgbClr val="D5E2F1"/>
                      </a:solidFill>
                      <a:prstDash val="solid"/>
                    </a:lnR>
                    <a:lnT w="5715">
                      <a:solidFill>
                        <a:srgbClr val="D5E2F1"/>
                      </a:solidFill>
                      <a:prstDash val="solid"/>
                    </a:lnT>
                    <a:lnB w="5715">
                      <a:solidFill>
                        <a:srgbClr val="D5E2F1"/>
                      </a:solidFill>
                      <a:prstDash val="solid"/>
                    </a:lnB>
                    <a:solidFill>
                      <a:srgbClr val="EAF1FA"/>
                    </a:solidFill>
                  </a:tcPr>
                </a:tc>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Plans</a:t>
                      </a:r>
                    </a:p>
                  </a:txBody>
                  <a:tcPr>
                    <a:lnL w="5715" cap="flat" cmpd="sng" algn="ctr">
                      <a:solidFill>
                        <a:srgbClr val="D5E2F1"/>
                      </a:solidFill>
                      <a:prstDash val="solid"/>
                      <a:round/>
                      <a:headEnd type="none" w="med" len="med"/>
                      <a:tailEnd type="none" w="med" len="med"/>
                    </a:lnL>
                    <a:lnR w="5715">
                      <a:solidFill>
                        <a:srgbClr val="D5E2F1"/>
                      </a:solidFill>
                      <a:prstDash val="solid"/>
                    </a:lnR>
                    <a:lnT w="5715">
                      <a:solidFill>
                        <a:srgbClr val="D5E2F1"/>
                      </a:solidFill>
                      <a:prstDash val="solid"/>
                    </a:lnT>
                    <a:lnB w="5715">
                      <a:solidFill>
                        <a:srgbClr val="D5E2F1"/>
                      </a:solidFill>
                      <a:prstDash val="solid"/>
                    </a:lnB>
                    <a:solidFill>
                      <a:srgbClr val="EAF1FA"/>
                    </a:solidFill>
                  </a:tcPr>
                </a:tc>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Segments</a:t>
                      </a:r>
                    </a:p>
                  </a:txBody>
                  <a:tcPr>
                    <a:lnL w="5715" cap="flat" cmpd="sng" algn="ctr">
                      <a:solidFill>
                        <a:srgbClr val="D5E2F1"/>
                      </a:solidFill>
                      <a:prstDash val="solid"/>
                      <a:round/>
                      <a:headEnd type="none" w="med" len="med"/>
                      <a:tailEnd type="none" w="med" len="med"/>
                    </a:lnL>
                    <a:lnR w="5715">
                      <a:solidFill>
                        <a:srgbClr val="D5E2F1"/>
                      </a:solidFill>
                      <a:prstDash val="solid"/>
                    </a:lnR>
                    <a:lnT w="5715">
                      <a:solidFill>
                        <a:srgbClr val="D5E2F1"/>
                      </a:solidFill>
                      <a:prstDash val="solid"/>
                    </a:lnT>
                    <a:lnB w="5715">
                      <a:solidFill>
                        <a:srgbClr val="D5E2F1"/>
                      </a:solidFill>
                      <a:prstDash val="solid"/>
                    </a:lnB>
                    <a:solidFill>
                      <a:srgbClr val="EAF1FA"/>
                    </a:solidFill>
                  </a:tcPr>
                </a:tc>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Development</a:t>
                      </a:r>
                    </a:p>
                  </a:txBody>
                  <a:tcPr>
                    <a:lnL w="5715" cap="flat" cmpd="sng" algn="ctr">
                      <a:solidFill>
                        <a:srgbClr val="D5E2F1"/>
                      </a:solidFill>
                      <a:prstDash val="solid"/>
                      <a:round/>
                      <a:headEnd type="none" w="med" len="med"/>
                      <a:tailEnd type="none" w="med" len="med"/>
                    </a:lnL>
                    <a:lnR w="5715">
                      <a:solidFill>
                        <a:srgbClr val="D5E2F1"/>
                      </a:solidFill>
                      <a:prstDash val="solid"/>
                    </a:lnR>
                    <a:lnT w="5715">
                      <a:solidFill>
                        <a:srgbClr val="D5E2F1"/>
                      </a:solidFill>
                      <a:prstDash val="solid"/>
                    </a:lnT>
                    <a:lnB w="5715">
                      <a:solidFill>
                        <a:srgbClr val="D5E2F1"/>
                      </a:solidFill>
                      <a:prstDash val="solid"/>
                    </a:lnB>
                    <a:solidFill>
                      <a:srgbClr val="EAF1FA"/>
                    </a:solidFill>
                  </a:tcPr>
                </a:tc>
                <a:tc>
                  <a:txBody>
                    <a:bodyPr/>
                    <a:lstStyle/>
                    <a:p>
                      <a:r>
                        <a:rPr sz="900" b="1" dirty="0">
                          <a:solidFill>
                            <a:srgbClr val="203C64"/>
                          </a:solidFill>
                          <a:latin typeface="Calibri" panose="020F0502020204030204" pitchFamily="34" charset="0"/>
                          <a:ea typeface="Calibri" panose="020F0502020204030204" pitchFamily="34" charset="0"/>
                          <a:cs typeface="Calibri" panose="020F0502020204030204" pitchFamily="34" charset="0"/>
                        </a:rPr>
                        <a:t>Current status</a:t>
                      </a:r>
                    </a:p>
                  </a:txBody>
                  <a:tcPr>
                    <a:lnL w="5715" cap="flat" cmpd="sng" algn="ctr">
                      <a:solidFill>
                        <a:srgbClr val="D5E2F1"/>
                      </a:solidFill>
                      <a:prstDash val="solid"/>
                      <a:round/>
                      <a:headEnd type="none" w="med" len="med"/>
                      <a:tailEnd type="none" w="med" len="med"/>
                    </a:lnL>
                    <a:lnR w="5715">
                      <a:solidFill>
                        <a:srgbClr val="D5E2F1"/>
                      </a:solidFill>
                      <a:prstDash val="solid"/>
                    </a:lnR>
                    <a:lnT w="5715">
                      <a:solidFill>
                        <a:srgbClr val="D5E2F1"/>
                      </a:solidFill>
                      <a:prstDash val="solid"/>
                    </a:lnT>
                    <a:lnB w="5715">
                      <a:solidFill>
                        <a:srgbClr val="D5E2F1"/>
                      </a:solidFill>
                      <a:prstDash val="solid"/>
                    </a:lnB>
                    <a:solidFill>
                      <a:srgbClr val="EAF1FA"/>
                    </a:solidFill>
                  </a:tcPr>
                </a:tc>
                <a:extLst>
                  <a:ext uri="{0D108BD9-81ED-4DB2-BD59-A6C34878D82A}">
                    <a16:rowId xmlns:a16="http://schemas.microsoft.com/office/drawing/2014/main" val="10000"/>
                  </a:ext>
                </a:extLst>
              </a:tr>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 1</a:t>
                      </a:r>
                    </a:p>
                  </a:txBody>
                  <a:tcPr>
                    <a:lnL w="5715">
                      <a:solidFill>
                        <a:srgbClr val="D5E2F1"/>
                      </a:solidFill>
                      <a:prstDash val="soli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dirty="0">
                          <a:solidFill>
                            <a:srgbClr val="203C64"/>
                          </a:solidFill>
                          <a:latin typeface="Calibri" panose="020F0502020204030204" pitchFamily="34" charset="0"/>
                          <a:ea typeface="Calibri" panose="020F0502020204030204" pitchFamily="34" charset="0"/>
                          <a:cs typeface="Calibri" panose="020F0502020204030204" pitchFamily="34" charset="0"/>
                        </a:rPr>
                        <a:t>MI Pilot</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34</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In Progress</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13 Nov target</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extLst>
                  <a:ext uri="{0D108BD9-81ED-4DB2-BD59-A6C34878D82A}">
                    <a16:rowId xmlns:a16="http://schemas.microsoft.com/office/drawing/2014/main" val="10001"/>
                  </a:ext>
                </a:extLst>
              </a:tr>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 2</a:t>
                      </a:r>
                    </a:p>
                  </a:txBody>
                  <a:tcPr>
                    <a:lnL w="5715">
                      <a:solidFill>
                        <a:srgbClr val="D5E2F1"/>
                      </a:solidFill>
                      <a:prstDash val="soli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MI, ABH IL,</a:t>
                      </a:r>
                    </a:p>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IL DUAL, VA</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30</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Completed</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Released / Pass</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extLst>
                  <a:ext uri="{0D108BD9-81ED-4DB2-BD59-A6C34878D82A}">
                    <a16:rowId xmlns:a16="http://schemas.microsoft.com/office/drawing/2014/main" val="10002"/>
                  </a:ext>
                </a:extLst>
              </a:tr>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 3</a:t>
                      </a:r>
                    </a:p>
                  </a:txBody>
                  <a:tcPr>
                    <a:lnL w="5715">
                      <a:solidFill>
                        <a:srgbClr val="D5E2F1"/>
                      </a:solidFill>
                      <a:prstDash val="soli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FL, OK, WV</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13</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lang="en-US" sz="900" b="0" dirty="0">
                          <a:solidFill>
                            <a:srgbClr val="203C64"/>
                          </a:solidFill>
                          <a:latin typeface="Calibri" panose="020F0502020204030204" pitchFamily="34" charset="0"/>
                          <a:ea typeface="Calibri" panose="020F0502020204030204" pitchFamily="34" charset="0"/>
                          <a:cs typeface="Calibri" panose="020F0502020204030204" pitchFamily="34" charset="0"/>
                        </a:rPr>
                        <a:t>Completed</a:t>
                      </a:r>
                      <a:endParaRPr sz="900" b="0" dirty="0">
                        <a:solidFill>
                          <a:srgbClr val="203C64"/>
                        </a:solidFill>
                        <a:latin typeface="Calibri" panose="020F0502020204030204" pitchFamily="34" charset="0"/>
                        <a:ea typeface="Calibri" panose="020F0502020204030204" pitchFamily="34" charset="0"/>
                        <a:cs typeface="Calibri" panose="020F0502020204030204" pitchFamily="34" charset="0"/>
                      </a:endParaRP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dirty="0">
                          <a:solidFill>
                            <a:srgbClr val="203C64"/>
                          </a:solidFill>
                          <a:latin typeface="Calibri" panose="020F0502020204030204" pitchFamily="34" charset="0"/>
                          <a:ea typeface="Calibri" panose="020F0502020204030204" pitchFamily="34" charset="0"/>
                          <a:cs typeface="Calibri" panose="020F0502020204030204" pitchFamily="34" charset="0"/>
                        </a:rPr>
                        <a:t>Mixed review / dev</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extLst>
                  <a:ext uri="{0D108BD9-81ED-4DB2-BD59-A6C34878D82A}">
                    <a16:rowId xmlns:a16="http://schemas.microsoft.com/office/drawing/2014/main" val="10003"/>
                  </a:ext>
                </a:extLst>
              </a:tr>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 4</a:t>
                      </a:r>
                    </a:p>
                  </a:txBody>
                  <a:tcPr>
                    <a:lnL w="5715">
                      <a:solidFill>
                        <a:srgbClr val="D5E2F1"/>
                      </a:solidFill>
                      <a:prstDash val="soli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NJ, LA, NY</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10</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Completed</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Business review</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5F9FD"/>
                    </a:solidFill>
                  </a:tcPr>
                </a:tc>
                <a:extLst>
                  <a:ext uri="{0D108BD9-81ED-4DB2-BD59-A6C34878D82A}">
                    <a16:rowId xmlns:a16="http://schemas.microsoft.com/office/drawing/2014/main" val="10004"/>
                  </a:ext>
                </a:extLst>
              </a:tr>
              <a:tr h="316992">
                <a:tc>
                  <a:txBody>
                    <a:bodyPr/>
                    <a:lstStyle/>
                    <a:p>
                      <a:r>
                        <a:rPr sz="900" b="1">
                          <a:solidFill>
                            <a:srgbClr val="203C64"/>
                          </a:solidFill>
                          <a:latin typeface="Calibri" panose="020F0502020204030204" pitchFamily="34" charset="0"/>
                          <a:ea typeface="Calibri" panose="020F0502020204030204" pitchFamily="34" charset="0"/>
                          <a:cs typeface="Calibri" panose="020F0502020204030204" pitchFamily="34" charset="0"/>
                        </a:rPr>
                        <a:t>Release 5</a:t>
                      </a:r>
                    </a:p>
                  </a:txBody>
                  <a:tcPr>
                    <a:lnL w="5715">
                      <a:solidFill>
                        <a:srgbClr val="D5E2F1"/>
                      </a:solidFill>
                      <a:prstDash val="soli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OHRS, MD</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12</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a:solidFill>
                            <a:srgbClr val="203C64"/>
                          </a:solidFill>
                          <a:latin typeface="Calibri" panose="020F0502020204030204" pitchFamily="34" charset="0"/>
                          <a:ea typeface="Calibri" panose="020F0502020204030204" pitchFamily="34" charset="0"/>
                          <a:cs typeface="Calibri" panose="020F0502020204030204" pitchFamily="34" charset="0"/>
                        </a:rPr>
                        <a:t>Completed</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tc>
                  <a:txBody>
                    <a:bodyPr/>
                    <a:lstStyle/>
                    <a:p>
                      <a:r>
                        <a:rPr sz="900" b="0" dirty="0">
                          <a:solidFill>
                            <a:srgbClr val="203C64"/>
                          </a:solidFill>
                          <a:latin typeface="Calibri" panose="020F0502020204030204" pitchFamily="34" charset="0"/>
                          <a:ea typeface="Calibri" panose="020F0502020204030204" pitchFamily="34" charset="0"/>
                          <a:cs typeface="Calibri" panose="020F0502020204030204" pitchFamily="34" charset="0"/>
                        </a:rPr>
                        <a:t>QA In Progress</a:t>
                      </a:r>
                    </a:p>
                  </a:txBody>
                  <a:tcPr>
                    <a:lnL w="5715" cap="flat" cmpd="sng" algn="ctr">
                      <a:solidFill>
                        <a:srgbClr val="D5E2F1"/>
                      </a:solidFill>
                      <a:prstDash val="solid"/>
                      <a:round/>
                      <a:headEnd type="none" w="med" len="med"/>
                      <a:tailEnd type="none" w="med" len="med"/>
                    </a:lnL>
                    <a:lnR w="5715">
                      <a:solidFill>
                        <a:srgbClr val="D5E2F1"/>
                      </a:solidFill>
                      <a:prstDash val="solid"/>
                    </a:lnR>
                    <a:lnT w="5715" cap="flat" cmpd="sng" algn="ctr">
                      <a:solidFill>
                        <a:srgbClr val="D5E2F1"/>
                      </a:solidFill>
                      <a:prstDash val="solid"/>
                      <a:round/>
                      <a:headEnd type="none" w="med" len="med"/>
                      <a:tailEnd type="none" w="med" len="med"/>
                    </a:lnT>
                    <a:lnB w="5715">
                      <a:solidFill>
                        <a:srgbClr val="D5E2F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64" name="Rectangle 163">
            <a:extLst>
              <a:ext uri="{FF2B5EF4-FFF2-40B4-BE49-F238E27FC236}">
                <a16:creationId xmlns:a16="http://schemas.microsoft.com/office/drawing/2014/main" id="{95691D3E-7A41-4C2D-9D67-839C0F4F1978}"/>
              </a:ext>
            </a:extLst>
          </p:cNvPr>
          <p:cNvSpPr>
            <a:spLocks noGrp="1"/>
          </p:cNvSpPr>
          <p:nvPr/>
        </p:nvSpPr>
        <p:spPr>
          <a:xfrm>
            <a:off x="9829800" y="1819275"/>
            <a:ext cx="1476375" cy="219075"/>
          </a:xfrm>
          <a:prstGeom prst="rect">
            <a:avLst/>
          </a:prstGeom>
          <a:noFill/>
          <a:ln w="0">
            <a:noFill/>
            <a:prstDash val="solid"/>
          </a:ln>
        </p:spPr>
        <p:txBody>
          <a:bodyPr lIns="0" tIns="0" rIns="0" bIns="0"/>
          <a:lstStyle>
            <a:defPPr>
              <a:defRPr sz="1350" b="1">
                <a:solidFill>
                  <a:srgbClr val="8554A7"/>
                </a:solidFill>
                <a:latin typeface="Arial"/>
                <a:ea typeface="Arial"/>
                <a:cs typeface="Arial"/>
              </a:defRPr>
            </a:defPPr>
            <a:lvl1pPr>
              <a:defRPr sz="1350" b="1">
                <a:solidFill>
                  <a:srgbClr val="8554A7"/>
                </a:solidFill>
                <a:latin typeface="Arial"/>
                <a:ea typeface="Arial"/>
                <a:cs typeface="Arial"/>
              </a:defRPr>
            </a:lvl1pPr>
            <a:lvl2pPr>
              <a:defRPr sz="1350" b="1">
                <a:solidFill>
                  <a:srgbClr val="8554A7"/>
                </a:solidFill>
                <a:latin typeface="Arial"/>
                <a:ea typeface="Arial"/>
                <a:cs typeface="Arial"/>
              </a:defRPr>
            </a:lvl2pPr>
            <a:lvl3pPr>
              <a:defRPr sz="1350" b="1">
                <a:solidFill>
                  <a:srgbClr val="8554A7"/>
                </a:solidFill>
                <a:latin typeface="Arial"/>
                <a:ea typeface="Arial"/>
                <a:cs typeface="Arial"/>
              </a:defRPr>
            </a:lvl3pPr>
            <a:lvl4pPr>
              <a:defRPr sz="1350" b="1">
                <a:solidFill>
                  <a:srgbClr val="8554A7"/>
                </a:solidFill>
                <a:latin typeface="Arial"/>
                <a:ea typeface="Arial"/>
                <a:cs typeface="Arial"/>
              </a:defRPr>
            </a:lvl4pPr>
            <a:lvl5pPr>
              <a:defRPr sz="1350" b="1">
                <a:solidFill>
                  <a:srgbClr val="8554A7"/>
                </a:solidFill>
                <a:latin typeface="Arial"/>
                <a:ea typeface="Arial"/>
                <a:cs typeface="Arial"/>
              </a:defRPr>
            </a:lvl5pPr>
            <a:lvl6pPr>
              <a:defRPr sz="1350" b="1">
                <a:solidFill>
                  <a:srgbClr val="8554A7"/>
                </a:solidFill>
                <a:latin typeface="Arial"/>
                <a:ea typeface="Arial"/>
                <a:cs typeface="Arial"/>
              </a:defRPr>
            </a:lvl6pPr>
            <a:lvl7pPr>
              <a:defRPr sz="1350" b="1">
                <a:solidFill>
                  <a:srgbClr val="8554A7"/>
                </a:solidFill>
                <a:latin typeface="Arial"/>
                <a:ea typeface="Arial"/>
                <a:cs typeface="Arial"/>
              </a:defRPr>
            </a:lvl7pPr>
            <a:lvl8pPr>
              <a:defRPr sz="1350" b="1">
                <a:solidFill>
                  <a:srgbClr val="8554A7"/>
                </a:solidFill>
                <a:latin typeface="Arial"/>
                <a:ea typeface="Arial"/>
                <a:cs typeface="Arial"/>
              </a:defRPr>
            </a:lvl8pPr>
            <a:lvl9pPr>
              <a:defRPr sz="1350" b="1">
                <a:solidFill>
                  <a:srgbClr val="8554A7"/>
                </a:solidFill>
                <a:latin typeface="Arial"/>
                <a:ea typeface="Arial"/>
                <a:cs typeface="Arial"/>
              </a:defRPr>
            </a:lvl9pPr>
          </a:lstStyle>
          <a:p>
            <a:pPr>
              <a:defRPr sz="1350" b="1">
                <a:solidFill>
                  <a:srgbClr val="8554A7"/>
                </a:solidFill>
                <a:latin typeface="Arial"/>
                <a:ea typeface="Arial"/>
                <a:cs typeface="Arial"/>
              </a:defRPr>
            </a:pPr>
            <a:r>
              <a:rPr sz="1350" b="1">
                <a:solidFill>
                  <a:srgbClr val="8554A7"/>
                </a:solidFill>
                <a:latin typeface="Arial"/>
                <a:ea typeface="Arial"/>
                <a:cs typeface="Arial"/>
              </a:rPr>
              <a:t>12</a:t>
            </a:r>
          </a:p>
        </p:txBody>
      </p:sp>
      <p:sp>
        <p:nvSpPr>
          <p:cNvPr id="165" name="Rectangle 164">
            <a:extLst>
              <a:ext uri="{FF2B5EF4-FFF2-40B4-BE49-F238E27FC236}">
                <a16:creationId xmlns:a16="http://schemas.microsoft.com/office/drawing/2014/main" id="{7C6157CE-202D-4D94-A318-2E3580AEAADF}"/>
              </a:ext>
            </a:extLst>
          </p:cNvPr>
          <p:cNvSpPr>
            <a:spLocks noGrp="1"/>
          </p:cNvSpPr>
          <p:nvPr/>
        </p:nvSpPr>
        <p:spPr>
          <a:xfrm>
            <a:off x="9829800" y="2028825"/>
            <a:ext cx="2047875" cy="171450"/>
          </a:xfrm>
          <a:prstGeom prst="rect">
            <a:avLst/>
          </a:prstGeom>
          <a:noFill/>
          <a:ln w="0">
            <a:noFill/>
            <a:prstDash val="solid"/>
          </a:ln>
        </p:spPr>
        <p:txBody>
          <a:bodyPr lIns="0" tIns="0" rIns="0" bIns="0"/>
          <a:lstStyle>
            <a:defPPr>
              <a:defRPr sz="825" b="1">
                <a:solidFill>
                  <a:srgbClr val="8554A7"/>
                </a:solidFill>
                <a:latin typeface="Arial"/>
                <a:ea typeface="Arial"/>
                <a:cs typeface="Arial"/>
              </a:defRPr>
            </a:defPPr>
            <a:lvl1pPr>
              <a:defRPr sz="825" b="1">
                <a:solidFill>
                  <a:srgbClr val="8554A7"/>
                </a:solidFill>
                <a:latin typeface="Arial"/>
                <a:ea typeface="Arial"/>
                <a:cs typeface="Arial"/>
              </a:defRPr>
            </a:lvl1pPr>
            <a:lvl2pPr>
              <a:defRPr sz="825" b="1">
                <a:solidFill>
                  <a:srgbClr val="8554A7"/>
                </a:solidFill>
                <a:latin typeface="Arial"/>
                <a:ea typeface="Arial"/>
                <a:cs typeface="Arial"/>
              </a:defRPr>
            </a:lvl2pPr>
            <a:lvl3pPr>
              <a:defRPr sz="825" b="1">
                <a:solidFill>
                  <a:srgbClr val="8554A7"/>
                </a:solidFill>
                <a:latin typeface="Arial"/>
                <a:ea typeface="Arial"/>
                <a:cs typeface="Arial"/>
              </a:defRPr>
            </a:lvl3pPr>
            <a:lvl4pPr>
              <a:defRPr sz="825" b="1">
                <a:solidFill>
                  <a:srgbClr val="8554A7"/>
                </a:solidFill>
                <a:latin typeface="Arial"/>
                <a:ea typeface="Arial"/>
                <a:cs typeface="Arial"/>
              </a:defRPr>
            </a:lvl4pPr>
            <a:lvl5pPr>
              <a:defRPr sz="825" b="1">
                <a:solidFill>
                  <a:srgbClr val="8554A7"/>
                </a:solidFill>
                <a:latin typeface="Arial"/>
                <a:ea typeface="Arial"/>
                <a:cs typeface="Arial"/>
              </a:defRPr>
            </a:lvl5pPr>
            <a:lvl6pPr>
              <a:defRPr sz="825" b="1">
                <a:solidFill>
                  <a:srgbClr val="8554A7"/>
                </a:solidFill>
                <a:latin typeface="Arial"/>
                <a:ea typeface="Arial"/>
                <a:cs typeface="Arial"/>
              </a:defRPr>
            </a:lvl6pPr>
            <a:lvl7pPr>
              <a:defRPr sz="825" b="1">
                <a:solidFill>
                  <a:srgbClr val="8554A7"/>
                </a:solidFill>
                <a:latin typeface="Arial"/>
                <a:ea typeface="Arial"/>
                <a:cs typeface="Arial"/>
              </a:defRPr>
            </a:lvl7pPr>
            <a:lvl8pPr>
              <a:defRPr sz="825" b="1">
                <a:solidFill>
                  <a:srgbClr val="8554A7"/>
                </a:solidFill>
                <a:latin typeface="Arial"/>
                <a:ea typeface="Arial"/>
                <a:cs typeface="Arial"/>
              </a:defRPr>
            </a:lvl8pPr>
            <a:lvl9pPr>
              <a:defRPr sz="825" b="1">
                <a:solidFill>
                  <a:srgbClr val="8554A7"/>
                </a:solidFill>
                <a:latin typeface="Arial"/>
                <a:ea typeface="Arial"/>
                <a:cs typeface="Arial"/>
              </a:defRPr>
            </a:lvl9pPr>
          </a:lstStyle>
          <a:p>
            <a:pPr>
              <a:defRPr sz="825" b="1">
                <a:solidFill>
                  <a:srgbClr val="8554A7"/>
                </a:solidFill>
                <a:latin typeface="Arial"/>
                <a:ea typeface="Arial"/>
                <a:cs typeface="Arial"/>
              </a:defRPr>
            </a:pPr>
            <a:r>
              <a:rPr sz="825" b="1">
                <a:solidFill>
                  <a:srgbClr val="8554A7"/>
                </a:solidFill>
                <a:latin typeface="Arial"/>
                <a:ea typeface="Arial"/>
                <a:cs typeface="Arial"/>
              </a:rPr>
              <a:t>Release 5 Segments in QA</a:t>
            </a:r>
          </a:p>
        </p:txBody>
      </p:sp>
    </p:spTree>
    <p:extLst>
      <p:ext uri="{BB962C8B-B14F-4D97-AF65-F5344CB8AC3E}">
        <p14:creationId xmlns:p14="http://schemas.microsoft.com/office/powerpoint/2010/main" val="70519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591</Words>
  <Application>Microsoft Office PowerPoint</Application>
  <DocSecurity>0</DocSecurity>
  <PresentationFormat>Widescreen</PresentationFormat>
  <Paragraphs>86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Sumeet Changari</cp:lastModifiedBy>
  <cp:revision>1</cp:revision>
  <dcterms:created xsi:type="dcterms:W3CDTF">2026-10-22T22:45:07Z</dcterms:created>
  <dcterms:modified xsi:type="dcterms:W3CDTF">2026-10-22T22:52:10Z</dcterms:modified>
</cp:coreProperties>
</file>