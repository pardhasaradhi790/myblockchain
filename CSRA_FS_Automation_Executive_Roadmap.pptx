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677164b54e455e" /><Relationship Type="http://schemas.openxmlformats.org/officeDocument/2006/relationships/extended-properties" Target="/docProps/app.xml" Id="R4f911d1b0760419b" /><Relationship Type="http://schemas.openxmlformats.org/officeDocument/2006/relationships/officeDocument" Target="/ppt/presentation.xml" Id="R67c06db9a98c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eff05bf54648d1"/>
  </p:sldMasterIdLst>
  <p:notesMasterIdLst>
    <p:notesMasterId xmlns:r="http://schemas.openxmlformats.org/officeDocument/2006/relationships" r:id="R194b47f1a3664939"/>
  </p:notesMasterIdLst>
  <p:sldIdLst>
    <p:sldId xmlns:r="http://schemas.openxmlformats.org/officeDocument/2006/relationships" id="256" r:id="R2362c5536cb44b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d445a9f3cf423c" /><Relationship Type="http://schemas.openxmlformats.org/officeDocument/2006/relationships/slideMaster" Target="/ppt/slideMasters/slideMaster1.xml" Id="Rcfeff05bf54648d1" /><Relationship Type="http://schemas.openxmlformats.org/officeDocument/2006/relationships/notesMaster" Target="/ppt/notesMasters/notesMaster1.xml" Id="R194b47f1a3664939" /><Relationship Type="http://schemas.openxmlformats.org/officeDocument/2006/relationships/presProps" Target="/ppt/presProps.xml" Id="Rcd6feddbbfb54f89" /><Relationship Type="http://schemas.openxmlformats.org/officeDocument/2006/relationships/tableStyles" Target="/ppt/tableStyles.xml" Id="R4bcc8a037d904417" /><Relationship Type="http://schemas.openxmlformats.org/officeDocument/2006/relationships/slide" Target="/ppt/slides/slide1.xml" Id="R2362c5536cb44b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e8092e556e4e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7f1efcfc244f3" /><Relationship Type="http://schemas.openxmlformats.org/officeDocument/2006/relationships/notesMaster" Target="/ppt/notesMasters/notesMaster1.xml" Id="Rd079d4b17b1c40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consolidates the three supplied project-status slides into one executive view. All non-crossed narrative items, dates, counts, statuses, milestones, portfolio names and roadmap phases were audited against the source screenshots. The Files Automated table and the Release 2 Fee ID detail tables were excluded because the manager crossed them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screenshots of CSRA FS Automation Project Status Update slides and manager feedback,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5372fa5354c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fb5dd756df4f4e" /><Relationship Type="http://schemas.openxmlformats.org/officeDocument/2006/relationships/slideLayout" Target="/ppt/slideLayouts/slideLayout1.xml" Id="R6e6a4d30a02a44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6a4d30a02a44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1e14a78a145d9" /><Relationship Type="http://schemas.openxmlformats.org/officeDocument/2006/relationships/image" Target="/ppt/media/image.png" Id="R5c319f3e0481458b" /><Relationship Type="http://schemas.openxmlformats.org/officeDocument/2006/relationships/notesSlide" Target="/ppt/notesSlides/notesSlide1.xml" Id="Rb1a222bb54674c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header">
            <a:extLst xmlns:a="http://schemas.openxmlformats.org/drawingml/2006/main">
              <a:ext uri="{FF2B5EF4-FFF2-40B4-BE49-F238E27FC236}">
                <a16:creationId xmlns:a16="http://schemas.microsoft.com/office/drawing/2014/main" id="{E485254F-0BF4-40E6-A611-C90433DD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5"/>
          </a:solidFill>
          <a:ln xmlns:a="http://schemas.openxmlformats.org/drawingml/2006/main" w="0">
            <a:solidFill>
              <a:srgbClr val="081A35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0B782618-19BD-4EBC-B077-3E75A41C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CE"/>
          </a:solidFill>
          <a:ln xmlns:a="http://schemas.openxmlformats.org/drawingml/2006/main" w="0">
            <a:solidFill>
              <a:srgbClr val="19A7CE"/>
            </a:solidFill>
            <a:prstDash val="solid"/>
          </a:ln>
        </p:spPr>
      </p:sp>
      <p:sp>
        <p:nvSpPr>
          <p:cNvPr id="3" name="header-title">
            <a:extLst xmlns:a="http://schemas.openxmlformats.org/drawingml/2006/main">
              <a:ext uri="{FF2B5EF4-FFF2-40B4-BE49-F238E27FC236}">
                <a16:creationId xmlns:a16="http://schemas.microsoft.com/office/drawing/2014/main" id="{60041136-C13F-4E83-9D9F-930D3E85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CSRA FS Automation Project Status Update</a:t>
            </a:r>
          </a:p>
        </p:txBody>
      </p:sp>
      <p:sp>
        <p:nvSpPr>
          <p:cNvPr id="4" name="header-date">
            <a:extLst xmlns:a="http://schemas.openxmlformats.org/drawingml/2006/main">
              <a:ext uri="{FF2B5EF4-FFF2-40B4-BE49-F238E27FC236}">
                <a16:creationId xmlns:a16="http://schemas.microsoft.com/office/drawing/2014/main" id="{820EB27F-224A-43D1-90C4-3E94391D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D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6E8"/>
                </a:solidFill>
                <a:latin typeface="Aptos"/>
                <a:ea typeface="Aptos"/>
                <a:cs typeface="Aptos"/>
              </a:rPr>
              <a:t>Executive delivery roadmap  |  2026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C4BBF7-2440-479C-B9FE-CB3A4349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1120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979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Pilot proven; three releases establish the path to scaled automation</a:t>
            </a:r>
          </a:p>
        </p:txBody>
      </p:sp>
      <p:sp>
        <p:nvSpPr>
          <p:cNvPr id="6" name="scope-band">
            <a:extLst xmlns:a="http://schemas.openxmlformats.org/drawingml/2006/main">
              <a:ext uri="{FF2B5EF4-FFF2-40B4-BE49-F238E27FC236}">
                <a16:creationId xmlns:a16="http://schemas.microsoft.com/office/drawing/2014/main" id="{45A7746C-FB5F-460A-9FA6-A7A2EFBE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11201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9D3EA"/>
            </a:solidFill>
            <a:prstDash val="solid"/>
          </a:ln>
        </p:spPr>
      </p:sp>
      <p:sp>
        <p:nvSpPr>
          <p:cNvPr id="7" name="scope-label">
            <a:extLst xmlns:a="http://schemas.openxmlformats.org/drawingml/2006/main">
              <a:ext uri="{FF2B5EF4-FFF2-40B4-BE49-F238E27FC236}">
                <a16:creationId xmlns:a16="http://schemas.microsoft.com/office/drawing/2014/main" id="{4D3A4224-2D86-4614-B798-BCBF74E4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1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6"/>
                </a:solidFill>
                <a:latin typeface="Aptos"/>
                <a:ea typeface="Aptos"/>
                <a:cs typeface="Aptos"/>
              </a:rPr>
              <a:t>AUTOMATION SCOPE</a:t>
            </a:r>
          </a:p>
        </p:txBody>
      </p:sp>
      <p:sp>
        <p:nvSpPr>
          <p:cNvPr id="8" name="scope-text">
            <a:extLst xmlns:a="http://schemas.openxmlformats.org/drawingml/2006/main">
              <a:ext uri="{FF2B5EF4-FFF2-40B4-BE49-F238E27FC236}">
                <a16:creationId xmlns:a16="http://schemas.microsoft.com/office/drawing/2014/main" id="{24992072-7B1F-4FAA-B85D-EB635693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381125"/>
            <a:ext cx="938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CMS / state file download  →  SOP review &amp; update  →  Master file / QNXT validation  →  data-load preparation  →  latest fee update in QNXT</a:t>
            </a:r>
          </a:p>
        </p:txBody>
      </p:sp>
      <p:sp>
        <p:nvSpPr>
          <p:cNvPr id="9" name="kpi-value-0">
            <a:extLst xmlns:a="http://schemas.openxmlformats.org/drawingml/2006/main">
              <a:ext uri="{FF2B5EF4-FFF2-40B4-BE49-F238E27FC236}">
                <a16:creationId xmlns:a16="http://schemas.microsoft.com/office/drawing/2014/main" id="{B319A352-FAF5-4C5A-B766-F1C64CBE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92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8A6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8A62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10" name="kpi-label-0">
            <a:extLst xmlns:a="http://schemas.openxmlformats.org/drawingml/2006/main">
              <a:ext uri="{FF2B5EF4-FFF2-40B4-BE49-F238E27FC236}">
                <a16:creationId xmlns:a16="http://schemas.microsoft.com/office/drawing/2014/main" id="{BE00763E-F6DB-4FE8-92D0-BDC6795A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764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MI FILES LIVE</a:t>
            </a:r>
          </a:p>
        </p:txBody>
      </p:sp>
      <p:sp>
        <p:nvSpPr>
          <p:cNvPr id="11" name="kpi-value-1">
            <a:extLst xmlns:a="http://schemas.openxmlformats.org/drawingml/2006/main">
              <a:ext uri="{FF2B5EF4-FFF2-40B4-BE49-F238E27FC236}">
                <a16:creationId xmlns:a16="http://schemas.microsoft.com/office/drawing/2014/main" id="{BDB976B7-781F-4D29-925B-15C940FB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1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61A6"/>
                </a:solidFill>
                <a:latin typeface="Aptos"/>
                <a:ea typeface="Aptos"/>
                <a:cs typeface="Aptos"/>
              </a:rPr>
              <a:t>300K+</a:t>
            </a:r>
          </a:p>
        </p:txBody>
      </p:sp>
      <p:sp>
        <p:nvSpPr>
          <p:cNvPr id="12" name="kpi-label-1">
            <a:extLst xmlns:a="http://schemas.openxmlformats.org/drawingml/2006/main">
              <a:ext uri="{FF2B5EF4-FFF2-40B4-BE49-F238E27FC236}">
                <a16:creationId xmlns:a16="http://schemas.microsoft.com/office/drawing/2014/main" id="{6DE13A86-31B2-4411-A3C8-E3E85BB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764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701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RECORDS VALIDATED</a:t>
            </a:r>
          </a:p>
        </p:txBody>
      </p:sp>
      <p:sp>
        <p:nvSpPr>
          <p:cNvPr id="13" name="kpi-value-2">
            <a:extLst xmlns:a="http://schemas.openxmlformats.org/drawingml/2006/main">
              <a:ext uri="{FF2B5EF4-FFF2-40B4-BE49-F238E27FC236}">
                <a16:creationId xmlns:a16="http://schemas.microsoft.com/office/drawing/2014/main" id="{8897BAEC-76D0-45D0-961E-747E1460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192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14" name="kpi-label-2">
            <a:extLst xmlns:a="http://schemas.openxmlformats.org/drawingml/2006/main">
              <a:ext uri="{FF2B5EF4-FFF2-40B4-BE49-F238E27FC236}">
                <a16:creationId xmlns:a16="http://schemas.microsoft.com/office/drawing/2014/main" id="{7B1F9038-D950-49CD-ADDA-B4A2CA22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AUGUST FILES</a:t>
            </a:r>
          </a:p>
        </p:txBody>
      </p:sp>
      <p:sp>
        <p:nvSpPr>
          <p:cNvPr id="15" name="kpi-value-3">
            <a:extLst xmlns:a="http://schemas.openxmlformats.org/drawingml/2006/main">
              <a:ext uri="{FF2B5EF4-FFF2-40B4-BE49-F238E27FC236}">
                <a16:creationId xmlns:a16="http://schemas.microsoft.com/office/drawing/2014/main" id="{D57BA8CC-088B-46F1-948F-CBD6840C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192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C123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C1236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  <p:sp>
        <p:nvSpPr>
          <p:cNvPr id="16" name="kpi-label-3">
            <a:extLst xmlns:a="http://schemas.openxmlformats.org/drawingml/2006/main">
              <a:ext uri="{FF2B5EF4-FFF2-40B4-BE49-F238E27FC236}">
                <a16:creationId xmlns:a16="http://schemas.microsoft.com/office/drawing/2014/main" id="{291BEB46-78E6-4C21-8D7F-677E5BDC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764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2026 FILES</a:t>
            </a:r>
          </a:p>
        </p:txBody>
      </p:sp>
      <p:sp>
        <p:nvSpPr>
          <p:cNvPr id="17" name="panel-0">
            <a:extLst xmlns:a="http://schemas.openxmlformats.org/drawingml/2006/main">
              <a:ext uri="{FF2B5EF4-FFF2-40B4-BE49-F238E27FC236}">
                <a16:creationId xmlns:a16="http://schemas.microsoft.com/office/drawing/2014/main" id="{BF01967F-B50C-43E4-AF07-AA201682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3638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panel-accent-0">
            <a:extLst xmlns:a="http://schemas.openxmlformats.org/drawingml/2006/main">
              <a:ext uri="{FF2B5EF4-FFF2-40B4-BE49-F238E27FC236}">
                <a16:creationId xmlns:a16="http://schemas.microsoft.com/office/drawing/2014/main" id="{01BD3769-3300-4AF1-9747-C8C5C465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3638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2"/>
          </a:solidFill>
          <a:ln xmlns:a="http://schemas.openxmlformats.org/drawingml/2006/main" w="0">
            <a:solidFill>
              <a:srgbClr val="178A62"/>
            </a:solidFill>
            <a:prstDash val="solid"/>
          </a:ln>
        </p:spPr>
      </p:sp>
      <p:sp>
        <p:nvSpPr>
          <p:cNvPr id="19" name="panel-eye-0">
            <a:extLst xmlns:a="http://schemas.openxmlformats.org/drawingml/2006/main">
              <a:ext uri="{FF2B5EF4-FFF2-40B4-BE49-F238E27FC236}">
                <a16:creationId xmlns:a16="http://schemas.microsoft.com/office/drawing/2014/main" id="{C70083BA-8EAF-4E2E-A008-77920271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431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A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8A62"/>
                </a:solidFill>
                <a:latin typeface="Aptos"/>
                <a:ea typeface="Aptos"/>
                <a:cs typeface="Aptos"/>
              </a:rPr>
              <a:t>PILOT  •  JULY</a:t>
            </a:r>
          </a:p>
        </p:txBody>
      </p:sp>
      <p:sp>
        <p:nvSpPr>
          <p:cNvPr id="20" name="panel-status-0">
            <a:extLst xmlns:a="http://schemas.openxmlformats.org/drawingml/2006/main">
              <a:ext uri="{FF2B5EF4-FFF2-40B4-BE49-F238E27FC236}">
                <a16:creationId xmlns:a16="http://schemas.microsoft.com/office/drawing/2014/main" id="{FA433D68-8169-41E2-BD7D-EAEC33D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43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8A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8A62"/>
                </a:solidFill>
                <a:latin typeface="Aptos"/>
                <a:ea typeface="Aptos"/>
                <a:cs typeface="Aptos"/>
              </a:rPr>
              <a:t>LIVE + HYPERCARE</a:t>
            </a:r>
          </a:p>
        </p:txBody>
      </p:sp>
      <p:sp>
        <p:nvSpPr>
          <p:cNvPr id="21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1B5947B7-D029-40A6-80DD-086D74F5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194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MI POC foundation</a:t>
            </a:r>
          </a:p>
        </p:txBody>
      </p:sp>
      <p:sp>
        <p:nvSpPr>
          <p:cNvPr id="22" name="panel-body-0">
            <a:extLst xmlns:a="http://schemas.openxmlformats.org/drawingml/2006/main">
              <a:ext uri="{FF2B5EF4-FFF2-40B4-BE49-F238E27FC236}">
                <a16:creationId xmlns:a16="http://schemas.microsoft.com/office/drawing/2014/main" id="{F7CE5C79-A2E4-4CAC-B395-F50A802A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81350"/>
            <a:ext cx="3314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83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PROD deployment and first run: 07/15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38 MI FS files; 300K+ records validated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Standard deployment, validation and monitoring framework created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Controlled-execution feedback incorporated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Business final review; QNXT load after confirmation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Release 2 initiated: additional MI Fee IDs + IL/ILC (11 files)</a:t>
            </a:r>
          </a:p>
        </p:txBody>
      </p:sp>
      <p:sp>
        <p:nvSpPr>
          <p:cNvPr id="23" name="panel-1">
            <a:extLst xmlns:a="http://schemas.openxmlformats.org/drawingml/2006/main">
              <a:ext uri="{FF2B5EF4-FFF2-40B4-BE49-F238E27FC236}">
                <a16:creationId xmlns:a16="http://schemas.microsoft.com/office/drawing/2014/main" id="{070E9CB3-AF86-4692-8C8C-0E5692C2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71725"/>
            <a:ext cx="3638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panel-accent-1">
            <a:extLst xmlns:a="http://schemas.openxmlformats.org/drawingml/2006/main">
              <a:ext uri="{FF2B5EF4-FFF2-40B4-BE49-F238E27FC236}">
                <a16:creationId xmlns:a16="http://schemas.microsoft.com/office/drawing/2014/main" id="{2191E0D5-B225-4BDF-8159-8AAD1868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71725"/>
            <a:ext cx="3638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1A6"/>
          </a:solidFill>
          <a:ln xmlns:a="http://schemas.openxmlformats.org/drawingml/2006/main" w="0">
            <a:solidFill>
              <a:srgbClr val="1261A6"/>
            </a:solidFill>
            <a:prstDash val="solid"/>
          </a:ln>
        </p:spPr>
      </p:sp>
      <p:sp>
        <p:nvSpPr>
          <p:cNvPr id="25" name="panel-eye-1">
            <a:extLst xmlns:a="http://schemas.openxmlformats.org/drawingml/2006/main">
              <a:ext uri="{FF2B5EF4-FFF2-40B4-BE49-F238E27FC236}">
                <a16:creationId xmlns:a16="http://schemas.microsoft.com/office/drawing/2014/main" id="{3108D4D8-37B0-4FC8-BB46-F3EE38F5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431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1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6"/>
                </a:solidFill>
                <a:latin typeface="Aptos"/>
                <a:ea typeface="Aptos"/>
                <a:cs typeface="Aptos"/>
              </a:rPr>
              <a:t>RELEASE 2  •  AUGUST</a:t>
            </a:r>
          </a:p>
        </p:txBody>
      </p:sp>
      <p:sp>
        <p:nvSpPr>
          <p:cNvPr id="26" name="panel-status-1">
            <a:extLst xmlns:a="http://schemas.openxmlformats.org/drawingml/2006/main">
              <a:ext uri="{FF2B5EF4-FFF2-40B4-BE49-F238E27FC236}">
                <a16:creationId xmlns:a16="http://schemas.microsoft.com/office/drawing/2014/main" id="{413EB799-13D9-42B6-98CB-571D9167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261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261A6"/>
                </a:solidFill>
                <a:latin typeface="Aptos"/>
                <a:ea typeface="Aptos"/>
                <a:cs typeface="Aptos"/>
              </a:rPr>
              <a:t>REVIEW IN PROGRESS</a:t>
            </a:r>
          </a:p>
        </p:txBody>
      </p:sp>
      <p:sp>
        <p:nvSpPr>
          <p:cNvPr id="27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B8CC08EF-BCEE-4C0B-B8B8-23EFD1B1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MI + IL/ILC delivery</a:t>
            </a:r>
          </a:p>
        </p:txBody>
      </p:sp>
      <p:sp>
        <p:nvSpPr>
          <p:cNvPr id="28" name="panel-body-1">
            <a:extLst xmlns:a="http://schemas.openxmlformats.org/drawingml/2006/main">
              <a:ext uri="{FF2B5EF4-FFF2-40B4-BE49-F238E27FC236}">
                <a16:creationId xmlns:a16="http://schemas.microsoft.com/office/drawing/2014/main" id="{BD4383E3-CBAE-4474-A318-86C40A1C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3314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3 plans | 25 Fee IDs | 35 files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MI additional files and IL/ILC plans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Build development completed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Review process in progress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Production deployment target: 08/31</a:t>
            </a:r>
          </a:p>
        </p:txBody>
      </p:sp>
      <p:sp>
        <p:nvSpPr>
          <p:cNvPr id="29" name="panel-2">
            <a:extLst xmlns:a="http://schemas.openxmlformats.org/drawingml/2006/main">
              <a:ext uri="{FF2B5EF4-FFF2-40B4-BE49-F238E27FC236}">
                <a16:creationId xmlns:a16="http://schemas.microsoft.com/office/drawing/2014/main" id="{CEE581C8-286F-4A6A-B1F8-03901C58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71725"/>
            <a:ext cx="3638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panel-accent-2">
            <a:extLst xmlns:a="http://schemas.openxmlformats.org/drawingml/2006/main">
              <a:ext uri="{FF2B5EF4-FFF2-40B4-BE49-F238E27FC236}">
                <a16:creationId xmlns:a16="http://schemas.microsoft.com/office/drawing/2014/main" id="{74B5A65D-FA60-45D4-B8B3-4539F84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71725"/>
            <a:ext cx="3638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6C4AB6"/>
            </a:solidFill>
            <a:prstDash val="solid"/>
          </a:ln>
        </p:spPr>
      </p:sp>
      <p:sp>
        <p:nvSpPr>
          <p:cNvPr id="31" name="panel-eye-2">
            <a:extLst xmlns:a="http://schemas.openxmlformats.org/drawingml/2006/main">
              <a:ext uri="{FF2B5EF4-FFF2-40B4-BE49-F238E27FC236}">
                <a16:creationId xmlns:a16="http://schemas.microsoft.com/office/drawing/2014/main" id="{F286816E-BFD2-40C3-A948-011A30A6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431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RELEASE 3  •  SEPTEMBER</a:t>
            </a:r>
          </a:p>
        </p:txBody>
      </p:sp>
      <p:sp>
        <p:nvSpPr>
          <p:cNvPr id="32" name="panel-status-2">
            <a:extLst xmlns:a="http://schemas.openxmlformats.org/drawingml/2006/main">
              <a:ext uri="{FF2B5EF4-FFF2-40B4-BE49-F238E27FC236}">
                <a16:creationId xmlns:a16="http://schemas.microsoft.com/office/drawing/2014/main" id="{EABF5584-AE1F-4243-95BD-E469B614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543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BUILD IN PROGRESS</a:t>
            </a:r>
          </a:p>
        </p:txBody>
      </p:sp>
      <p:sp>
        <p:nvSpPr>
          <p:cNvPr id="33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C30AD9E5-B3BB-4B25-8D5E-BBD4C5E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194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VA, FL, OK + WV rollout</a:t>
            </a:r>
          </a:p>
        </p:txBody>
      </p:sp>
      <p:sp>
        <p:nvSpPr>
          <p:cNvPr id="34" name="panel-body-2">
            <a:extLst xmlns:a="http://schemas.openxmlformats.org/drawingml/2006/main">
              <a:ext uri="{FF2B5EF4-FFF2-40B4-BE49-F238E27FC236}">
                <a16:creationId xmlns:a16="http://schemas.microsoft.com/office/drawing/2014/main" id="{BBCA4EBD-4232-4551-A2C7-47639AA9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181350"/>
            <a:ext cx="3314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4 plans | 13 Fee IDs | 19 files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Build development in progress</a:t>
            </a:r>
          </a:p>
          <a:p xmlns:a="http://schemas.openxmlformats.org/drawingml/2006/main">
            <a:pPr algn="l">
              <a:defRPr sz="1013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• Production deployment target: end of September</a:t>
            </a:r>
          </a:p>
        </p:txBody>
      </p:sp>
      <p:sp>
        <p:nvSpPr>
          <p:cNvPr id="35" name="roadmap">
            <a:extLst xmlns:a="http://schemas.openxmlformats.org/drawingml/2006/main">
              <a:ext uri="{FF2B5EF4-FFF2-40B4-BE49-F238E27FC236}">
                <a16:creationId xmlns:a16="http://schemas.microsoft.com/office/drawing/2014/main" id="{4A931EF4-8D53-492F-99F2-FF6F5D50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120140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roadmap-accent">
            <a:extLst xmlns:a="http://schemas.openxmlformats.org/drawingml/2006/main">
              <a:ext uri="{FF2B5EF4-FFF2-40B4-BE49-F238E27FC236}">
                <a16:creationId xmlns:a16="http://schemas.microsoft.com/office/drawing/2014/main" id="{9E5B5340-EA50-4363-94D0-D236C1CE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1201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236"/>
          </a:solidFill>
          <a:ln xmlns:a="http://schemas.openxmlformats.org/drawingml/2006/main" w="0">
            <a:solidFill>
              <a:srgbClr val="CC1236"/>
            </a:solidFill>
            <a:prstDash val="solid"/>
          </a:ln>
        </p:spPr>
      </p:sp>
      <p:sp>
        <p:nvSpPr>
          <p:cNvPr id="37" name="roadmap-label">
            <a:extLst xmlns:a="http://schemas.openxmlformats.org/drawingml/2006/main">
              <a:ext uri="{FF2B5EF4-FFF2-40B4-BE49-F238E27FC236}">
                <a16:creationId xmlns:a16="http://schemas.microsoft.com/office/drawing/2014/main" id="{EE3B6462-B9D5-4AE1-9841-8A236D22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C123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C1236"/>
                </a:solidFill>
                <a:latin typeface="Aptos"/>
                <a:ea typeface="Aptos"/>
                <a:cs typeface="Aptos"/>
              </a:rPr>
              <a:t>2026 DELIVERY ROADMAP</a:t>
            </a:r>
          </a:p>
        </p:txBody>
      </p:sp>
      <p:sp>
        <p:nvSpPr>
          <p:cNvPr id="38" name="roadmap-total">
            <a:extLst xmlns:a="http://schemas.openxmlformats.org/drawingml/2006/main">
              <a:ext uri="{FF2B5EF4-FFF2-40B4-BE49-F238E27FC236}">
                <a16:creationId xmlns:a16="http://schemas.microsoft.com/office/drawing/2014/main" id="{95C93C1E-20B7-4D99-9F44-88601760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12 plans  •  58 Fee IDs  •  124 files</a:t>
            </a:r>
          </a:p>
        </p:txBody>
      </p:sp>
      <p:sp>
        <p:nvSpPr>
          <p:cNvPr id="39" name="roadmap-plans">
            <a:extLst xmlns:a="http://schemas.openxmlformats.org/drawingml/2006/main">
              <a:ext uri="{FF2B5EF4-FFF2-40B4-BE49-F238E27FC236}">
                <a16:creationId xmlns:a16="http://schemas.microsoft.com/office/drawing/2014/main" id="{ECE4A249-F271-4899-A96A-6B9C3E4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033"/>
                </a:solidFill>
                <a:latin typeface="Aptos"/>
                <a:ea typeface="Aptos"/>
                <a:cs typeface="Aptos"/>
              </a:rPr>
              <a:t>Portfolio shown in source roadmap: MI (Pilot), MI, IL (ABH IL), IL (IL Duals), VA, FL, OK, WV, NJ, LA, NY, OHRIse and MD</a:t>
            </a:r>
          </a:p>
        </p:txBody>
      </p:sp>
      <p:sp>
        <p:nvSpPr>
          <p:cNvPr id="40" name="phase-title">
            <a:extLst xmlns:a="http://schemas.openxmlformats.org/drawingml/2006/main">
              <a:ext uri="{FF2B5EF4-FFF2-40B4-BE49-F238E27FC236}">
                <a16:creationId xmlns:a16="http://schemas.microsoft.com/office/drawing/2014/main" id="{25565C8C-D976-448E-860C-51C44C9A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C12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C1236"/>
                </a:solidFill>
                <a:latin typeface="Aptos"/>
                <a:ea typeface="Aptos"/>
                <a:cs typeface="Aptos"/>
              </a:rPr>
              <a:t>DELIVERY PHASES</a:t>
            </a:r>
          </a:p>
        </p:txBody>
      </p:sp>
      <p:sp>
        <p:nvSpPr>
          <p:cNvPr id="41" name="phase-dot-0">
            <a:extLst xmlns:a="http://schemas.openxmlformats.org/drawingml/2006/main">
              <a:ext uri="{FF2B5EF4-FFF2-40B4-BE49-F238E27FC236}">
                <a16:creationId xmlns:a16="http://schemas.microsoft.com/office/drawing/2014/main" id="{9FCA9DD8-4D98-4B76-830C-85157FE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1A6"/>
          </a:solidFill>
          <a:ln xmlns:a="http://schemas.openxmlformats.org/drawingml/2006/main" w="0">
            <a:solidFill>
              <a:srgbClr val="1261A6"/>
            </a:solidFill>
            <a:prstDash val="solid"/>
          </a:ln>
        </p:spPr>
      </p:sp>
      <p:sp>
        <p:nvSpPr>
          <p:cNvPr id="42" name="phase-line-0">
            <a:extLst xmlns:a="http://schemas.openxmlformats.org/drawingml/2006/main">
              <a:ext uri="{FF2B5EF4-FFF2-40B4-BE49-F238E27FC236}">
                <a16:creationId xmlns:a16="http://schemas.microsoft.com/office/drawing/2014/main" id="{5C591E95-5880-4200-8D2B-6249B990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05425"/>
            <a:ext cx="828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3" name="phase-num-0">
            <a:extLst xmlns:a="http://schemas.openxmlformats.org/drawingml/2006/main">
              <a:ext uri="{FF2B5EF4-FFF2-40B4-BE49-F238E27FC236}">
                <a16:creationId xmlns:a16="http://schemas.microsoft.com/office/drawing/2014/main" id="{AEBA73F0-059C-45B5-AFEC-1BB490C8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4" name="phase-text-0">
            <a:extLst xmlns:a="http://schemas.openxmlformats.org/drawingml/2006/main">
              <a:ext uri="{FF2B5EF4-FFF2-40B4-BE49-F238E27FC236}">
                <a16:creationId xmlns:a16="http://schemas.microsoft.com/office/drawing/2014/main" id="{D104AD0F-0921-417C-9447-0434B3A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4673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CONFIGURATION</a:t>
            </a:r>
          </a:p>
          <a:p xmlns:a="http://schemas.openxmlformats.org/drawingml/2006/main">
            <a:pPr algn="ctr">
              <a:defRPr sz="713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+ DEVELOPMENT</a:t>
            </a:r>
          </a:p>
        </p:txBody>
      </p:sp>
      <p:sp>
        <p:nvSpPr>
          <p:cNvPr id="45" name="phase-dot-1">
            <a:extLst xmlns:a="http://schemas.openxmlformats.org/drawingml/2006/main">
              <a:ext uri="{FF2B5EF4-FFF2-40B4-BE49-F238E27FC236}">
                <a16:creationId xmlns:a16="http://schemas.microsoft.com/office/drawing/2014/main" id="{D629BE39-A52D-479A-A328-928493F5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38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6C4AB6"/>
            </a:solidFill>
            <a:prstDash val="solid"/>
          </a:ln>
        </p:spPr>
      </p:sp>
      <p:sp>
        <p:nvSpPr>
          <p:cNvPr id="46" name="phase-line-1">
            <a:extLst xmlns:a="http://schemas.openxmlformats.org/drawingml/2006/main">
              <a:ext uri="{FF2B5EF4-FFF2-40B4-BE49-F238E27FC236}">
                <a16:creationId xmlns:a16="http://schemas.microsoft.com/office/drawing/2014/main" id="{8FA8B920-CA9C-4424-81E6-6DFF3B05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305425"/>
            <a:ext cx="828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7" name="phase-num-1">
            <a:extLst xmlns:a="http://schemas.openxmlformats.org/drawingml/2006/main">
              <a:ext uri="{FF2B5EF4-FFF2-40B4-BE49-F238E27FC236}">
                <a16:creationId xmlns:a16="http://schemas.microsoft.com/office/drawing/2014/main" id="{599ADFD1-6060-4343-8779-0258A9DF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38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8" name="phase-text-1">
            <a:extLst xmlns:a="http://schemas.openxmlformats.org/drawingml/2006/main">
              <a:ext uri="{FF2B5EF4-FFF2-40B4-BE49-F238E27FC236}">
                <a16:creationId xmlns:a16="http://schemas.microsoft.com/office/drawing/2014/main" id="{A4AEE076-CE87-458F-87AA-E1AFF741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673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QA TESTING</a:t>
            </a:r>
          </a:p>
        </p:txBody>
      </p:sp>
      <p:sp>
        <p:nvSpPr>
          <p:cNvPr id="49" name="phase-dot-2">
            <a:extLst xmlns:a="http://schemas.openxmlformats.org/drawingml/2006/main">
              <a:ext uri="{FF2B5EF4-FFF2-40B4-BE49-F238E27FC236}">
                <a16:creationId xmlns:a16="http://schemas.microsoft.com/office/drawing/2014/main" id="{288A7815-2A2F-4993-8437-56BE87D2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62"/>
          </a:solidFill>
          <a:ln xmlns:a="http://schemas.openxmlformats.org/drawingml/2006/main" w="0">
            <a:solidFill>
              <a:srgbClr val="178A62"/>
            </a:solidFill>
            <a:prstDash val="solid"/>
          </a:ln>
        </p:spPr>
      </p:sp>
      <p:sp>
        <p:nvSpPr>
          <p:cNvPr id="50" name="phase-line-2">
            <a:extLst xmlns:a="http://schemas.openxmlformats.org/drawingml/2006/main">
              <a:ext uri="{FF2B5EF4-FFF2-40B4-BE49-F238E27FC236}">
                <a16:creationId xmlns:a16="http://schemas.microsoft.com/office/drawing/2014/main" id="{BBA6A7C4-8564-4BAE-8A06-BC5C0B0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05425"/>
            <a:ext cx="828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1" name="phase-num-2">
            <a:extLst xmlns:a="http://schemas.openxmlformats.org/drawingml/2006/main">
              <a:ext uri="{FF2B5EF4-FFF2-40B4-BE49-F238E27FC236}">
                <a16:creationId xmlns:a16="http://schemas.microsoft.com/office/drawing/2014/main" id="{A7D4A3E4-8700-40BD-8BC3-987A86A6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2" name="phase-text-2">
            <a:extLst xmlns:a="http://schemas.openxmlformats.org/drawingml/2006/main">
              <a:ext uri="{FF2B5EF4-FFF2-40B4-BE49-F238E27FC236}">
                <a16:creationId xmlns:a16="http://schemas.microsoft.com/office/drawing/2014/main" id="{8EFC24C9-AC1A-44BB-BD1A-5F298281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4673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UAT DEMO</a:t>
            </a:r>
          </a:p>
        </p:txBody>
      </p:sp>
      <p:sp>
        <p:nvSpPr>
          <p:cNvPr id="53" name="phase-dot-3">
            <a:extLst xmlns:a="http://schemas.openxmlformats.org/drawingml/2006/main">
              <a:ext uri="{FF2B5EF4-FFF2-40B4-BE49-F238E27FC236}">
                <a16:creationId xmlns:a16="http://schemas.microsoft.com/office/drawing/2014/main" id="{CC14266B-CC35-4158-9D5C-19BEABBE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238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1236"/>
          </a:solidFill>
          <a:ln xmlns:a="http://schemas.openxmlformats.org/drawingml/2006/main" w="0">
            <a:solidFill>
              <a:srgbClr val="CC1236"/>
            </a:solidFill>
            <a:prstDash val="solid"/>
          </a:ln>
        </p:spPr>
      </p:sp>
      <p:sp>
        <p:nvSpPr>
          <p:cNvPr id="54" name="phase-num-3">
            <a:extLst xmlns:a="http://schemas.openxmlformats.org/drawingml/2006/main">
              <a:ext uri="{FF2B5EF4-FFF2-40B4-BE49-F238E27FC236}">
                <a16:creationId xmlns:a16="http://schemas.microsoft.com/office/drawing/2014/main" id="{20FC8073-7CF5-4AE7-9193-D6FDA457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238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5" name="phase-text-3">
            <a:extLst xmlns:a="http://schemas.openxmlformats.org/drawingml/2006/main">
              <a:ext uri="{FF2B5EF4-FFF2-40B4-BE49-F238E27FC236}">
                <a16:creationId xmlns:a16="http://schemas.microsoft.com/office/drawing/2014/main" id="{FE3F10E2-CB5A-4118-979A-468FCF65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81A3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81A35"/>
                </a:solidFill>
                <a:latin typeface="Aptos"/>
                <a:ea typeface="Aptos"/>
                <a:cs typeface="Aptos"/>
              </a:rPr>
              <a:t>GO-LIVE</a:t>
            </a:r>
          </a:p>
        </p:txBody>
      </p:sp>
      <p:sp>
        <p:nvSpPr>
          <p:cNvPr id="5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CBF23EE-B07D-406A-856F-A05AF3B8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03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7" name="footer">
            <a:extLst xmlns:a="http://schemas.openxmlformats.org/drawingml/2006/main">
              <a:ext uri="{FF2B5EF4-FFF2-40B4-BE49-F238E27FC236}">
                <a16:creationId xmlns:a16="http://schemas.microsoft.com/office/drawing/2014/main" id="{B6B386EA-9A03-4D67-B360-789EA964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6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57A"/>
                </a:solidFill>
                <a:latin typeface="Aptos"/>
                <a:ea typeface="Aptos"/>
                <a:cs typeface="Aptos"/>
              </a:rPr>
              <a:t>©2026 CVS Health and/or one of its affiliates. Confidential and proprietary.</a:t>
            </a:r>
          </a:p>
        </p:txBody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19f3e0481458b"/>
          <a:stretch xmlns:a="http://schemas.openxmlformats.org/drawingml/2006/main"/>
        </p:blipFill>
        <p:spPr>
          <a:xfrm xmlns:a="http://schemas.openxmlformats.org/drawingml/2006/main">
            <a:off x="10115550" y="6364644"/>
            <a:ext cx="1524000" cy="1866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54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2026-09-02T22:15:51.3710000Z</dcterms:created>
  <dcterms:modified xsi:type="dcterms:W3CDTF">2026-09-02T22:15:51.3710000Z</dcterms:modified>
</coreProperties>
</file>