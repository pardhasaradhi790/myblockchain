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3fd7b1e6b4051" /><Relationship Type="http://schemas.openxmlformats.org/officeDocument/2006/relationships/extended-properties" Target="/docProps/app.xml" Id="R8b44663016904f37" /><Relationship Type="http://schemas.openxmlformats.org/officeDocument/2006/relationships/officeDocument" Target="/ppt/presentation.xml" Id="R29e68e2d30da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f839f7440c43a8"/>
  </p:sldMasterIdLst>
  <p:notesMasterIdLst>
    <p:notesMasterId xmlns:r="http://schemas.openxmlformats.org/officeDocument/2006/relationships" r:id="R0326f8bd93734a91"/>
  </p:notesMasterIdLst>
  <p:sldIdLst>
    <p:sldId xmlns:r="http://schemas.openxmlformats.org/officeDocument/2006/relationships" id="256" r:id="Re61638e6ea8a45ea"/>
    <p:sldId xmlns:r="http://schemas.openxmlformats.org/officeDocument/2006/relationships" id="257" r:id="Rbb8dc0c5cf304f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12ab776de04edc" /><Relationship Type="http://schemas.openxmlformats.org/officeDocument/2006/relationships/slideMaster" Target="/ppt/slideMasters/slideMaster1.xml" Id="R14f839f7440c43a8" /><Relationship Type="http://schemas.openxmlformats.org/officeDocument/2006/relationships/notesMaster" Target="/ppt/notesMasters/notesMaster1.xml" Id="R0326f8bd93734a91" /><Relationship Type="http://schemas.openxmlformats.org/officeDocument/2006/relationships/presProps" Target="/ppt/presProps.xml" Id="R640cc6874fd8480f" /><Relationship Type="http://schemas.openxmlformats.org/officeDocument/2006/relationships/tableStyles" Target="/ppt/tableStyles.xml" Id="R3fd4454ff80440cc" /><Relationship Type="http://schemas.openxmlformats.org/officeDocument/2006/relationships/slide" Target="/ppt/slides/slide1.xml" Id="Re61638e6ea8a45ea" /><Relationship Type="http://schemas.openxmlformats.org/officeDocument/2006/relationships/slide" Target="/ppt/slides/slide2.xml" Id="Rbb8dc0c5cf304f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bbef876b247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80c0887e4f4193" /><Relationship Type="http://schemas.openxmlformats.org/officeDocument/2006/relationships/notesMaster" Target="/ppt/notesMasters/notesMaster1.xml" Id="Rac6d237fc33b43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08b92895e54edd" /><Relationship Type="http://schemas.openxmlformats.org/officeDocument/2006/relationships/notesMaster" Target="/ppt/notesMasters/notesMaster1.xml" Id="R8a239032de6a4d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AI-generated RPA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July peak is derived from the supplied monthly data.</a:t>
            </a:r>
          </a:p>
          <a:p xmlns:a="http://schemas.openxmlformats.org/drawingml/2006/main">
            <a:r>
              <a:t>- AI-generated automation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80c4896a04e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88b220aa84840" /><Relationship Type="http://schemas.openxmlformats.org/officeDocument/2006/relationships/slideLayout" Target="/ppt/slideLayouts/slideLayout1.xml" Id="Rbaa68a7d31b044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68a7d31b044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5f3ac51984938" /><Relationship Type="http://schemas.openxmlformats.org/officeDocument/2006/relationships/image" Target="/ppt/media/image.png" Id="R5c72492b253d47db" /><Relationship Type="http://schemas.openxmlformats.org/officeDocument/2006/relationships/notesSlide" Target="/ppt/notesSlides/notesSlide1.xml" Id="R8c6d748736584c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a2f5c49944bc9" /><Relationship Type="http://schemas.openxmlformats.org/officeDocument/2006/relationships/image" Target="/ppt/media/image2.png" Id="R5de76a2234c34e43" /><Relationship Type="http://schemas.openxmlformats.org/officeDocument/2006/relationships/chart" Target="/ppt/slides/charts/chart1.xml" Id="R92e42eeb6ecc4ab9" /><Relationship Type="http://schemas.openxmlformats.org/officeDocument/2006/relationships/notesSlide" Target="/ppt/notesSlides/notesSlide2.xml" Id="R40baea73ceb04a4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Processed</c:v>
          </c:tx>
          <c:spPr>
            <a:solidFill xmlns:a="http://schemas.openxmlformats.org/drawingml/2006/main">
              <a:srgbClr val="1479D1"/>
            </a:solidFill>
          </c:spPr>
          <c:cat>
            <c:strLit>
              <c:ptCount val="8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</c:strLit>
          </c:cat>
          <c:val>
            <c:numLit>
              <c:formatCode>#,##0</c:formatCode>
              <c:ptCount val="8"/>
              <c:pt idx="0">
                <c:v>1178321</c:v>
              </c:pt>
              <c:pt idx="1">
                <c:v>908287</c:v>
              </c:pt>
              <c:pt idx="2">
                <c:v>1373779</c:v>
              </c:pt>
              <c:pt idx="3">
                <c:v>1397588</c:v>
              </c:pt>
              <c:pt idx="4">
                <c:v>1167877</c:v>
              </c:pt>
              <c:pt idx="5">
                <c:v>1260614</c:v>
              </c:pt>
              <c:pt idx="6">
                <c:v>1437333</c:v>
              </c:pt>
              <c:pt idx="7">
                <c:v>723915</c:v>
              </c:pt>
            </c:numLit>
          </c:val>
        </c:ser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6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EF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blue-1">
            <a:extLst xmlns:a="http://schemas.openxmlformats.org/drawingml/2006/main">
              <a:ext uri="{FF2B5EF4-FFF2-40B4-BE49-F238E27FC236}">
                <a16:creationId xmlns:a16="http://schemas.microsoft.com/office/drawing/2014/main" id="{63293531-42ED-4BEA-8684-BB65FAF8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1">
            <a:extLst xmlns:a="http://schemas.openxmlformats.org/drawingml/2006/main">
              <a:ext uri="{FF2B5EF4-FFF2-40B4-BE49-F238E27FC236}">
                <a16:creationId xmlns:a16="http://schemas.microsoft.com/office/drawing/2014/main" id="{CFFF7E35-7686-45ED-8772-4C735A8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8335370C-EA48-4223-8B08-9FD1A82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RPA automation is operating at enterprise scale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F9AD55E0-25CE-40A1-867B-C0E6B1B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Current achievement footprint across Medicaid operations</a:t>
            </a:r>
          </a:p>
        </p:txBody>
      </p:sp>
      <p:sp>
        <p:nvSpPr>
          <p:cNvPr id="5" name="ddat-1">
            <a:extLst xmlns:a="http://schemas.openxmlformats.org/drawingml/2006/main">
              <a:ext uri="{FF2B5EF4-FFF2-40B4-BE49-F238E27FC236}">
                <a16:creationId xmlns:a16="http://schemas.microsoft.com/office/drawing/2014/main" id="{2EE2485B-A9C0-49E6-BEE3-8AD499F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AD71F31-FDAF-49EE-A036-FA45A956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D1A62202-4206-4427-828F-3C6CC00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41B1DBA8-0517-4F28-B415-88E9F58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2924593-0D69-42A9-BCBF-DCB4063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1</a:t>
            </a:r>
          </a:p>
        </p:txBody>
      </p:sp>
      <p:sp>
        <p:nvSpPr>
          <p:cNvPr id="10" name="s1-kpi-surface">
            <a:extLst xmlns:a="http://schemas.openxmlformats.org/drawingml/2006/main">
              <a:ext uri="{FF2B5EF4-FFF2-40B4-BE49-F238E27FC236}">
                <a16:creationId xmlns:a16="http://schemas.microsoft.com/office/drawing/2014/main" id="{02140ECB-7246-4224-99DA-E683CE6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BEF"/>
            </a:solidFill>
            <a:prstDash val="solid"/>
          </a:ln>
        </p:spPr>
      </p:sp>
      <p:sp>
        <p:nvSpPr>
          <p:cNvPr id="11" name="s1-processes-line">
            <a:extLst xmlns:a="http://schemas.openxmlformats.org/drawingml/2006/main">
              <a:ext uri="{FF2B5EF4-FFF2-40B4-BE49-F238E27FC236}">
                <a16:creationId xmlns:a16="http://schemas.microsoft.com/office/drawing/2014/main" id="{4B2A69CB-060B-436F-83B3-8D7F282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processes-num">
            <a:extLst xmlns:a="http://schemas.openxmlformats.org/drawingml/2006/main">
              <a:ext uri="{FF2B5EF4-FFF2-40B4-BE49-F238E27FC236}">
                <a16:creationId xmlns:a16="http://schemas.microsoft.com/office/drawing/2014/main" id="{AA3CCFA2-B9A8-4FD4-AABF-6150A968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100+</a:t>
            </a:r>
          </a:p>
        </p:txBody>
      </p:sp>
      <p:sp>
        <p:nvSpPr>
          <p:cNvPr id="13" name="s1-processes-lab">
            <a:extLst xmlns:a="http://schemas.openxmlformats.org/drawingml/2006/main">
              <a:ext uri="{FF2B5EF4-FFF2-40B4-BE49-F238E27FC236}">
                <a16:creationId xmlns:a16="http://schemas.microsoft.com/office/drawing/2014/main" id="{5891F116-B1C4-478C-8392-C6351E8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Processes currently handled</a:t>
            </a:r>
          </a:p>
        </p:txBody>
      </p:sp>
      <p:sp>
        <p:nvSpPr>
          <p:cNvPr id="14" name="s1-bots-line">
            <a:extLst xmlns:a="http://schemas.openxmlformats.org/drawingml/2006/main">
              <a:ext uri="{FF2B5EF4-FFF2-40B4-BE49-F238E27FC236}">
                <a16:creationId xmlns:a16="http://schemas.microsoft.com/office/drawing/2014/main" id="{B32DC5EA-0234-4D8D-A0AF-4C2F866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bots-num">
            <a:extLst xmlns:a="http://schemas.openxmlformats.org/drawingml/2006/main">
              <a:ext uri="{FF2B5EF4-FFF2-40B4-BE49-F238E27FC236}">
                <a16:creationId xmlns:a16="http://schemas.microsoft.com/office/drawing/2014/main" id="{D9566A7A-8944-41EA-9ABD-77A673E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B3CC4"/>
                </a:solidFill>
              </a:defRPr>
            </a:pPr>
            <a:r>
              <a:rPr sz="3000" b="1">
                <a:solidFill>
                  <a:srgbClr val="5B3CC4"/>
                </a:solidFill>
              </a:rPr>
              <a:t>762</a:t>
            </a:r>
          </a:p>
        </p:txBody>
      </p:sp>
      <p:sp>
        <p:nvSpPr>
          <p:cNvPr id="16" name="s1-bots-lab">
            <a:extLst xmlns:a="http://schemas.openxmlformats.org/drawingml/2006/main">
              <a:ext uri="{FF2B5EF4-FFF2-40B4-BE49-F238E27FC236}">
                <a16:creationId xmlns:a16="http://schemas.microsoft.com/office/drawing/2014/main" id="{8C3A9608-2AB9-450C-9448-4897D98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365B8C"/>
                </a:solidFill>
              </a:defRPr>
            </a:pPr>
            <a:r>
              <a:rPr sz="1200">
                <a:solidFill>
                  <a:srgbClr val="365B8C"/>
                </a:solidFill>
              </a:rPr>
              <a:t>Bots deployed across all lines of business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365B8C"/>
                </a:solidFill>
              </a:defRPr>
            </a:pPr>
            <a:r>
              <a:rPr sz="1200">
                <a:solidFill>
                  <a:srgbClr val="365B8C"/>
                </a:solidFill>
              </a:rPr>
              <a:t>662 dedicated to claims</a:t>
            </a:r>
          </a:p>
        </p:txBody>
      </p:sp>
      <p:sp>
        <p:nvSpPr>
          <p:cNvPr id="17" name="s1-footprint">
            <a:extLst xmlns:a="http://schemas.openxmlformats.org/drawingml/2006/main">
              <a:ext uri="{FF2B5EF4-FFF2-40B4-BE49-F238E27FC236}">
                <a16:creationId xmlns:a16="http://schemas.microsoft.com/office/drawing/2014/main" id="{4E1B6DE9-E8D5-4D5C-963C-41F4C36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SCALE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+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BREADTH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2492b253d47db"/>
          <a:stretch xmlns:a="http://schemas.openxmlformats.org/drawingml/2006/main"/>
        </p:blipFill>
        <p:spPr>
          <a:xfrm xmlns:a="http://schemas.openxmlformats.org/drawingml/2006/main">
            <a:off x="9372048" y="1104900"/>
            <a:ext cx="1286979" cy="1657350"/>
          </a:xfrm>
          <a:prstGeom xmlns:a="http://schemas.openxmlformats.org/drawingml/2006/main" prst="rect">
            <a:avLst/>
          </a:prstGeom>
        </p:spPr>
      </p:pic>
      <p:sp>
        <p:nvSpPr>
          <p:cNvPr id="19" name="s1-coverage-title">
            <a:extLst xmlns:a="http://schemas.openxmlformats.org/drawingml/2006/main">
              <a:ext uri="{FF2B5EF4-FFF2-40B4-BE49-F238E27FC236}">
                <a16:creationId xmlns:a16="http://schemas.microsoft.com/office/drawing/2014/main" id="{AA61F20C-7CCA-46FC-8229-616FF80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Automation coverage</a:t>
            </a:r>
          </a:p>
        </p:txBody>
      </p:sp>
      <p:sp>
        <p:nvSpPr>
          <p:cNvPr id="20" name="s1-col1-top">
            <a:extLst xmlns:a="http://schemas.openxmlformats.org/drawingml/2006/main">
              <a:ext uri="{FF2B5EF4-FFF2-40B4-BE49-F238E27FC236}">
                <a16:creationId xmlns:a16="http://schemas.microsoft.com/office/drawing/2014/main" id="{013A9643-EB0F-4761-98FD-3FFF9A0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col1">
            <a:extLst xmlns:a="http://schemas.openxmlformats.org/drawingml/2006/main">
              <a:ext uri="{FF2B5EF4-FFF2-40B4-BE49-F238E27FC236}">
                <a16:creationId xmlns:a16="http://schemas.microsoft.com/office/drawing/2014/main" id="{192CD4CB-9E7C-442A-9172-C1476C2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2" name="s1-col1-icon">
            <a:extLst xmlns:a="http://schemas.openxmlformats.org/drawingml/2006/main">
              <a:ext uri="{FF2B5EF4-FFF2-40B4-BE49-F238E27FC236}">
                <a16:creationId xmlns:a16="http://schemas.microsoft.com/office/drawing/2014/main" id="{E044EC75-208A-4C62-A55B-291C8BF3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683E8"/>
                </a:solidFill>
              </a:defRPr>
            </a:pPr>
            <a:r>
              <a:rPr sz="2550" b="1">
                <a:solidFill>
                  <a:srgbClr val="1683E8"/>
                </a:solidFill>
              </a:rPr>
              <a:t>⇄</a:t>
            </a:r>
          </a:p>
        </p:txBody>
      </p:sp>
      <p:sp>
        <p:nvSpPr>
          <p:cNvPr id="23" name="s1-col1-head">
            <a:extLst xmlns:a="http://schemas.openxmlformats.org/drawingml/2006/main">
              <a:ext uri="{FF2B5EF4-FFF2-40B4-BE49-F238E27FC236}">
                <a16:creationId xmlns:a16="http://schemas.microsoft.com/office/drawing/2014/main" id="{6C017519-3380-4FD4-9D51-20D6A1B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Digital integration</a:t>
            </a:r>
          </a:p>
        </p:txBody>
      </p:sp>
      <p:sp>
        <p:nvSpPr>
          <p:cNvPr id="24" name="s1-col1-copy">
            <a:extLst xmlns:a="http://schemas.openxmlformats.org/drawingml/2006/main">
              <a:ext uri="{FF2B5EF4-FFF2-40B4-BE49-F238E27FC236}">
                <a16:creationId xmlns:a16="http://schemas.microsoft.com/office/drawing/2014/main" id="{FA205CD5-2480-49AA-ADD7-76C434E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714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Database Automation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API Automation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SNOW Integration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Web Scraping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Windows Automation</a:t>
            </a:r>
          </a:p>
        </p:txBody>
      </p:sp>
      <p:sp>
        <p:nvSpPr>
          <p:cNvPr id="25" name="s1-col2-top">
            <a:extLst xmlns:a="http://schemas.openxmlformats.org/drawingml/2006/main">
              <a:ext uri="{FF2B5EF4-FFF2-40B4-BE49-F238E27FC236}">
                <a16:creationId xmlns:a16="http://schemas.microsoft.com/office/drawing/2014/main" id="{C8AE9F9E-8B1B-491E-A1E4-8A001371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col2">
            <a:extLst xmlns:a="http://schemas.openxmlformats.org/drawingml/2006/main">
              <a:ext uri="{FF2B5EF4-FFF2-40B4-BE49-F238E27FC236}">
                <a16:creationId xmlns:a16="http://schemas.microsoft.com/office/drawing/2014/main" id="{620E72C9-CCB6-4A28-8D19-076EAC59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7" name="s1-col2-icon">
            <a:extLst xmlns:a="http://schemas.openxmlformats.org/drawingml/2006/main">
              <a:ext uri="{FF2B5EF4-FFF2-40B4-BE49-F238E27FC236}">
                <a16:creationId xmlns:a16="http://schemas.microsoft.com/office/drawing/2014/main" id="{D7871693-AFB7-4166-AFCB-859FB89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B43A65"/>
                </a:solidFill>
              </a:defRPr>
            </a:pPr>
            <a:r>
              <a:rPr sz="2550" b="1">
                <a:solidFill>
                  <a:srgbClr val="B43A65"/>
                </a:solidFill>
              </a:rPr>
              <a:t>▤</a:t>
            </a:r>
          </a:p>
        </p:txBody>
      </p:sp>
      <p:sp>
        <p:nvSpPr>
          <p:cNvPr id="28" name="s1-col2-head">
            <a:extLst xmlns:a="http://schemas.openxmlformats.org/drawingml/2006/main">
              <a:ext uri="{FF2B5EF4-FFF2-40B4-BE49-F238E27FC236}">
                <a16:creationId xmlns:a16="http://schemas.microsoft.com/office/drawing/2014/main" id="{CF297ED2-29D1-43F0-8ED3-C1AC180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Document intelligence</a:t>
            </a:r>
          </a:p>
        </p:txBody>
      </p:sp>
      <p:sp>
        <p:nvSpPr>
          <p:cNvPr id="29" name="s1-col2-copy">
            <a:extLst xmlns:a="http://schemas.openxmlformats.org/drawingml/2006/main">
              <a:ext uri="{FF2B5EF4-FFF2-40B4-BE49-F238E27FC236}">
                <a16:creationId xmlns:a16="http://schemas.microsoft.com/office/drawing/2014/main" id="{20C3CAE6-CB55-465E-9103-B81791D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7195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Document Understanding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Structured PDF Data Extraction</a:t>
            </a:r>
          </a:p>
          <a:p xmlns:a="http://schemas.openxmlformats.org/drawingml/2006/main">
            <a:pPr>
              <a:buNone/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Unstructured PDF Data Extraction</a:t>
            </a:r>
          </a:p>
        </p:txBody>
      </p:sp>
      <p:sp>
        <p:nvSpPr>
          <p:cNvPr id="30" name="s1-col3-top">
            <a:extLst xmlns:a="http://schemas.openxmlformats.org/drawingml/2006/main">
              <a:ext uri="{FF2B5EF4-FFF2-40B4-BE49-F238E27FC236}">
                <a16:creationId xmlns:a16="http://schemas.microsoft.com/office/drawing/2014/main" id="{F3EA25EF-F13D-4D04-AF7D-DB7CBA3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714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col3">
            <a:extLst xmlns:a="http://schemas.openxmlformats.org/drawingml/2006/main">
              <a:ext uri="{FF2B5EF4-FFF2-40B4-BE49-F238E27FC236}">
                <a16:creationId xmlns:a16="http://schemas.microsoft.com/office/drawing/2014/main" id="{F6F0AAEA-03F0-45DF-B479-F13FC9E2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32" name="s1-col3-icon">
            <a:extLst xmlns:a="http://schemas.openxmlformats.org/drawingml/2006/main">
              <a:ext uri="{FF2B5EF4-FFF2-40B4-BE49-F238E27FC236}">
                <a16:creationId xmlns:a16="http://schemas.microsoft.com/office/drawing/2014/main" id="{3F59802E-6511-4F83-A210-1ED7AAC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D38C8"/>
                </a:solidFill>
              </a:defRPr>
            </a:pPr>
            <a:r>
              <a:rPr sz="2550" b="1">
                <a:solidFill>
                  <a:srgbClr val="5D38C8"/>
                </a:solidFill>
              </a:rPr>
              <a:t>✓</a:t>
            </a:r>
          </a:p>
        </p:txBody>
      </p:sp>
      <p:sp>
        <p:nvSpPr>
          <p:cNvPr id="33" name="s1-col3-head">
            <a:extLst xmlns:a="http://schemas.openxmlformats.org/drawingml/2006/main">
              <a:ext uri="{FF2B5EF4-FFF2-40B4-BE49-F238E27FC236}">
                <a16:creationId xmlns:a16="http://schemas.microsoft.com/office/drawing/2014/main" id="{81EDC022-2968-47E1-A698-8EA564C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480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Medicaid operations</a:t>
            </a:r>
          </a:p>
        </p:txBody>
      </p:sp>
      <p:sp>
        <p:nvSpPr>
          <p:cNvPr id="34" name="s1-col3-left">
            <a:extLst xmlns:a="http://schemas.openxmlformats.org/drawingml/2006/main">
              <a:ext uri="{FF2B5EF4-FFF2-40B4-BE49-F238E27FC236}">
                <a16:creationId xmlns:a16="http://schemas.microsoft.com/office/drawing/2014/main" id="{17C5C635-BA3B-47E7-B30B-8271AE0C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Claim Adjudication</a:t>
            </a:r>
          </a:p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Clinical Authorization Review</a:t>
            </a:r>
          </a:p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3M Pricing</a:t>
            </a:r>
          </a:p>
          <a:p xmlns:a="http://schemas.openxmlformats.org/drawingml/2006/main">
            <a:pPr>
              <a:buNone/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High Dollar Claims Processing</a:t>
            </a:r>
          </a:p>
        </p:txBody>
      </p:sp>
      <p:sp>
        <p:nvSpPr>
          <p:cNvPr id="35" name="s1-col3-right">
            <a:extLst xmlns:a="http://schemas.openxmlformats.org/drawingml/2006/main">
              <a:ext uri="{FF2B5EF4-FFF2-40B4-BE49-F238E27FC236}">
                <a16:creationId xmlns:a16="http://schemas.microsoft.com/office/drawing/2014/main" id="{F664C9E6-E6BF-415C-B755-6DA95BF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581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ACE Rework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Resub Claim Processing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Payment Review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EOB COB Review</a:t>
            </a:r>
          </a:p>
          <a:p xmlns:a="http://schemas.openxmlformats.org/drawingml/2006/main">
            <a:pPr>
              <a:buNone/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QNXT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19830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blue-2">
            <a:extLst xmlns:a="http://schemas.openxmlformats.org/drawingml/2006/main">
              <a:ext uri="{FF2B5EF4-FFF2-40B4-BE49-F238E27FC236}">
                <a16:creationId xmlns:a16="http://schemas.microsoft.com/office/drawing/2014/main" id="{00B5F4B7-5DDB-4462-84BA-AE02C4B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2">
            <a:extLst xmlns:a="http://schemas.openxmlformats.org/drawingml/2006/main">
              <a:ext uri="{FF2B5EF4-FFF2-40B4-BE49-F238E27FC236}">
                <a16:creationId xmlns:a16="http://schemas.microsoft.com/office/drawing/2014/main" id="{A3B05B07-D7B9-40E0-BDDF-E79B15F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1C152BC-BCF3-4C1E-A5E1-3CA8E946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2026 automation impact is measurable and material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18331042-0E79-46D0-8BD0-8582541D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January–August performance across the RPA portfolio</a:t>
            </a:r>
          </a:p>
        </p:txBody>
      </p:sp>
      <p:sp>
        <p:nvSpPr>
          <p:cNvPr id="5" name="ddat-2">
            <a:extLst xmlns:a="http://schemas.openxmlformats.org/drawingml/2006/main">
              <a:ext uri="{FF2B5EF4-FFF2-40B4-BE49-F238E27FC236}">
                <a16:creationId xmlns:a16="http://schemas.microsoft.com/office/drawing/2014/main" id="{B173A9B9-77E1-4872-A5A4-590F553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4AE5DCDA-84E3-415B-83C8-EEE8843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A500E03E-063D-43B1-90A8-F6DA799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4553FB1-74E1-4B34-9829-F70CC11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6395723-7D22-4E4D-99EC-679AB440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2</a:t>
            </a:r>
          </a:p>
        </p:txBody>
      </p:sp>
      <p:sp>
        <p:nvSpPr>
          <p:cNvPr id="10" name="s2-hours">
            <a:extLst xmlns:a="http://schemas.openxmlformats.org/drawingml/2006/main">
              <a:ext uri="{FF2B5EF4-FFF2-40B4-BE49-F238E27FC236}">
                <a16:creationId xmlns:a16="http://schemas.microsoft.com/office/drawing/2014/main" id="{CDA48D5B-F7FC-4B02-BD12-0772A44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3D89"/>
          </a:solidFill>
          <a:ln xmlns:a="http://schemas.openxmlformats.org/drawingml/2006/main" w="9525">
            <a:solidFill>
              <a:srgbClr val="103D89"/>
            </a:solidFill>
            <a:prstDash val="solid"/>
          </a:ln>
        </p:spPr>
      </p:sp>
      <p:sp>
        <p:nvSpPr>
          <p:cNvPr id="11" name="s2-hours-num">
            <a:extLst xmlns:a="http://schemas.openxmlformats.org/drawingml/2006/main">
              <a:ext uri="{FF2B5EF4-FFF2-40B4-BE49-F238E27FC236}">
                <a16:creationId xmlns:a16="http://schemas.microsoft.com/office/drawing/2014/main" id="{336B2345-529A-4F92-AA56-D939C354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75"/>
            <a:ext cx="200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517K</a:t>
            </a:r>
          </a:p>
        </p:txBody>
      </p:sp>
      <p:sp>
        <p:nvSpPr>
          <p:cNvPr id="12" name="s2-hours-label">
            <a:extLst xmlns:a="http://schemas.openxmlformats.org/drawingml/2006/main">
              <a:ext uri="{FF2B5EF4-FFF2-40B4-BE49-F238E27FC236}">
                <a16:creationId xmlns:a16="http://schemas.microsoft.com/office/drawing/2014/main" id="{1918C68A-1841-4782-B09A-708DB82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FEAFF"/>
                </a:solidFill>
              </a:defRPr>
            </a:pPr>
            <a:r>
              <a:rPr sz="1500" b="1">
                <a:solidFill>
                  <a:srgbClr val="BFEAFF"/>
                </a:solidFill>
              </a:rPr>
              <a:t>hours saved in 2026</a:t>
            </a:r>
          </a:p>
        </p:txBody>
      </p:sp>
      <p:sp>
        <p:nvSpPr>
          <p:cNvPr id="13" name="s2-hours-meaning">
            <a:extLst xmlns:a="http://schemas.openxmlformats.org/drawingml/2006/main">
              <a:ext uri="{FF2B5EF4-FFF2-40B4-BE49-F238E27FC236}">
                <a16:creationId xmlns:a16="http://schemas.microsoft.com/office/drawing/2014/main" id="{FC3BEA19-B4FD-40F9-94E3-B18F649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D9E9FF"/>
                </a:solidFill>
              </a:defRPr>
            </a:pPr>
            <a:r>
              <a:rPr sz="1050">
                <a:solidFill>
                  <a:srgbClr val="D9E9FF"/>
                </a:solidFill>
              </a:rPr>
              <a:t>Capacity returned to the business</a:t>
            </a:r>
          </a:p>
        </p:txBody>
      </p:sp>
      <p:sp>
        <p:nvSpPr>
          <p:cNvPr id="14" name="s2-processed-line">
            <a:extLst xmlns:a="http://schemas.openxmlformats.org/drawingml/2006/main">
              <a:ext uri="{FF2B5EF4-FFF2-40B4-BE49-F238E27FC236}">
                <a16:creationId xmlns:a16="http://schemas.microsoft.com/office/drawing/2014/main" id="{A613CFE6-9146-4992-8D84-9066EB0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573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3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processed-num">
            <a:extLst xmlns:a="http://schemas.openxmlformats.org/drawingml/2006/main">
              <a:ext uri="{FF2B5EF4-FFF2-40B4-BE49-F238E27FC236}">
                <a16:creationId xmlns:a16="http://schemas.microsoft.com/office/drawing/2014/main" id="{762186A5-B731-4D98-B6C8-476ECE1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3827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9.4M</a:t>
            </a:r>
          </a:p>
        </p:txBody>
      </p:sp>
      <p:sp>
        <p:nvSpPr>
          <p:cNvPr id="16" name="s2-processed-lab">
            <a:extLst xmlns:a="http://schemas.openxmlformats.org/drawingml/2006/main">
              <a:ext uri="{FF2B5EF4-FFF2-40B4-BE49-F238E27FC236}">
                <a16:creationId xmlns:a16="http://schemas.microsoft.com/office/drawing/2014/main" id="{6A8A7728-3DDE-4FC4-9D0F-D70EF278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D7ECFF"/>
                </a:solidFill>
              </a:defRPr>
            </a:pPr>
            <a:r>
              <a:rPr sz="1425" b="1">
                <a:solidFill>
                  <a:srgbClr val="D7ECFF"/>
                </a:solidFill>
              </a:rPr>
              <a:t>records processed in 2026</a:t>
            </a:r>
          </a:p>
        </p:txBody>
      </p:sp>
      <p:sp>
        <p:nvSpPr>
          <p:cNvPr id="20" name="s2-chart-title">
            <a:extLst xmlns:a="http://schemas.openxmlformats.org/drawingml/2006/main">
              <a:ext uri="{FF2B5EF4-FFF2-40B4-BE49-F238E27FC236}">
                <a16:creationId xmlns:a16="http://schemas.microsoft.com/office/drawing/2014/main" id="{9D0EB568-AFF0-4E86-94C8-EB8BBF4E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Monthly records processed</a:t>
            </a:r>
          </a:p>
        </p:txBody>
      </p:sp>
      <p:sp>
        <p:nvSpPr>
          <p:cNvPr id="21" name="s2-peak">
            <a:extLst xmlns:a="http://schemas.openxmlformats.org/drawingml/2006/main">
              <a:ext uri="{FF2B5EF4-FFF2-40B4-BE49-F238E27FC236}">
                <a16:creationId xmlns:a16="http://schemas.microsoft.com/office/drawing/2014/main" id="{AC2AE463-A7C3-4133-8B64-A642071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05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479D1"/>
                </a:solidFill>
              </a:defRPr>
            </a:pPr>
            <a:r>
              <a:rPr sz="1200" b="1">
                <a:solidFill>
                  <a:srgbClr val="1479D1"/>
                </a:solidFill>
              </a:rPr>
              <a:t>Peak processed volume: July  |  1.44M</a:t>
            </a:r>
          </a:p>
        </p:txBody>
      </p:sp>
      <p:sp>
        <p:nvSpPr>
          <p:cNvPr id="22" name="s2-chart-bg">
            <a:extLst xmlns:a="http://schemas.openxmlformats.org/drawingml/2006/main">
              <a:ext uri="{FF2B5EF4-FFF2-40B4-BE49-F238E27FC236}">
                <a16:creationId xmlns:a16="http://schemas.microsoft.com/office/drawing/2014/main" id="{CAF783EB-2B03-468E-836F-57B2480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4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26166A13-0343-4A95-933E-8508F78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78E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25" name="table-head-txt-0">
            <a:extLst xmlns:a="http://schemas.openxmlformats.org/drawingml/2006/main">
              <a:ext uri="{FF2B5EF4-FFF2-40B4-BE49-F238E27FC236}">
                <a16:creationId xmlns:a16="http://schemas.microsoft.com/office/drawing/2014/main" id="{84BEB879-7E95-4159-AE90-1B028FAE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530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26" name="table-proc-0">
            <a:extLst xmlns:a="http://schemas.openxmlformats.org/drawingml/2006/main">
              <a:ext uri="{FF2B5EF4-FFF2-40B4-BE49-F238E27FC236}">
                <a16:creationId xmlns:a16="http://schemas.microsoft.com/office/drawing/2014/main" id="{FE7DBF37-0B57-4D4F-9EE0-83F9CD8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27" name="table-proc-txt-0">
            <a:extLst xmlns:a="http://schemas.openxmlformats.org/drawingml/2006/main">
              <a:ext uri="{FF2B5EF4-FFF2-40B4-BE49-F238E27FC236}">
                <a16:creationId xmlns:a16="http://schemas.microsoft.com/office/drawing/2014/main" id="{65C63240-6CCC-4E4E-8746-891599F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JAN</a:t>
            </a:r>
          </a:p>
        </p:txBody>
      </p:sp>
      <p:sp>
        <p:nvSpPr>
          <p:cNvPr id="28" name="table-rel-0">
            <a:extLst xmlns:a="http://schemas.openxmlformats.org/drawingml/2006/main">
              <a:ext uri="{FF2B5EF4-FFF2-40B4-BE49-F238E27FC236}">
                <a16:creationId xmlns:a16="http://schemas.microsoft.com/office/drawing/2014/main" id="{74D702EF-59DB-4348-93A9-E0483EB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06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29" name="table-rel-txt-0">
            <a:extLst xmlns:a="http://schemas.openxmlformats.org/drawingml/2006/main">
              <a:ext uri="{FF2B5EF4-FFF2-40B4-BE49-F238E27FC236}">
                <a16:creationId xmlns:a16="http://schemas.microsoft.com/office/drawing/2014/main" id="{3CBF8EAE-AD7E-483D-8898-52220BF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81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FEB</a:t>
            </a:r>
          </a:p>
        </p:txBody>
      </p:sp>
      <p:sp>
        <p:nvSpPr>
          <p:cNvPr id="30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EDB77EA9-E842-437C-B19D-8665C583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1" name="table-head-txt-1">
            <a:extLst xmlns:a="http://schemas.openxmlformats.org/drawingml/2006/main">
              <a:ext uri="{FF2B5EF4-FFF2-40B4-BE49-F238E27FC236}">
                <a16:creationId xmlns:a16="http://schemas.microsoft.com/office/drawing/2014/main" id="{B5BCB3D8-A21A-4BE6-BC8E-709402A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MAR</a:t>
            </a:r>
          </a:p>
        </p:txBody>
      </p:sp>
      <p:sp>
        <p:nvSpPr>
          <p:cNvPr id="32" name="table-proc-1">
            <a:extLst xmlns:a="http://schemas.openxmlformats.org/drawingml/2006/main">
              <a:ext uri="{FF2B5EF4-FFF2-40B4-BE49-F238E27FC236}">
                <a16:creationId xmlns:a16="http://schemas.microsoft.com/office/drawing/2014/main" id="{C3E54CFA-A940-4D36-B9C4-7F0B211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19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3" name="table-proc-txt-1">
            <a:extLst xmlns:a="http://schemas.openxmlformats.org/drawingml/2006/main">
              <a:ext uri="{FF2B5EF4-FFF2-40B4-BE49-F238E27FC236}">
                <a16:creationId xmlns:a16="http://schemas.microsoft.com/office/drawing/2014/main" id="{7EC48B07-A4DE-4C25-8590-661A8BE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APR</a:t>
            </a:r>
          </a:p>
        </p:txBody>
      </p:sp>
      <p:sp>
        <p:nvSpPr>
          <p:cNvPr id="34" name="table-rel-1">
            <a:extLst xmlns:a="http://schemas.openxmlformats.org/drawingml/2006/main">
              <a:ext uri="{FF2B5EF4-FFF2-40B4-BE49-F238E27FC236}">
                <a16:creationId xmlns:a16="http://schemas.microsoft.com/office/drawing/2014/main" id="{B721969B-69DA-4DBA-BB2E-E81E43E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5" name="table-rel-txt-1">
            <a:extLst xmlns:a="http://schemas.openxmlformats.org/drawingml/2006/main">
              <a:ext uri="{FF2B5EF4-FFF2-40B4-BE49-F238E27FC236}">
                <a16:creationId xmlns:a16="http://schemas.microsoft.com/office/drawing/2014/main" id="{33678EF1-6A55-43CF-AB6D-02FAA1F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MAY</a:t>
            </a:r>
          </a:p>
        </p:txBody>
      </p:sp>
      <p:sp>
        <p:nvSpPr>
          <p:cNvPr id="36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0A06661C-E649-401C-AE82-4B9D84BA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31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7" name="table-head-txt-2">
            <a:extLst xmlns:a="http://schemas.openxmlformats.org/drawingml/2006/main">
              <a:ext uri="{FF2B5EF4-FFF2-40B4-BE49-F238E27FC236}">
                <a16:creationId xmlns:a16="http://schemas.microsoft.com/office/drawing/2014/main" id="{378C683C-2B75-4C49-96A2-76E2278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06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JUN</a:t>
            </a:r>
          </a:p>
        </p:txBody>
      </p:sp>
      <p:sp>
        <p:nvSpPr>
          <p:cNvPr id="38" name="table-proc-2">
            <a:extLst xmlns:a="http://schemas.openxmlformats.org/drawingml/2006/main">
              <a:ext uri="{FF2B5EF4-FFF2-40B4-BE49-F238E27FC236}">
                <a16:creationId xmlns:a16="http://schemas.microsoft.com/office/drawing/2014/main" id="{6F7024BF-4AC3-4760-A7E2-634FF12E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39" name="table-proc-txt-2">
            <a:extLst xmlns:a="http://schemas.openxmlformats.org/drawingml/2006/main">
              <a:ext uri="{FF2B5EF4-FFF2-40B4-BE49-F238E27FC236}">
                <a16:creationId xmlns:a16="http://schemas.microsoft.com/office/drawing/2014/main" id="{EF768486-BAEF-4900-8CB0-853560B7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JUL</a:t>
            </a:r>
          </a:p>
        </p:txBody>
      </p:sp>
      <p:sp>
        <p:nvSpPr>
          <p:cNvPr id="40" name="table-rel-2">
            <a:extLst xmlns:a="http://schemas.openxmlformats.org/drawingml/2006/main">
              <a:ext uri="{FF2B5EF4-FFF2-40B4-BE49-F238E27FC236}">
                <a16:creationId xmlns:a16="http://schemas.microsoft.com/office/drawing/2014/main" id="{638DBB22-82DF-4804-8A24-FC3F204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550545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1" name="table-rel-txt-2">
            <a:extLst xmlns:a="http://schemas.openxmlformats.org/drawingml/2006/main">
              <a:ext uri="{FF2B5EF4-FFF2-40B4-BE49-F238E27FC236}">
                <a16:creationId xmlns:a16="http://schemas.microsoft.com/office/drawing/2014/main" id="{6F9BB04A-0E60-48D6-B6E9-C34F73F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819" y="555307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04B7A"/>
                </a:solidFill>
              </a:defRPr>
            </a:pPr>
            <a:r>
              <a:rPr sz="1050" b="1">
                <a:solidFill>
                  <a:srgbClr val="204B7A"/>
                </a:solidFill>
              </a:rPr>
              <a:t>AUG</a:t>
            </a:r>
          </a:p>
        </p:txBody>
      </p:sp>
      <p:sp>
        <p:nvSpPr>
          <p:cNvPr id="42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87A30C1D-6FF0-49C1-92FB-448F5C2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3" name="table-head-txt-3">
            <a:extLst xmlns:a="http://schemas.openxmlformats.org/drawingml/2006/main">
              <a:ext uri="{FF2B5EF4-FFF2-40B4-BE49-F238E27FC236}">
                <a16:creationId xmlns:a16="http://schemas.microsoft.com/office/drawing/2014/main" id="{567A94A4-B045-454C-9354-E39BC70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479D1"/>
                </a:solidFill>
              </a:defRPr>
            </a:pPr>
            <a:r>
              <a:rPr sz="1050" b="1">
                <a:solidFill>
                  <a:srgbClr val="1479D1"/>
                </a:solidFill>
              </a:rPr>
              <a:t>PROCESSED</a:t>
            </a:r>
          </a:p>
        </p:txBody>
      </p:sp>
      <p:sp>
        <p:nvSpPr>
          <p:cNvPr id="44" name="table-proc-3">
            <a:extLst xmlns:a="http://schemas.openxmlformats.org/drawingml/2006/main">
              <a:ext uri="{FF2B5EF4-FFF2-40B4-BE49-F238E27FC236}">
                <a16:creationId xmlns:a16="http://schemas.microsoft.com/office/drawing/2014/main" id="{965E49CB-64F0-4A40-8B98-16E97A9F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5" name="table-proc-txt-3">
            <a:extLst xmlns:a="http://schemas.openxmlformats.org/drawingml/2006/main">
              <a:ext uri="{FF2B5EF4-FFF2-40B4-BE49-F238E27FC236}">
                <a16:creationId xmlns:a16="http://schemas.microsoft.com/office/drawing/2014/main" id="{62A1BF26-FE76-4A39-9627-91F8225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1,178,321</a:t>
            </a:r>
          </a:p>
        </p:txBody>
      </p:sp>
      <p:sp>
        <p:nvSpPr>
          <p:cNvPr id="46" name="table-rel-3">
            <a:extLst xmlns:a="http://schemas.openxmlformats.org/drawingml/2006/main">
              <a:ext uri="{FF2B5EF4-FFF2-40B4-BE49-F238E27FC236}">
                <a16:creationId xmlns:a16="http://schemas.microsoft.com/office/drawing/2014/main" id="{90244221-DC0E-4A81-9194-3B260F7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06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7" name="table-rel-txt-3">
            <a:extLst xmlns:a="http://schemas.openxmlformats.org/drawingml/2006/main">
              <a:ext uri="{FF2B5EF4-FFF2-40B4-BE49-F238E27FC236}">
                <a16:creationId xmlns:a16="http://schemas.microsoft.com/office/drawing/2014/main" id="{1304B10E-5149-405B-A8F8-CBF873E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81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908,287</a:t>
            </a:r>
          </a:p>
        </p:txBody>
      </p:sp>
      <p:sp>
        <p:nvSpPr>
          <p:cNvPr id="48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4E01CDEF-68F3-4066-9A04-52C4037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49" name="table-head-txt-4">
            <a:extLst xmlns:a="http://schemas.openxmlformats.org/drawingml/2006/main">
              <a:ext uri="{FF2B5EF4-FFF2-40B4-BE49-F238E27FC236}">
                <a16:creationId xmlns:a16="http://schemas.microsoft.com/office/drawing/2014/main" id="{3D9FF9FB-1150-48D6-9420-6951874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1,373,779</a:t>
            </a:r>
          </a:p>
        </p:txBody>
      </p:sp>
      <p:sp>
        <p:nvSpPr>
          <p:cNvPr id="50" name="table-proc-4">
            <a:extLst xmlns:a="http://schemas.openxmlformats.org/drawingml/2006/main">
              <a:ext uri="{FF2B5EF4-FFF2-40B4-BE49-F238E27FC236}">
                <a16:creationId xmlns:a16="http://schemas.microsoft.com/office/drawing/2014/main" id="{0FEA2307-3759-4B62-B531-A2DFCDEF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19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1" name="table-proc-txt-4">
            <a:extLst xmlns:a="http://schemas.openxmlformats.org/drawingml/2006/main">
              <a:ext uri="{FF2B5EF4-FFF2-40B4-BE49-F238E27FC236}">
                <a16:creationId xmlns:a16="http://schemas.microsoft.com/office/drawing/2014/main" id="{3ACE9171-4C57-44A9-A350-3A3D7EE0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1,397,588</a:t>
            </a:r>
          </a:p>
        </p:txBody>
      </p:sp>
      <p:sp>
        <p:nvSpPr>
          <p:cNvPr id="52" name="table-rel-4">
            <a:extLst xmlns:a="http://schemas.openxmlformats.org/drawingml/2006/main">
              <a:ext uri="{FF2B5EF4-FFF2-40B4-BE49-F238E27FC236}">
                <a16:creationId xmlns:a16="http://schemas.microsoft.com/office/drawing/2014/main" id="{79C24BC3-8520-497D-AB71-7C962FC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3" name="table-rel-txt-4">
            <a:extLst xmlns:a="http://schemas.openxmlformats.org/drawingml/2006/main">
              <a:ext uri="{FF2B5EF4-FFF2-40B4-BE49-F238E27FC236}">
                <a16:creationId xmlns:a16="http://schemas.microsoft.com/office/drawing/2014/main" id="{2B7F729A-E37D-4A84-AD1D-1EA3F44D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1,167,877</a:t>
            </a:r>
          </a:p>
        </p:txBody>
      </p:sp>
      <p:sp>
        <p:nvSpPr>
          <p:cNvPr id="54" name="table-head-5">
            <a:extLst xmlns:a="http://schemas.openxmlformats.org/drawingml/2006/main">
              <a:ext uri="{FF2B5EF4-FFF2-40B4-BE49-F238E27FC236}">
                <a16:creationId xmlns:a16="http://schemas.microsoft.com/office/drawing/2014/main" id="{FAEDDE20-AC0A-4061-9203-3D127179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31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5" name="table-head-txt-5">
            <a:extLst xmlns:a="http://schemas.openxmlformats.org/drawingml/2006/main">
              <a:ext uri="{FF2B5EF4-FFF2-40B4-BE49-F238E27FC236}">
                <a16:creationId xmlns:a16="http://schemas.microsoft.com/office/drawing/2014/main" id="{08E4C8A5-E47E-461F-923F-44A33777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06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1,260,614</a:t>
            </a:r>
          </a:p>
        </p:txBody>
      </p:sp>
      <p:sp>
        <p:nvSpPr>
          <p:cNvPr id="56" name="table-proc-5">
            <a:extLst xmlns:a="http://schemas.openxmlformats.org/drawingml/2006/main">
              <a:ext uri="{FF2B5EF4-FFF2-40B4-BE49-F238E27FC236}">
                <a16:creationId xmlns:a16="http://schemas.microsoft.com/office/drawing/2014/main" id="{1A53F63C-F2E4-4A45-B02B-BAB73BF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88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7" name="table-proc-txt-5">
            <a:extLst xmlns:a="http://schemas.openxmlformats.org/drawingml/2006/main">
              <a:ext uri="{FF2B5EF4-FFF2-40B4-BE49-F238E27FC236}">
                <a16:creationId xmlns:a16="http://schemas.microsoft.com/office/drawing/2014/main" id="{F3B665BF-4609-4956-9879-AC7B2D8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1,437,333</a:t>
            </a:r>
          </a:p>
        </p:txBody>
      </p:sp>
      <p:sp>
        <p:nvSpPr>
          <p:cNvPr id="58" name="table-rel-5">
            <a:extLst xmlns:a="http://schemas.openxmlformats.org/drawingml/2006/main">
              <a:ext uri="{FF2B5EF4-FFF2-40B4-BE49-F238E27FC236}">
                <a16:creationId xmlns:a16="http://schemas.microsoft.com/office/drawing/2014/main" id="{D7D596CF-FE05-4203-BCD2-255D934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44" y="5829300"/>
            <a:ext cx="102155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2ED"/>
            </a:solidFill>
            <a:prstDash val="solid"/>
          </a:ln>
        </p:spPr>
      </p:sp>
      <p:sp>
        <p:nvSpPr>
          <p:cNvPr id="59" name="table-rel-txt-5">
            <a:extLst xmlns:a="http://schemas.openxmlformats.org/drawingml/2006/main">
              <a:ext uri="{FF2B5EF4-FFF2-40B4-BE49-F238E27FC236}">
                <a16:creationId xmlns:a16="http://schemas.microsoft.com/office/drawing/2014/main" id="{F3D5D836-17D0-47FD-A646-8DEC3D2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819" y="5876925"/>
            <a:ext cx="96440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479D1"/>
                </a:solidFill>
              </a:defRPr>
            </a:pPr>
            <a:r>
              <a:rPr sz="1050" b="0">
                <a:solidFill>
                  <a:srgbClr val="1479D1"/>
                </a:solidFill>
              </a:rPr>
              <a:t>723,915</a:t>
            </a:r>
          </a:p>
        </p:txBody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76a2234c34e43"/>
          <a:srcRect xmlns:a="http://schemas.openxmlformats.org/drawingml/2006/main" l="18846" t="0" r="18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3543300"/>
            <a:ext cx="1028700" cy="247650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graphicFrame>
        <p:nvGraphicFramePr>
          <p:cNvPr id="132" name="Processed Records Chart"/>
          <p:cNvGraphicFramePr/>
          <p:nvPr/>
        </p:nvGraphicFramePr>
        <p:xfrm>
          <a:off xmlns:a="http://schemas.openxmlformats.org/drawingml/2006/main" x="962025" y="3552825"/>
          <a:ext xmlns:a="http://schemas.openxmlformats.org/drawingml/2006/main" cx="897255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e42eeb6ecc4ab9"/>
          </a:graphicData>
        </a:graphic>
      </p:graphicFrame>
    </p:spTree>
    <p:extLst>
      <p:ext uri="{BB962C8B-B14F-4D97-AF65-F5344CB8AC3E}">
        <p14:creationId xmlns:p14="http://schemas.microsoft.com/office/powerpoint/2010/main" val="1700372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2026-08-25T20:55:49.3870000Z</dcterms:created>
  <dcterms:modified xsi:type="dcterms:W3CDTF">2026-08-25T20:55:49.3870000Z</dcterms:modified>
</coreProperties>
</file>