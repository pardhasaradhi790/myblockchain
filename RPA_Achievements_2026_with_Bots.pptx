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f8cd0c08f6435e" /><Relationship Type="http://schemas.openxmlformats.org/officeDocument/2006/relationships/extended-properties" Target="/docProps/app.xml" Id="R99a59c630d624957" /><Relationship Type="http://schemas.openxmlformats.org/officeDocument/2006/relationships/officeDocument" Target="/ppt/presentation.xml" Id="Rf6b06f53fb4044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cbf119b2c14738"/>
  </p:sldMasterIdLst>
  <p:notesMasterIdLst>
    <p:notesMasterId xmlns:r="http://schemas.openxmlformats.org/officeDocument/2006/relationships" r:id="R5e5b954c9e804d31"/>
  </p:notesMasterIdLst>
  <p:sldIdLst>
    <p:sldId xmlns:r="http://schemas.openxmlformats.org/officeDocument/2006/relationships" id="256" r:id="Rffe16774b8ce448b"/>
    <p:sldId xmlns:r="http://schemas.openxmlformats.org/officeDocument/2006/relationships" id="257" r:id="Rf54a3cd6b0df43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f39567b79b4824" /><Relationship Type="http://schemas.openxmlformats.org/officeDocument/2006/relationships/slideMaster" Target="/ppt/slideMasters/slideMaster1.xml" Id="R44cbf119b2c14738" /><Relationship Type="http://schemas.openxmlformats.org/officeDocument/2006/relationships/notesMaster" Target="/ppt/notesMasters/notesMaster1.xml" Id="R5e5b954c9e804d31" /><Relationship Type="http://schemas.openxmlformats.org/officeDocument/2006/relationships/presProps" Target="/ppt/presProps.xml" Id="R922637eb9b714b3e" /><Relationship Type="http://schemas.openxmlformats.org/officeDocument/2006/relationships/tableStyles" Target="/ppt/tableStyles.xml" Id="R49657689f47a4005" /><Relationship Type="http://schemas.openxmlformats.org/officeDocument/2006/relationships/slide" Target="/ppt/slides/slide1.xml" Id="Rffe16774b8ce448b" /><Relationship Type="http://schemas.openxmlformats.org/officeDocument/2006/relationships/slide" Target="/ppt/slides/slide2.xml" Id="Rf54a3cd6b0df43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d15e175fc045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02c733b8f24dfa" /><Relationship Type="http://schemas.openxmlformats.org/officeDocument/2006/relationships/notesMaster" Target="/ppt/notesMasters/notesMaster1.xml" Id="Rb6e34194ddc743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b5a75932214884" /><Relationship Type="http://schemas.openxmlformats.org/officeDocument/2006/relationships/notesMaster" Target="/ppt/notesMasters/notesMaster1.xml" Id="Re9c505d3d59d4a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email screenshots, August 25, 2026.</a:t>
            </a:r>
          </a:p>
          <a:p xmlns:a="http://schemas.openxmlformats.org/drawingml/2006/main">
            <a:r>
              <a:t>- AI-generated enterprise RPA bot illustration created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email screenshots, August 25, 2026.</a:t>
            </a:r>
          </a:p>
          <a:p xmlns:a="http://schemas.openxmlformats.org/drawingml/2006/main">
            <a:r>
              <a:t>- Released-to-processed ratio calculated as 2,335,880 / 6,626,093.</a:t>
            </a:r>
          </a:p>
          <a:p xmlns:a="http://schemas.openxmlformats.org/drawingml/2006/main">
            <a:r>
              <a:t>- AI-generated enterprise performance-analysis bot illustration created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82e0d700c49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34a397c0f34cbb" /><Relationship Type="http://schemas.openxmlformats.org/officeDocument/2006/relationships/slideLayout" Target="/ppt/slideLayouts/slideLayout1.xml" Id="Rdd77ae2bfa1f4b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77ae2bfa1f4b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7c3c19e904826" /><Relationship Type="http://schemas.openxmlformats.org/officeDocument/2006/relationships/image" Target="/ppt/media/image.png" Id="R36ae83f77d3a479d" /><Relationship Type="http://schemas.openxmlformats.org/officeDocument/2006/relationships/notesSlide" Target="/ppt/notesSlides/notesSlide1.xml" Id="R9dbf779e087347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f14f92842498f" /><Relationship Type="http://schemas.openxmlformats.org/officeDocument/2006/relationships/chart" Target="/ppt/slides/charts/chart1.xml" Id="Rba7c59e61d18446c" /><Relationship Type="http://schemas.openxmlformats.org/officeDocument/2006/relationships/image" Target="/ppt/media/image2.png" Id="Re29bc2cb68cc4e13" /><Relationship Type="http://schemas.openxmlformats.org/officeDocument/2006/relationships/notesSlide" Target="/ppt/notesSlides/notesSlide2.xml" Id="R891da0aaa5cd489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Processed</c:v>
          </c:tx>
          <c:spPr>
            <a:solidFill xmlns:a="http://schemas.openxmlformats.org/drawingml/2006/main">
              <a:srgbClr val="0B5ED7"/>
            </a:solidFill>
          </c:spPr>
          <c:cat>
            <c:strLit>
              <c:ptCount val="7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</c:strLit>
          </c:cat>
          <c:val>
            <c:numLit>
              <c:formatCode>0.0,,"M"</c:formatCode>
              <c:ptCount val="7"/>
              <c:pt idx="0">
                <c:v>847181</c:v>
              </c:pt>
              <c:pt idx="1">
                <c:v>852326</c:v>
              </c:pt>
              <c:pt idx="2">
                <c:v>796388</c:v>
              </c:pt>
              <c:pt idx="3">
                <c:v>1032514</c:v>
              </c:pt>
              <c:pt idx="4">
                <c:v>820762</c:v>
              </c:pt>
              <c:pt idx="5">
                <c:v>1066597</c:v>
              </c:pt>
              <c:pt idx="6">
                <c:v>1210325</c:v>
              </c:pt>
            </c:numLit>
          </c:val>
        </c:ser>
        <c:ser>
          <c:idx val="1"/>
          <c:order val="1"/>
          <c:tx>
            <c:v>Released</c:v>
          </c:tx>
          <c:spPr>
            <a:solidFill xmlns:a="http://schemas.openxmlformats.org/drawingml/2006/main">
              <a:srgbClr val="22B8CF"/>
            </a:solidFill>
          </c:spPr>
          <c:cat>
            <c:strLit>
              <c:ptCount val="7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</c:strLit>
          </c:cat>
          <c:val>
            <c:numLit>
              <c:formatCode>0.0,,"M"</c:formatCode>
              <c:ptCount val="7"/>
              <c:pt idx="0">
                <c:v>326500</c:v>
              </c:pt>
              <c:pt idx="1">
                <c:v>357142</c:v>
              </c:pt>
              <c:pt idx="2">
                <c:v>320911</c:v>
              </c:pt>
              <c:pt idx="3">
                <c:v>351986</c:v>
              </c:pt>
              <c:pt idx="4">
                <c:v>286684</c:v>
              </c:pt>
              <c:pt idx="5">
                <c:v>361929</c:v>
              </c:pt>
              <c:pt idx="6">
                <c:v>330728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5F4"/>
              </a:solidFill>
              <a:prstDash val="solid"/>
            </a:ln>
          </c:spPr>
        </c:majorGridlines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0000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glow-1">
            <a:extLst xmlns:a="http://schemas.openxmlformats.org/drawingml/2006/main">
              <a:ext uri="{FF2B5EF4-FFF2-40B4-BE49-F238E27FC236}">
                <a16:creationId xmlns:a16="http://schemas.microsoft.com/office/drawing/2014/main" id="{C508D026-B13D-4474-8683-3A430D3E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rail-1">
            <a:extLst xmlns:a="http://schemas.openxmlformats.org/drawingml/2006/main">
              <a:ext uri="{FF2B5EF4-FFF2-40B4-BE49-F238E27FC236}">
                <a16:creationId xmlns:a16="http://schemas.microsoft.com/office/drawing/2014/main" id="{00DBB116-EE0E-47B5-9295-278A59CB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1">
            <a:extLst xmlns:a="http://schemas.openxmlformats.org/drawingml/2006/main">
              <a:ext uri="{FF2B5EF4-FFF2-40B4-BE49-F238E27FC236}">
                <a16:creationId xmlns:a16="http://schemas.microsoft.com/office/drawing/2014/main" id="{5D73571C-3485-49A2-B63B-35AD4BEF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DBFF"/>
                </a:solidFill>
              </a:defRPr>
            </a:pPr>
            <a:r>
              <a:rPr sz="1050" b="1">
                <a:solidFill>
                  <a:srgbClr val="6EDBFF"/>
                </a:solidFill>
              </a:rPr>
              <a:t>RPA ACHIEVEMENTS</a:t>
            </a:r>
          </a:p>
        </p:txBody>
      </p:sp>
      <p:sp>
        <p:nvSpPr>
          <p:cNvPr id="4" name="ddat-1">
            <a:extLst xmlns:a="http://schemas.openxmlformats.org/drawingml/2006/main">
              <a:ext uri="{FF2B5EF4-FFF2-40B4-BE49-F238E27FC236}">
                <a16:creationId xmlns:a16="http://schemas.microsoft.com/office/drawing/2014/main" id="{2DA08FA9-74B9-436E-A68D-023D061A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195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◆ DDAT</a:t>
            </a:r>
          </a:p>
        </p:txBody>
      </p:sp>
      <p:sp>
        <p:nvSpPr>
          <p:cNvPr id="5" name="cvs-1">
            <a:extLst xmlns:a="http://schemas.openxmlformats.org/drawingml/2006/main">
              <a:ext uri="{FF2B5EF4-FFF2-40B4-BE49-F238E27FC236}">
                <a16:creationId xmlns:a16="http://schemas.microsoft.com/office/drawing/2014/main" id="{79C064EE-4B62-4760-83B4-884A0964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♥ CVS Health</a:t>
            </a:r>
          </a:p>
        </p:txBody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7E4C1B35-EA35-4AA1-A679-29CC98B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A9C8F7"/>
                </a:solidFill>
              </a:defRPr>
            </a:pPr>
            <a:r>
              <a:rPr sz="900">
                <a:solidFill>
                  <a:srgbClr val="A9C8F7"/>
                </a:solidFill>
              </a:rPr>
              <a:t>Aetna Medicaid Technology   |   2026   |   1</a:t>
            </a:r>
          </a:p>
        </p:txBody>
      </p:sp>
      <p:sp>
        <p:nvSpPr>
          <p:cNvPr id="7" name="s1-title">
            <a:extLst xmlns:a="http://schemas.openxmlformats.org/drawingml/2006/main">
              <a:ext uri="{FF2B5EF4-FFF2-40B4-BE49-F238E27FC236}">
                <a16:creationId xmlns:a16="http://schemas.microsoft.com/office/drawing/2014/main" id="{660C77AF-2782-44B5-9AC9-DC48297C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Automation at scale across Medicaid operations</a:t>
            </a:r>
          </a:p>
        </p:txBody>
      </p:sp>
      <p:sp>
        <p:nvSpPr>
          <p:cNvPr id="8" name="s1-subtitle">
            <a:extLst xmlns:a="http://schemas.openxmlformats.org/drawingml/2006/main">
              <a:ext uri="{FF2B5EF4-FFF2-40B4-BE49-F238E27FC236}">
                <a16:creationId xmlns:a16="http://schemas.microsoft.com/office/drawing/2014/main" id="{BC525215-0017-481D-B4DF-EEF0AC60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FD7FF"/>
                </a:solidFill>
              </a:defRPr>
            </a:pPr>
            <a:r>
              <a:rPr sz="1500">
                <a:solidFill>
                  <a:srgbClr val="BFD7FF"/>
                </a:solidFill>
              </a:rPr>
              <a:t>RPA combines high-volume execution with broad technology and business-process coverage.</a:t>
            </a:r>
          </a:p>
        </p:txBody>
      </p:sp>
      <p:sp>
        <p:nvSpPr>
          <p:cNvPr id="9" name="metric-band">
            <a:extLst xmlns:a="http://schemas.openxmlformats.org/drawingml/2006/main">
              <a:ext uri="{FF2B5EF4-FFF2-40B4-BE49-F238E27FC236}">
                <a16:creationId xmlns:a16="http://schemas.microsoft.com/office/drawing/2014/main" id="{997B4368-1F9A-44E7-8F28-870BDB0E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72390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B2C75"/>
          </a:solidFill>
          <a:ln xmlns:a="http://schemas.openxmlformats.org/drawingml/2006/main" w="9525">
            <a:solidFill>
              <a:srgbClr val="1F62B7"/>
            </a:solidFill>
            <a:prstDash val="solid"/>
          </a:ln>
        </p:spPr>
      </p:sp>
      <p:sp>
        <p:nvSpPr>
          <p:cNvPr id="10" name="processes-accent">
            <a:extLst xmlns:a="http://schemas.openxmlformats.org/drawingml/2006/main">
              <a:ext uri="{FF2B5EF4-FFF2-40B4-BE49-F238E27FC236}">
                <a16:creationId xmlns:a16="http://schemas.microsoft.com/office/drawing/2014/main" id="{1A08A06E-E174-4263-AF08-8D59FD44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cesses-number">
            <a:extLst xmlns:a="http://schemas.openxmlformats.org/drawingml/2006/main">
              <a:ext uri="{FF2B5EF4-FFF2-40B4-BE49-F238E27FC236}">
                <a16:creationId xmlns:a16="http://schemas.microsoft.com/office/drawing/2014/main" id="{5FE12466-6781-42C8-B9ED-BA26BBE1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100+</a:t>
            </a:r>
          </a:p>
        </p:txBody>
      </p:sp>
      <p:sp>
        <p:nvSpPr>
          <p:cNvPr id="12" name="processes-label">
            <a:extLst xmlns:a="http://schemas.openxmlformats.org/drawingml/2006/main">
              <a:ext uri="{FF2B5EF4-FFF2-40B4-BE49-F238E27FC236}">
                <a16:creationId xmlns:a16="http://schemas.microsoft.com/office/drawing/2014/main" id="{8E72D56A-C1AB-4472-B000-ECECFA26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FD7FF"/>
                </a:solidFill>
              </a:defRPr>
            </a:pPr>
            <a:r>
              <a:rPr sz="1350">
                <a:solidFill>
                  <a:srgbClr val="BFD7FF"/>
                </a:solidFill>
              </a:rPr>
              <a:t>Processes currently handled</a:t>
            </a:r>
          </a:p>
        </p:txBody>
      </p:sp>
      <p:sp>
        <p:nvSpPr>
          <p:cNvPr id="13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EDE98DA2-0BD8-464F-930C-1FA88900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288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ts-accent">
            <a:extLst xmlns:a="http://schemas.openxmlformats.org/drawingml/2006/main">
              <a:ext uri="{FF2B5EF4-FFF2-40B4-BE49-F238E27FC236}">
                <a16:creationId xmlns:a16="http://schemas.microsoft.com/office/drawing/2014/main" id="{38442B86-6451-4E87-9235-27EAB07C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431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ts-number">
            <a:extLst xmlns:a="http://schemas.openxmlformats.org/drawingml/2006/main">
              <a:ext uri="{FF2B5EF4-FFF2-40B4-BE49-F238E27FC236}">
                <a16:creationId xmlns:a16="http://schemas.microsoft.com/office/drawing/2014/main" id="{447ACD2B-29AA-4FE1-AC0A-2B446941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0980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762</a:t>
            </a:r>
          </a:p>
        </p:txBody>
      </p:sp>
      <p:sp>
        <p:nvSpPr>
          <p:cNvPr id="16" name="bots-label">
            <a:extLst xmlns:a="http://schemas.openxmlformats.org/drawingml/2006/main">
              <a:ext uri="{FF2B5EF4-FFF2-40B4-BE49-F238E27FC236}">
                <a16:creationId xmlns:a16="http://schemas.microsoft.com/office/drawing/2014/main" id="{6054FF29-95B9-45CA-90B9-C0A4B8EE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98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FD7FF"/>
                </a:solidFill>
              </a:defRPr>
            </a:pPr>
            <a:r>
              <a:rPr sz="1350">
                <a:solidFill>
                  <a:srgbClr val="BFD7FF"/>
                </a:solidFill>
              </a:rPr>
              <a:t>Bots deployed across all LOBs</a:t>
            </a:r>
          </a:p>
        </p:txBody>
      </p:sp>
      <p:sp>
        <p:nvSpPr>
          <p:cNvPr id="17" name="cap-head">
            <a:extLst xmlns:a="http://schemas.openxmlformats.org/drawingml/2006/main">
              <a:ext uri="{FF2B5EF4-FFF2-40B4-BE49-F238E27FC236}">
                <a16:creationId xmlns:a16="http://schemas.microsoft.com/office/drawing/2014/main" id="{C7422429-7B27-4AF6-82FF-0CD1DE05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EDBFF"/>
                </a:solidFill>
              </a:defRPr>
            </a:pPr>
            <a:r>
              <a:rPr sz="1275" b="1">
                <a:solidFill>
                  <a:srgbClr val="6EDBFF"/>
                </a:solidFill>
              </a:rPr>
              <a:t>AUTOMATION CAPABILITIES</a:t>
            </a:r>
          </a:p>
        </p:txBody>
      </p:sp>
      <p:sp>
        <p:nvSpPr>
          <p:cNvPr id="18" name="cap-copy">
            <a:extLst xmlns:a="http://schemas.openxmlformats.org/drawingml/2006/main">
              <a:ext uri="{FF2B5EF4-FFF2-40B4-BE49-F238E27FC236}">
                <a16:creationId xmlns:a16="http://schemas.microsoft.com/office/drawing/2014/main" id="{9A29333B-AEC9-4174-B84E-C681334F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Database &amp; API automation  •  ServiceNow integration  •  Web scraping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Document understanding  •  Windows automation  •  Structured and unstructured PDF extraction</a:t>
            </a:r>
          </a:p>
        </p:txBody>
      </p:sp>
      <p:sp>
        <p:nvSpPr>
          <p:cNvPr id="19" name="scope-head">
            <a:extLst xmlns:a="http://schemas.openxmlformats.org/drawingml/2006/main">
              <a:ext uri="{FF2B5EF4-FFF2-40B4-BE49-F238E27FC236}">
                <a16:creationId xmlns:a16="http://schemas.microsoft.com/office/drawing/2014/main" id="{01AAC679-67A1-4650-81A4-097AC46B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EDBFF"/>
                </a:solidFill>
              </a:defRPr>
            </a:pPr>
            <a:r>
              <a:rPr sz="1275" b="1">
                <a:solidFill>
                  <a:srgbClr val="6EDBFF"/>
                </a:solidFill>
              </a:rPr>
              <a:t>MEDICAID OPERATIONS COVERED</a:t>
            </a:r>
          </a:p>
        </p:txBody>
      </p:sp>
      <p:sp>
        <p:nvSpPr>
          <p:cNvPr id="20" name="scope-copy">
            <a:extLst xmlns:a="http://schemas.openxmlformats.org/drawingml/2006/main">
              <a:ext uri="{FF2B5EF4-FFF2-40B4-BE49-F238E27FC236}">
                <a16:creationId xmlns:a16="http://schemas.microsoft.com/office/drawing/2014/main" id="{410BF510-9F92-4A0A-9EF3-A1FBC42E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719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Claim adjudication  •  Clinical authorization review  •  3M pricing  •  High-dollar claims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ACE rework and resubmission  •  Payment review  •  EOB/COB review  •  QNXT monitoring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e83f77d3a479d"/>
          <a:stretch xmlns:a="http://schemas.openxmlformats.org/drawingml/2006/main"/>
        </p:blipFill>
        <p:spPr>
          <a:xfrm xmlns:a="http://schemas.openxmlformats.org/drawingml/2006/main">
            <a:off x="7972425" y="1716327"/>
            <a:ext cx="3495675" cy="45016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3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B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glow-2">
            <a:extLst xmlns:a="http://schemas.openxmlformats.org/drawingml/2006/main">
              <a:ext uri="{FF2B5EF4-FFF2-40B4-BE49-F238E27FC236}">
                <a16:creationId xmlns:a16="http://schemas.microsoft.com/office/drawing/2014/main" id="{E2C90E57-CE0D-45C9-8BE5-6ACB9FFD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rail-2">
            <a:extLst xmlns:a="http://schemas.openxmlformats.org/drawingml/2006/main">
              <a:ext uri="{FF2B5EF4-FFF2-40B4-BE49-F238E27FC236}">
                <a16:creationId xmlns:a16="http://schemas.microsoft.com/office/drawing/2014/main" id="{A4137DE3-8464-42C3-B28B-45C08C89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2">
            <a:extLst xmlns:a="http://schemas.openxmlformats.org/drawingml/2006/main">
              <a:ext uri="{FF2B5EF4-FFF2-40B4-BE49-F238E27FC236}">
                <a16:creationId xmlns:a16="http://schemas.microsoft.com/office/drawing/2014/main" id="{F2CE5585-429D-4CB8-A706-35D52BBD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DBFF"/>
                </a:solidFill>
              </a:defRPr>
            </a:pPr>
            <a:r>
              <a:rPr sz="1050" b="1">
                <a:solidFill>
                  <a:srgbClr val="6EDBFF"/>
                </a:solidFill>
              </a:rPr>
              <a:t>2026 BUSINESS IMPACT</a:t>
            </a:r>
          </a:p>
        </p:txBody>
      </p:sp>
      <p:sp>
        <p:nvSpPr>
          <p:cNvPr id="4" name="ddat-2">
            <a:extLst xmlns:a="http://schemas.openxmlformats.org/drawingml/2006/main">
              <a:ext uri="{FF2B5EF4-FFF2-40B4-BE49-F238E27FC236}">
                <a16:creationId xmlns:a16="http://schemas.microsoft.com/office/drawing/2014/main" id="{CAA2D184-8B1B-4D33-AFC3-F5541547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195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◆ DDAT</a:t>
            </a:r>
          </a:p>
        </p:txBody>
      </p:sp>
      <p:sp>
        <p:nvSpPr>
          <p:cNvPr id="5" name="cvs-2">
            <a:extLst xmlns:a="http://schemas.openxmlformats.org/drawingml/2006/main">
              <a:ext uri="{FF2B5EF4-FFF2-40B4-BE49-F238E27FC236}">
                <a16:creationId xmlns:a16="http://schemas.microsoft.com/office/drawing/2014/main" id="{D8901B08-2200-4E51-B059-6D7264F6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♥ CVS Health</a:t>
            </a:r>
          </a:p>
        </p:txBody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C9EE1DC0-8883-48FD-816B-BFCDF6AA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A9C8F7"/>
                </a:solidFill>
              </a:defRPr>
            </a:pPr>
            <a:r>
              <a:rPr sz="900">
                <a:solidFill>
                  <a:srgbClr val="A9C8F7"/>
                </a:solidFill>
              </a:rPr>
              <a:t>Aetna Medicaid Technology   |   2026   |   2</a:t>
            </a:r>
          </a:p>
        </p:txBody>
      </p:sp>
      <p:sp>
        <p:nvSpPr>
          <p:cNvPr id="7" name="s2-title">
            <a:extLst xmlns:a="http://schemas.openxmlformats.org/drawingml/2006/main">
              <a:ext uri="{FF2B5EF4-FFF2-40B4-BE49-F238E27FC236}">
                <a16:creationId xmlns:a16="http://schemas.microsoft.com/office/drawing/2014/main" id="{C0283016-EB99-4F28-9C97-8E3673FE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6.6M transactions processed; 2.3M claims released</a:t>
            </a:r>
          </a:p>
        </p:txBody>
      </p:sp>
      <p:sp>
        <p:nvSpPr>
          <p:cNvPr id="8" name="s2-subtitle">
            <a:extLst xmlns:a="http://schemas.openxmlformats.org/drawingml/2006/main">
              <a:ext uri="{FF2B5EF4-FFF2-40B4-BE49-F238E27FC236}">
                <a16:creationId xmlns:a16="http://schemas.microsoft.com/office/drawing/2014/main" id="{6CD1C663-D642-49D0-8AC6-C1175D25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FD7FF"/>
                </a:solidFill>
              </a:defRPr>
            </a:pPr>
            <a:r>
              <a:rPr sz="1500">
                <a:solidFill>
                  <a:srgbClr val="BFD7FF"/>
                </a:solidFill>
              </a:rPr>
              <a:t>January–July 2026 performance, with 560K hours saved across the automation portfolio.</a:t>
            </a:r>
          </a:p>
        </p:txBody>
      </p:sp>
      <p:sp>
        <p:nvSpPr>
          <p:cNvPr id="9" name="hours-block">
            <a:extLst xmlns:a="http://schemas.openxmlformats.org/drawingml/2006/main">
              <a:ext uri="{FF2B5EF4-FFF2-40B4-BE49-F238E27FC236}">
                <a16:creationId xmlns:a16="http://schemas.microsoft.com/office/drawing/2014/main" id="{02377807-8DFD-4D65-83CF-6EB6AF0C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23336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2C75"/>
          </a:solidFill>
          <a:ln xmlns:a="http://schemas.openxmlformats.org/drawingml/2006/main" w="9525">
            <a:solidFill>
              <a:srgbClr val="1F62B7"/>
            </a:solidFill>
            <a:prstDash val="solid"/>
          </a:ln>
        </p:spPr>
      </p:sp>
      <p:sp>
        <p:nvSpPr>
          <p:cNvPr id="10" name="hours-number">
            <a:extLst xmlns:a="http://schemas.openxmlformats.org/drawingml/2006/main">
              <a:ext uri="{FF2B5EF4-FFF2-40B4-BE49-F238E27FC236}">
                <a16:creationId xmlns:a16="http://schemas.microsoft.com/office/drawing/2014/main" id="{C3773571-B5E6-4715-B0BF-2F82754B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809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45E1B4"/>
                </a:solidFill>
              </a:defRPr>
            </a:pPr>
            <a:r>
              <a:rPr sz="3225" b="1">
                <a:solidFill>
                  <a:srgbClr val="45E1B4"/>
                </a:solidFill>
              </a:rPr>
              <a:t>560K</a:t>
            </a:r>
          </a:p>
        </p:txBody>
      </p:sp>
      <p:sp>
        <p:nvSpPr>
          <p:cNvPr id="11" name="hours-label">
            <a:extLst xmlns:a="http://schemas.openxmlformats.org/drawingml/2006/main">
              <a:ext uri="{FF2B5EF4-FFF2-40B4-BE49-F238E27FC236}">
                <a16:creationId xmlns:a16="http://schemas.microsoft.com/office/drawing/2014/main" id="{0F8E24F7-40CD-4CA2-80CD-CD056E5F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hours saved in 2026</a:t>
            </a:r>
          </a:p>
        </p:txBody>
      </p:sp>
      <p:sp>
        <p:nvSpPr>
          <p:cNvPr id="12" name="processed-block">
            <a:extLst xmlns:a="http://schemas.openxmlformats.org/drawingml/2006/main">
              <a:ext uri="{FF2B5EF4-FFF2-40B4-BE49-F238E27FC236}">
                <a16:creationId xmlns:a16="http://schemas.microsoft.com/office/drawing/2014/main" id="{AD005F32-F089-40A0-B1E6-22859654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09775"/>
            <a:ext cx="23336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2C75"/>
          </a:solidFill>
          <a:ln xmlns:a="http://schemas.openxmlformats.org/drawingml/2006/main" w="9525">
            <a:solidFill>
              <a:srgbClr val="1F62B7"/>
            </a:solidFill>
            <a:prstDash val="solid"/>
          </a:ln>
        </p:spPr>
      </p:sp>
      <p:sp>
        <p:nvSpPr>
          <p:cNvPr id="13" name="processed-number">
            <a:extLst xmlns:a="http://schemas.openxmlformats.org/drawingml/2006/main">
              <a:ext uri="{FF2B5EF4-FFF2-40B4-BE49-F238E27FC236}">
                <a16:creationId xmlns:a16="http://schemas.microsoft.com/office/drawing/2014/main" id="{00C63ECF-0E2E-438B-BC0F-874BE966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6,626,093</a:t>
            </a:r>
          </a:p>
        </p:txBody>
      </p:sp>
      <p:sp>
        <p:nvSpPr>
          <p:cNvPr id="14" name="processed-label">
            <a:extLst xmlns:a="http://schemas.openxmlformats.org/drawingml/2006/main">
              <a:ext uri="{FF2B5EF4-FFF2-40B4-BE49-F238E27FC236}">
                <a16:creationId xmlns:a16="http://schemas.microsoft.com/office/drawing/2014/main" id="{65BCED58-602F-4373-A399-15B0EDDB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5272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FD7FF"/>
                </a:solidFill>
              </a:defRPr>
            </a:pPr>
            <a:r>
              <a:rPr sz="1275">
                <a:solidFill>
                  <a:srgbClr val="BFD7FF"/>
                </a:solidFill>
              </a:rPr>
              <a:t>claim transactions processed</a:t>
            </a:r>
          </a:p>
        </p:txBody>
      </p:sp>
      <p:sp>
        <p:nvSpPr>
          <p:cNvPr id="15" name="released-block">
            <a:extLst xmlns:a="http://schemas.openxmlformats.org/drawingml/2006/main">
              <a:ext uri="{FF2B5EF4-FFF2-40B4-BE49-F238E27FC236}">
                <a16:creationId xmlns:a16="http://schemas.microsoft.com/office/drawing/2014/main" id="{83B90F11-D6DE-4EC8-9B7D-751A6D30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09775"/>
            <a:ext cx="23336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2C75"/>
          </a:solidFill>
          <a:ln xmlns:a="http://schemas.openxmlformats.org/drawingml/2006/main" w="9525">
            <a:solidFill>
              <a:srgbClr val="1F62B7"/>
            </a:solidFill>
            <a:prstDash val="solid"/>
          </a:ln>
        </p:spPr>
      </p:sp>
      <p:sp>
        <p:nvSpPr>
          <p:cNvPr id="16" name="released-number">
            <a:extLst xmlns:a="http://schemas.openxmlformats.org/drawingml/2006/main">
              <a:ext uri="{FF2B5EF4-FFF2-40B4-BE49-F238E27FC236}">
                <a16:creationId xmlns:a16="http://schemas.microsoft.com/office/drawing/2014/main" id="{A72F7278-D0E2-43F7-877F-08ACDB1B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1907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2,335,880</a:t>
            </a:r>
          </a:p>
        </p:txBody>
      </p:sp>
      <p:sp>
        <p:nvSpPr>
          <p:cNvPr id="17" name="released-label">
            <a:extLst xmlns:a="http://schemas.openxmlformats.org/drawingml/2006/main">
              <a:ext uri="{FF2B5EF4-FFF2-40B4-BE49-F238E27FC236}">
                <a16:creationId xmlns:a16="http://schemas.microsoft.com/office/drawing/2014/main" id="{0BED1FCA-FEC2-4B3D-B2DE-DD0EEEE4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75272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FD7FF"/>
                </a:solidFill>
              </a:defRPr>
            </a:pPr>
            <a:r>
              <a:rPr sz="1275">
                <a:solidFill>
                  <a:srgbClr val="BFD7FF"/>
                </a:solidFill>
              </a:rPr>
              <a:t>claims released by bots</a:t>
            </a:r>
          </a:p>
        </p:txBody>
      </p:sp>
      <p:sp>
        <p:nvSpPr>
          <p:cNvPr id="18" name="rate-block">
            <a:extLst xmlns:a="http://schemas.openxmlformats.org/drawingml/2006/main">
              <a:ext uri="{FF2B5EF4-FFF2-40B4-BE49-F238E27FC236}">
                <a16:creationId xmlns:a16="http://schemas.microsoft.com/office/drawing/2014/main" id="{483BBF2F-9158-4E05-B972-DF12D825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009775"/>
            <a:ext cx="32670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A4168"/>
          </a:solidFill>
          <a:ln xmlns:a="http://schemas.openxmlformats.org/drawingml/2006/main" w="9525">
            <a:solidFill>
              <a:srgbClr val="18C9F4"/>
            </a:solidFill>
            <a:prstDash val="solid"/>
          </a:ln>
        </p:spPr>
      </p:sp>
      <p:sp>
        <p:nvSpPr>
          <p:cNvPr id="19" name="rate-number">
            <a:extLst xmlns:a="http://schemas.openxmlformats.org/drawingml/2006/main">
              <a:ext uri="{FF2B5EF4-FFF2-40B4-BE49-F238E27FC236}">
                <a16:creationId xmlns:a16="http://schemas.microsoft.com/office/drawing/2014/main" id="{8FA6967D-C394-4B2B-A182-4596C5EE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52650"/>
            <a:ext cx="266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6EDBFF"/>
                </a:solidFill>
              </a:defRPr>
            </a:pPr>
            <a:r>
              <a:rPr sz="3225" b="1">
                <a:solidFill>
                  <a:srgbClr val="6EDBFF"/>
                </a:solidFill>
              </a:rPr>
              <a:t>35.3%</a:t>
            </a:r>
          </a:p>
        </p:txBody>
      </p:sp>
      <p:sp>
        <p:nvSpPr>
          <p:cNvPr id="20" name="rate-label">
            <a:extLst xmlns:a="http://schemas.openxmlformats.org/drawingml/2006/main">
              <a:ext uri="{FF2B5EF4-FFF2-40B4-BE49-F238E27FC236}">
                <a16:creationId xmlns:a16="http://schemas.microsoft.com/office/drawing/2014/main" id="{C61DD29D-7F78-44AA-85B3-A80CE2AC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52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released-to-processed ratio</a:t>
            </a:r>
          </a:p>
        </p:txBody>
      </p:sp>
      <p:sp>
        <p:nvSpPr>
          <p:cNvPr id="21" name="chart-head">
            <a:extLst xmlns:a="http://schemas.openxmlformats.org/drawingml/2006/main">
              <a:ext uri="{FF2B5EF4-FFF2-40B4-BE49-F238E27FC236}">
                <a16:creationId xmlns:a16="http://schemas.microsoft.com/office/drawing/2014/main" id="{31E9E9F4-466C-4C4C-8A01-0F7DB18C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EDBFF"/>
                </a:solidFill>
              </a:defRPr>
            </a:pPr>
            <a:r>
              <a:rPr sz="1275" b="1">
                <a:solidFill>
                  <a:srgbClr val="6EDBFF"/>
                </a:solidFill>
              </a:rPr>
              <a:t>MONTHLY CLAIM VOLUME</a:t>
            </a:r>
          </a:p>
        </p:txBody>
      </p:sp>
      <p:sp>
        <p:nvSpPr>
          <p:cNvPr id="22" name="chart-bg">
            <a:extLst xmlns:a="http://schemas.openxmlformats.org/drawingml/2006/main">
              <a:ext uri="{FF2B5EF4-FFF2-40B4-BE49-F238E27FC236}">
                <a16:creationId xmlns:a16="http://schemas.microsoft.com/office/drawing/2014/main" id="{AD4AEFF5-2068-4A52-8A7A-2BEF004A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8620125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B7D0EF"/>
            </a:solidFill>
            <a:prstDash val="solid"/>
          </a:ln>
        </p:spPr>
      </p:sp>
      <p:graphicFrame>
        <p:nvGraphicFramePr>
          <p:cNvPr id="47" name="Chart"/>
          <p:cNvGraphicFramePr/>
          <p:nvPr/>
        </p:nvGraphicFramePr>
        <p:xfrm>
          <a:off xmlns:a="http://schemas.openxmlformats.org/drawingml/2006/main" x="914400" y="4114800"/>
          <a:ext xmlns:a="http://schemas.openxmlformats.org/drawingml/2006/main" cx="81438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7c59e61d18446c"/>
          </a:graphicData>
        </a:graphic>
      </p:graphicFrame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bc2cb68cc4e13"/>
          <a:srcRect xmlns:a="http://schemas.openxmlformats.org/drawingml/2006/main" l="0" t="9568" r="0" b="9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7850" y="3638550"/>
            <a:ext cx="2057400" cy="249555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</p:spTree>
    <p:extLst>
      <p:ext uri="{BB962C8B-B14F-4D97-AF65-F5344CB8AC3E}">
        <p14:creationId xmlns:p14="http://schemas.microsoft.com/office/powerpoint/2010/main" val="383911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2026-08-25T18:39:06.5260000Z</dcterms:created>
  <dcterms:modified xsi:type="dcterms:W3CDTF">2026-08-25T18:39:06.5260000Z</dcterms:modified>
</coreProperties>
</file>