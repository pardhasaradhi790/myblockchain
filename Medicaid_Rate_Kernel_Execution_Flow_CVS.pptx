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193743fd74a4add" /><Relationship Type="http://schemas.openxmlformats.org/officeDocument/2006/relationships/extended-properties" Target="/docProps/app.xml" Id="R1d6e9fd253e441b9" /><Relationship Type="http://schemas.openxmlformats.org/officeDocument/2006/relationships/officeDocument" Target="/ppt/presentation.xml" Id="R2182eae684d24e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60517a10664327"/>
  </p:sldMasterIdLst>
  <p:notesMasterIdLst>
    <p:notesMasterId xmlns:r="http://schemas.openxmlformats.org/officeDocument/2006/relationships" r:id="Rfde9b800155b4d17"/>
  </p:notesMasterIdLst>
  <p:sldIdLst>
    <p:sldId xmlns:r="http://schemas.openxmlformats.org/officeDocument/2006/relationships" id="256" r:id="R8da0b10699364f18"/>
    <p:sldId xmlns:r="http://schemas.openxmlformats.org/officeDocument/2006/relationships" id="257" r:id="R0cf47d0855094d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9c0f9833aee4a3f" /><Relationship Type="http://schemas.openxmlformats.org/officeDocument/2006/relationships/slideMaster" Target="/ppt/slideMasters/slideMaster1.xml" Id="Rcf60517a10664327" /><Relationship Type="http://schemas.openxmlformats.org/officeDocument/2006/relationships/notesMaster" Target="/ppt/notesMasters/notesMaster1.xml" Id="Rfde9b800155b4d17" /><Relationship Type="http://schemas.openxmlformats.org/officeDocument/2006/relationships/presProps" Target="/ppt/presProps.xml" Id="R37dc94211cc64c83" /><Relationship Type="http://schemas.openxmlformats.org/officeDocument/2006/relationships/tableStyles" Target="/ppt/tableStyles.xml" Id="R40c6ac00019946df" /><Relationship Type="http://schemas.openxmlformats.org/officeDocument/2006/relationships/slide" Target="/ppt/slides/slide1.xml" Id="R8da0b10699364f18" /><Relationship Type="http://schemas.openxmlformats.org/officeDocument/2006/relationships/slide" Target="/ppt/slides/slide2.xml" Id="R0cf47d0855094d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e7067fcf504a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279b20a5144d3c" /><Relationship Type="http://schemas.openxmlformats.org/officeDocument/2006/relationships/notesMaster" Target="/ppt/notesMasters/notesMaster1.xml" Id="R5937a1b0e3154b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c19b121e274fc2" /><Relationship Type="http://schemas.openxmlformats.org/officeDocument/2006/relationships/notesMaster" Target="/ppt/notesMasters/notesMaster1.xml" Id="R2893fd306c5f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3e0d91ab94a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928bf062024001" /><Relationship Type="http://schemas.openxmlformats.org/officeDocument/2006/relationships/slideLayout" Target="/ppt/slideLayouts/slideLayout1.xml" Id="R726585b95e2e43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6585b95e2e43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e1530f4f284469" /><Relationship Type="http://schemas.openxmlformats.org/officeDocument/2006/relationships/image" Target="/ppt/media/image.png" Id="R1872f0573c074a29" /><Relationship Type="http://schemas.openxmlformats.org/officeDocument/2006/relationships/image" Target="/ppt/media/image2.png" Id="R3a67948721c544d9" /><Relationship Type="http://schemas.openxmlformats.org/officeDocument/2006/relationships/image" Target="/ppt/media/image3.png" Id="R4cf6cdcb0e1742bd" /><Relationship Type="http://schemas.openxmlformats.org/officeDocument/2006/relationships/image" Target="/ppt/media/image4.png" Id="R609d86413a3c4309" /><Relationship Type="http://schemas.openxmlformats.org/officeDocument/2006/relationships/image" Target="/ppt/media/image5.png" Id="R407ba865dc56415a" /><Relationship Type="http://schemas.openxmlformats.org/officeDocument/2006/relationships/image" Target="/ppt/media/image6.png" Id="Rad6378666f1e49b1" /><Relationship Type="http://schemas.openxmlformats.org/officeDocument/2006/relationships/notesSlide" Target="/ppt/notesSlides/notesSlide1.xml" Id="R343dccb032b84d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7517550f34ed9" /><Relationship Type="http://schemas.openxmlformats.org/officeDocument/2006/relationships/image" Target="/ppt/media/image7.png" Id="R3a1c25c4e637480e" /><Relationship Type="http://schemas.openxmlformats.org/officeDocument/2006/relationships/image" Target="/ppt/media/image8.png" Id="R5ef2ebacd1984791" /><Relationship Type="http://schemas.openxmlformats.org/officeDocument/2006/relationships/image" Target="/ppt/media/image9.png" Id="R5f46f94a8fdd4073" /><Relationship Type="http://schemas.openxmlformats.org/officeDocument/2006/relationships/image" Target="/ppt/media/image10.png" Id="R184e556286fb47de" /><Relationship Type="http://schemas.openxmlformats.org/officeDocument/2006/relationships/image" Target="/ppt/media/image11.png" Id="Rc7b2fa1b36834be7" /><Relationship Type="http://schemas.openxmlformats.org/officeDocument/2006/relationships/image" Target="/ppt/media/image12.png" Id="R1e780305a3854230" /><Relationship Type="http://schemas.openxmlformats.org/officeDocument/2006/relationships/notesSlide" Target="/ppt/notesSlides/notesSlide2.xml" Id="R6486a66d84204c7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top-band">
            <a:extLst xmlns:a="http://schemas.openxmlformats.org/drawingml/2006/main">
              <a:ext uri="{FF2B5EF4-FFF2-40B4-BE49-F238E27FC236}">
                <a16:creationId xmlns:a16="http://schemas.microsoft.com/office/drawing/2014/main" id="{2684246C-4E36-49A5-B14C-230B1FA9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71A33"/>
            </a:solidFill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08C665CA-9D7D-47DB-A5C2-B0599FF0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D81EAC-F935-4E1D-B08C-AC3EB52B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Medicaid Rate Kernel Modules and Tasks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E482BB2-31CA-437D-B635-E6114135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8E8"/>
                </a:solidFill>
                <a:latin typeface="Aptos"/>
                <a:ea typeface="Aptos"/>
                <a:cs typeface="Aptos"/>
              </a:rPr>
              <a:t>Execution proceeds through five controlled stages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7297B2D-4381-44E5-A726-61BC9F23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EA"/>
          </a:solidFill>
          <a:ln xmlns:a="http://schemas.openxmlformats.org/drawingml/2006/main" w="0">
            <a:solidFill>
              <a:srgbClr val="D3DFEA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FA18D17-3830-4A21-9F5D-4999BC53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Medicaid Rate Kernel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C00E6353-0559-40E8-B2B6-DD2BB444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2f0573c074a29"/>
          <a:stretch xmlns:a="http://schemas.openxmlformats.org/drawingml/2006/main"/>
        </p:blipFill>
        <p:spPr>
          <a:xfrm xmlns:a="http://schemas.openxmlformats.org/drawingml/2006/main">
            <a:off x="10365105" y="6524625"/>
            <a:ext cx="1062990" cy="257175"/>
          </a:xfrm>
          <a:prstGeom xmlns:a="http://schemas.openxmlformats.org/drawingml/2006/main" prst="rect">
            <a:avLst/>
          </a:prstGeom>
        </p:spPr>
      </p:pic>
      <p:sp>
        <p:nvSpPr>
          <p:cNvPr id="9" name="execution-stage-0">
            <a:extLst xmlns:a="http://schemas.openxmlformats.org/drawingml/2006/main">
              <a:ext uri="{FF2B5EF4-FFF2-40B4-BE49-F238E27FC236}">
                <a16:creationId xmlns:a16="http://schemas.microsoft.com/office/drawing/2014/main" id="{2CCD7C70-52A1-4F92-ADD2-D829ED4A6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10" name="execution-stage-label-0">
            <a:extLst xmlns:a="http://schemas.openxmlformats.org/drawingml/2006/main">
              <a:ext uri="{FF2B5EF4-FFF2-40B4-BE49-F238E27FC236}">
                <a16:creationId xmlns:a16="http://schemas.microsoft.com/office/drawing/2014/main" id="{44E90779-8F81-49AF-9BC3-FBAA7C90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  File Download</a:t>
            </a:r>
          </a:p>
        </p:txBody>
      </p:sp>
      <p:sp>
        <p:nvSpPr>
          <p:cNvPr id="11" name="execution-stage-1">
            <a:extLst xmlns:a="http://schemas.openxmlformats.org/drawingml/2006/main">
              <a:ext uri="{FF2B5EF4-FFF2-40B4-BE49-F238E27FC236}">
                <a16:creationId xmlns:a16="http://schemas.microsoft.com/office/drawing/2014/main" id="{0EAE6FF2-0D40-432E-AD46-0E574A11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8915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12" name="execution-stage-label-1">
            <a:extLst xmlns:a="http://schemas.openxmlformats.org/drawingml/2006/main">
              <a:ext uri="{FF2B5EF4-FFF2-40B4-BE49-F238E27FC236}">
                <a16:creationId xmlns:a16="http://schemas.microsoft.com/office/drawing/2014/main" id="{F833A92E-681A-4FAA-AD4F-AD13162D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115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  File Extraction</a:t>
            </a:r>
          </a:p>
        </p:txBody>
      </p:sp>
      <p:sp>
        <p:nvSpPr>
          <p:cNvPr id="13" name="execution-stage-2">
            <a:extLst xmlns:a="http://schemas.openxmlformats.org/drawingml/2006/main">
              <a:ext uri="{FF2B5EF4-FFF2-40B4-BE49-F238E27FC236}">
                <a16:creationId xmlns:a16="http://schemas.microsoft.com/office/drawing/2014/main" id="{BCCB7752-789E-45BD-BBBB-C0FBCC46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30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14" name="execution-stage-label-2">
            <a:extLst xmlns:a="http://schemas.openxmlformats.org/drawingml/2006/main">
              <a:ext uri="{FF2B5EF4-FFF2-40B4-BE49-F238E27FC236}">
                <a16:creationId xmlns:a16="http://schemas.microsoft.com/office/drawing/2014/main" id="{D43D8090-CF55-4FA6-B7F2-5F9A6B4D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8730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  Data Interpretation</a:t>
            </a:r>
          </a:p>
        </p:txBody>
      </p:sp>
      <p:sp>
        <p:nvSpPr>
          <p:cNvPr id="15" name="execution-stage-3">
            <a:extLst xmlns:a="http://schemas.openxmlformats.org/drawingml/2006/main">
              <a:ext uri="{FF2B5EF4-FFF2-40B4-BE49-F238E27FC236}">
                <a16:creationId xmlns:a16="http://schemas.microsoft.com/office/drawing/2014/main" id="{DE7C6944-CB97-49DE-BEAC-7A1FD86C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16" name="execution-stage-label-3">
            <a:extLst xmlns:a="http://schemas.openxmlformats.org/drawingml/2006/main">
              <a:ext uri="{FF2B5EF4-FFF2-40B4-BE49-F238E27FC236}">
                <a16:creationId xmlns:a16="http://schemas.microsoft.com/office/drawing/2014/main" id="{8598EE8E-FAF6-4B18-AF85-D03104C1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  Data Comparison</a:t>
            </a:r>
          </a:p>
        </p:txBody>
      </p:sp>
      <p:sp>
        <p:nvSpPr>
          <p:cNvPr id="17" name="execution-stage-4">
            <a:extLst xmlns:a="http://schemas.openxmlformats.org/drawingml/2006/main">
              <a:ext uri="{FF2B5EF4-FFF2-40B4-BE49-F238E27FC236}">
                <a16:creationId xmlns:a16="http://schemas.microsoft.com/office/drawing/2014/main" id="{92554AB6-C4F9-49BF-9D8D-DC8C65DD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981075"/>
            <a:ext cx="218694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8" name="execution-stage-label-4">
            <a:extLst xmlns:a="http://schemas.openxmlformats.org/drawingml/2006/main">
              <a:ext uri="{FF2B5EF4-FFF2-40B4-BE49-F238E27FC236}">
                <a16:creationId xmlns:a16="http://schemas.microsoft.com/office/drawing/2014/main" id="{12E2B09D-5D09-46B8-AC49-17587FA9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028700"/>
            <a:ext cx="203454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  Data Load</a:t>
            </a:r>
          </a:p>
        </p:txBody>
      </p:sp>
      <p:sp>
        <p:nvSpPr>
          <p:cNvPr id="19" name="card-0">
            <a:extLst xmlns:a="http://schemas.openxmlformats.org/drawingml/2006/main">
              <a:ext uri="{FF2B5EF4-FFF2-40B4-BE49-F238E27FC236}">
                <a16:creationId xmlns:a16="http://schemas.microsoft.com/office/drawing/2014/main" id="{764C5B6B-7DCB-4551-9A5C-D58B2EF0D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6385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0" name="cap-0">
            <a:extLst xmlns:a="http://schemas.openxmlformats.org/drawingml/2006/main">
              <a:ext uri="{FF2B5EF4-FFF2-40B4-BE49-F238E27FC236}">
                <a16:creationId xmlns:a16="http://schemas.microsoft.com/office/drawing/2014/main" id="{447D0C1A-90AE-4734-9EDE-D1F5ECF4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1381125" cy="2143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1" name="step-0">
            <a:extLst xmlns:a="http://schemas.openxmlformats.org/drawingml/2006/main">
              <a:ext uri="{FF2B5EF4-FFF2-40B4-BE49-F238E27FC236}">
                <a16:creationId xmlns:a16="http://schemas.microsoft.com/office/drawing/2014/main" id="{A23D9257-035B-4E6F-9E4C-E6811E24D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pic>
        <p:nvPicPr>
          <p:cNvPr id="1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7948721c544d9"/>
          <a:stretch xmlns:a="http://schemas.openxmlformats.org/drawingml/2006/main"/>
        </p:blipFill>
        <p:spPr>
          <a:xfrm xmlns:a="http://schemas.openxmlformats.org/drawingml/2006/main">
            <a:off x="882550" y="1762125"/>
            <a:ext cx="425649" cy="704850"/>
          </a:xfrm>
          <a:prstGeom xmlns:a="http://schemas.openxmlformats.org/drawingml/2006/main" prst="rect">
            <a:avLst/>
          </a:prstGeom>
        </p:spPr>
      </p:pic>
      <p:sp>
        <p:nvSpPr>
          <p:cNvPr id="23" name="module-0">
            <a:extLst xmlns:a="http://schemas.openxmlformats.org/drawingml/2006/main">
              <a:ext uri="{FF2B5EF4-FFF2-40B4-BE49-F238E27FC236}">
                <a16:creationId xmlns:a16="http://schemas.microsoft.com/office/drawing/2014/main" id="{8938ADE2-557F-487D-9767-CA6C1B09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24" name="proc-label-0">
            <a:extLst xmlns:a="http://schemas.openxmlformats.org/drawingml/2006/main">
              <a:ext uri="{FF2B5EF4-FFF2-40B4-BE49-F238E27FC236}">
                <a16:creationId xmlns:a16="http://schemas.microsoft.com/office/drawing/2014/main" id="{4058BA97-AA39-4459-8B31-4B49D197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25" name="proc-0">
            <a:extLst xmlns:a="http://schemas.openxmlformats.org/drawingml/2006/main">
              <a:ext uri="{FF2B5EF4-FFF2-40B4-BE49-F238E27FC236}">
                <a16:creationId xmlns:a16="http://schemas.microsoft.com/office/drawing/2014/main" id="{8E684DA0-8CD5-433E-962A-583AE025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412</a:t>
            </a:r>
          </a:p>
        </p:txBody>
      </p:sp>
      <p:sp>
        <p:nvSpPr>
          <p:cNvPr id="26" name="task-label-0">
            <a:extLst xmlns:a="http://schemas.openxmlformats.org/drawingml/2006/main">
              <a:ext uri="{FF2B5EF4-FFF2-40B4-BE49-F238E27FC236}">
                <a16:creationId xmlns:a16="http://schemas.microsoft.com/office/drawing/2014/main" id="{C2781541-B54C-4DB5-B4C7-7B9852F2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647825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27" name="task-line-0-0">
            <a:extLst xmlns:a="http://schemas.openxmlformats.org/drawingml/2006/main">
              <a:ext uri="{FF2B5EF4-FFF2-40B4-BE49-F238E27FC236}">
                <a16:creationId xmlns:a16="http://schemas.microsoft.com/office/drawing/2014/main" id="{EF9F9CA3-C98C-471C-B801-0EB7F8136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28" name="task-0-0">
            <a:extLst xmlns:a="http://schemas.openxmlformats.org/drawingml/2006/main">
              <a:ext uri="{FF2B5EF4-FFF2-40B4-BE49-F238E27FC236}">
                <a16:creationId xmlns:a16="http://schemas.microsoft.com/office/drawing/2014/main" id="{C36FA65D-9F13-486E-8C3B-8B135D14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91452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Discovery</a:t>
            </a:r>
          </a:p>
        </p:txBody>
      </p:sp>
      <p:sp>
        <p:nvSpPr>
          <p:cNvPr id="29" name="task-line-0-1">
            <a:extLst xmlns:a="http://schemas.openxmlformats.org/drawingml/2006/main">
              <a:ext uri="{FF2B5EF4-FFF2-40B4-BE49-F238E27FC236}">
                <a16:creationId xmlns:a16="http://schemas.microsoft.com/office/drawing/2014/main" id="{AFA2CC82-6458-4FFF-B510-7B4F9588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31838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0" name="task-0-1">
            <a:extLst xmlns:a="http://schemas.openxmlformats.org/drawingml/2006/main">
              <a:ext uri="{FF2B5EF4-FFF2-40B4-BE49-F238E27FC236}">
                <a16:creationId xmlns:a16="http://schemas.microsoft.com/office/drawing/2014/main" id="{4DFD1D31-A817-4494-84ED-F406473E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24218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81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Navigate to Download Location</a:t>
            </a:r>
          </a:p>
        </p:txBody>
      </p:sp>
      <p:sp>
        <p:nvSpPr>
          <p:cNvPr id="31" name="task-line-0-2">
            <a:extLst xmlns:a="http://schemas.openxmlformats.org/drawingml/2006/main">
              <a:ext uri="{FF2B5EF4-FFF2-40B4-BE49-F238E27FC236}">
                <a16:creationId xmlns:a16="http://schemas.microsoft.com/office/drawing/2014/main" id="{4394C3E9-20B5-488B-A998-44108127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4604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2" name="task-0-2">
            <a:extLst xmlns:a="http://schemas.openxmlformats.org/drawingml/2006/main">
              <a:ext uri="{FF2B5EF4-FFF2-40B4-BE49-F238E27FC236}">
                <a16:creationId xmlns:a16="http://schemas.microsoft.com/office/drawing/2014/main" id="{3C85FB4B-F217-4150-B60D-5A9A61E7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56984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55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Availability Validation</a:t>
            </a:r>
          </a:p>
        </p:txBody>
      </p:sp>
      <p:sp>
        <p:nvSpPr>
          <p:cNvPr id="33" name="task-line-0-3">
            <a:extLst xmlns:a="http://schemas.openxmlformats.org/drawingml/2006/main">
              <a:ext uri="{FF2B5EF4-FFF2-40B4-BE49-F238E27FC236}">
                <a16:creationId xmlns:a16="http://schemas.microsoft.com/office/drawing/2014/main" id="{9CFD3365-4B6B-4362-A081-5B1B06AE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7370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4" name="task-0-3">
            <a:extLst xmlns:a="http://schemas.openxmlformats.org/drawingml/2006/main">
              <a:ext uri="{FF2B5EF4-FFF2-40B4-BE49-F238E27FC236}">
                <a16:creationId xmlns:a16="http://schemas.microsoft.com/office/drawing/2014/main" id="{DA774C17-A5BF-4081-BB24-1C7F35AF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9750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35" name="task-line-0-4">
            <a:extLst xmlns:a="http://schemas.openxmlformats.org/drawingml/2006/main">
              <a:ext uri="{FF2B5EF4-FFF2-40B4-BE49-F238E27FC236}">
                <a16:creationId xmlns:a16="http://schemas.microsoft.com/office/drawing/2014/main" id="{DB9F2F5D-7EA5-4F9A-A575-034045ED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0136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sp>
        <p:nvSpPr>
          <p:cNvPr id="36" name="task-0-4">
            <a:extLst xmlns:a="http://schemas.openxmlformats.org/drawingml/2006/main">
              <a:ext uri="{FF2B5EF4-FFF2-40B4-BE49-F238E27FC236}">
                <a16:creationId xmlns:a16="http://schemas.microsoft.com/office/drawing/2014/main" id="{222E7B46-5B6E-4F76-B098-43EE018F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25165"/>
            <a:ext cx="1724025" cy="3181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File Post Validation</a:t>
            </a:r>
          </a:p>
        </p:txBody>
      </p:sp>
      <p:sp>
        <p:nvSpPr>
          <p:cNvPr id="37" name="card-1">
            <a:extLst xmlns:a="http://schemas.openxmlformats.org/drawingml/2006/main">
              <a:ext uri="{FF2B5EF4-FFF2-40B4-BE49-F238E27FC236}">
                <a16:creationId xmlns:a16="http://schemas.microsoft.com/office/drawing/2014/main" id="{239F2347-F170-459F-9B61-D4D8D973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6385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8" name="cap-1">
            <a:extLst xmlns:a="http://schemas.openxmlformats.org/drawingml/2006/main">
              <a:ext uri="{FF2B5EF4-FFF2-40B4-BE49-F238E27FC236}">
                <a16:creationId xmlns:a16="http://schemas.microsoft.com/office/drawing/2014/main" id="{FCDC25EA-2061-4CFD-9ECF-4F3638BC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1381125" cy="2143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39" name="step-1">
            <a:extLst xmlns:a="http://schemas.openxmlformats.org/drawingml/2006/main">
              <a:ext uri="{FF2B5EF4-FFF2-40B4-BE49-F238E27FC236}">
                <a16:creationId xmlns:a16="http://schemas.microsoft.com/office/drawing/2014/main" id="{62EB4136-AA3E-43B0-9AAB-B4730A3D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716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6cdcb0e1742bd"/>
          <a:stretch xmlns:a="http://schemas.openxmlformats.org/drawingml/2006/main"/>
        </p:blipFill>
        <p:spPr>
          <a:xfrm xmlns:a="http://schemas.openxmlformats.org/drawingml/2006/main">
            <a:off x="4650236" y="1762125"/>
            <a:ext cx="434078" cy="704850"/>
          </a:xfrm>
          <a:prstGeom xmlns:a="http://schemas.openxmlformats.org/drawingml/2006/main" prst="rect">
            <a:avLst/>
          </a:prstGeom>
        </p:spPr>
      </p:pic>
      <p:sp>
        <p:nvSpPr>
          <p:cNvPr id="41" name="module-1">
            <a:extLst xmlns:a="http://schemas.openxmlformats.org/drawingml/2006/main">
              <a:ext uri="{FF2B5EF4-FFF2-40B4-BE49-F238E27FC236}">
                <a16:creationId xmlns:a16="http://schemas.microsoft.com/office/drawing/2014/main" id="{E29F9E55-4FA8-49E7-9A6C-CF88F8A5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1460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Extraction</a:t>
            </a:r>
          </a:p>
        </p:txBody>
      </p:sp>
      <p:sp>
        <p:nvSpPr>
          <p:cNvPr id="42" name="proc-label-1">
            <a:extLst xmlns:a="http://schemas.openxmlformats.org/drawingml/2006/main">
              <a:ext uri="{FF2B5EF4-FFF2-40B4-BE49-F238E27FC236}">
                <a16:creationId xmlns:a16="http://schemas.microsoft.com/office/drawing/2014/main" id="{92446860-2484-4FA8-9085-1AE0BAA0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289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43" name="proc-1">
            <a:extLst xmlns:a="http://schemas.openxmlformats.org/drawingml/2006/main">
              <a:ext uri="{FF2B5EF4-FFF2-40B4-BE49-F238E27FC236}">
                <a16:creationId xmlns:a16="http://schemas.microsoft.com/office/drawing/2014/main" id="{D9E66AD5-0FFE-4C3B-A12C-B65A1BF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194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44" name="task-label-1">
            <a:extLst xmlns:a="http://schemas.openxmlformats.org/drawingml/2006/main">
              <a:ext uri="{FF2B5EF4-FFF2-40B4-BE49-F238E27FC236}">
                <a16:creationId xmlns:a16="http://schemas.microsoft.com/office/drawing/2014/main" id="{C19F91E1-1A25-4B2A-9107-1ED762F0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647825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865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865F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45" name="task-line-1-0">
            <a:extLst xmlns:a="http://schemas.openxmlformats.org/drawingml/2006/main">
              <a:ext uri="{FF2B5EF4-FFF2-40B4-BE49-F238E27FC236}">
                <a16:creationId xmlns:a16="http://schemas.microsoft.com/office/drawing/2014/main" id="{2B65C77D-EEED-4313-B56E-85CA93B7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46" name="task-1-0">
            <a:extLst xmlns:a="http://schemas.openxmlformats.org/drawingml/2006/main">
              <a:ext uri="{FF2B5EF4-FFF2-40B4-BE49-F238E27FC236}">
                <a16:creationId xmlns:a16="http://schemas.microsoft.com/office/drawing/2014/main" id="{7714B7B7-7C56-467E-B0A6-153C1B4D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91452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Relevant Data</a:t>
            </a:r>
          </a:p>
        </p:txBody>
      </p:sp>
      <p:sp>
        <p:nvSpPr>
          <p:cNvPr id="47" name="task-line-1-1">
            <a:extLst xmlns:a="http://schemas.openxmlformats.org/drawingml/2006/main">
              <a:ext uri="{FF2B5EF4-FFF2-40B4-BE49-F238E27FC236}">
                <a16:creationId xmlns:a16="http://schemas.microsoft.com/office/drawing/2014/main" id="{57E50AA2-286F-4A70-9EA5-236AB5D3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400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48" name="task-1-1">
            <a:extLst xmlns:a="http://schemas.openxmlformats.org/drawingml/2006/main">
              <a:ext uri="{FF2B5EF4-FFF2-40B4-BE49-F238E27FC236}">
                <a16:creationId xmlns:a16="http://schemas.microsoft.com/office/drawing/2014/main" id="{9723750F-A627-41FF-B60C-9D2BF6DDA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2410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Extract Required Data</a:t>
            </a:r>
          </a:p>
        </p:txBody>
      </p:sp>
      <p:sp>
        <p:nvSpPr>
          <p:cNvPr id="49" name="task-line-1-2">
            <a:extLst xmlns:a="http://schemas.openxmlformats.org/drawingml/2006/main">
              <a:ext uri="{FF2B5EF4-FFF2-40B4-BE49-F238E27FC236}">
                <a16:creationId xmlns:a16="http://schemas.microsoft.com/office/drawing/2014/main" id="{C4ADA5BE-930E-41FC-B16E-FBC56D92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2809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50" name="task-1-2">
            <a:extLst xmlns:a="http://schemas.openxmlformats.org/drawingml/2006/main">
              <a:ext uri="{FF2B5EF4-FFF2-40B4-BE49-F238E27FC236}">
                <a16:creationId xmlns:a16="http://schemas.microsoft.com/office/drawing/2014/main" id="{F5D03E89-5A79-47AC-AD68-21B57FE8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733675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Transform &amp; Standardize Data</a:t>
            </a:r>
          </a:p>
        </p:txBody>
      </p:sp>
      <p:sp>
        <p:nvSpPr>
          <p:cNvPr id="51" name="task-line-1-3">
            <a:extLst xmlns:a="http://schemas.openxmlformats.org/drawingml/2006/main">
              <a:ext uri="{FF2B5EF4-FFF2-40B4-BE49-F238E27FC236}">
                <a16:creationId xmlns:a16="http://schemas.microsoft.com/office/drawing/2014/main" id="{8578B557-65E2-4B20-BEC7-825B7DAD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sp>
        <p:nvSpPr>
          <p:cNvPr id="52" name="task-1-3">
            <a:extLst xmlns:a="http://schemas.openxmlformats.org/drawingml/2006/main">
              <a:ext uri="{FF2B5EF4-FFF2-40B4-BE49-F238E27FC236}">
                <a16:creationId xmlns:a16="http://schemas.microsoft.com/office/drawing/2014/main" id="{B936EE0B-0452-4B20-BF7B-E47C355D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43250"/>
            <a:ext cx="1724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Data Validation</a:t>
            </a:r>
          </a:p>
        </p:txBody>
      </p:sp>
      <p:sp>
        <p:nvSpPr>
          <p:cNvPr id="53" name="card-2">
            <a:extLst xmlns:a="http://schemas.openxmlformats.org/drawingml/2006/main">
              <a:ext uri="{FF2B5EF4-FFF2-40B4-BE49-F238E27FC236}">
                <a16:creationId xmlns:a16="http://schemas.microsoft.com/office/drawing/2014/main" id="{67BB3ADE-F821-4C30-B2A1-24BFFB234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6385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4" name="cap-2">
            <a:extLst xmlns:a="http://schemas.openxmlformats.org/drawingml/2006/main">
              <a:ext uri="{FF2B5EF4-FFF2-40B4-BE49-F238E27FC236}">
                <a16:creationId xmlns:a16="http://schemas.microsoft.com/office/drawing/2014/main" id="{110975F2-3297-400B-AB0B-0E2A3713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1381125" cy="2143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55" name="step-2">
            <a:extLst xmlns:a="http://schemas.openxmlformats.org/drawingml/2006/main">
              <a:ext uri="{FF2B5EF4-FFF2-40B4-BE49-F238E27FC236}">
                <a16:creationId xmlns:a16="http://schemas.microsoft.com/office/drawing/2014/main" id="{4E94A85E-2A32-4C6A-A08D-01DB82AF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71625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d86413a3c4309"/>
          <a:stretch xmlns:a="http://schemas.openxmlformats.org/drawingml/2006/main"/>
        </p:blipFill>
        <p:spPr>
          <a:xfrm xmlns:a="http://schemas.openxmlformats.org/drawingml/2006/main">
            <a:off x="8417945" y="1762125"/>
            <a:ext cx="442461" cy="704850"/>
          </a:xfrm>
          <a:prstGeom xmlns:a="http://schemas.openxmlformats.org/drawingml/2006/main" prst="rect">
            <a:avLst/>
          </a:prstGeom>
        </p:spPr>
      </p:pic>
      <p:sp>
        <p:nvSpPr>
          <p:cNvPr id="57" name="module-2">
            <a:extLst xmlns:a="http://schemas.openxmlformats.org/drawingml/2006/main">
              <a:ext uri="{FF2B5EF4-FFF2-40B4-BE49-F238E27FC236}">
                <a16:creationId xmlns:a16="http://schemas.microsoft.com/office/drawing/2014/main" id="{867DA336-BCD1-475C-A4DB-E293A970C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14600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758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Interpretation</a:t>
            </a:r>
          </a:p>
        </p:txBody>
      </p:sp>
      <p:sp>
        <p:nvSpPr>
          <p:cNvPr id="58" name="proc-label-2">
            <a:extLst xmlns:a="http://schemas.openxmlformats.org/drawingml/2006/main">
              <a:ext uri="{FF2B5EF4-FFF2-40B4-BE49-F238E27FC236}">
                <a16:creationId xmlns:a16="http://schemas.microsoft.com/office/drawing/2014/main" id="{038A8F5B-569E-41F4-B670-55D43E7B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28950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59" name="proc-2">
            <a:extLst xmlns:a="http://schemas.openxmlformats.org/drawingml/2006/main">
              <a:ext uri="{FF2B5EF4-FFF2-40B4-BE49-F238E27FC236}">
                <a16:creationId xmlns:a16="http://schemas.microsoft.com/office/drawing/2014/main" id="{EFD40218-5A74-4815-8D27-8994DB35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19450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60" name="task-label-2">
            <a:extLst xmlns:a="http://schemas.openxmlformats.org/drawingml/2006/main">
              <a:ext uri="{FF2B5EF4-FFF2-40B4-BE49-F238E27FC236}">
                <a16:creationId xmlns:a16="http://schemas.microsoft.com/office/drawing/2014/main" id="{C1915DED-E27C-4C58-9306-6DA985CD6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647825"/>
            <a:ext cx="1895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48C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7048C2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61" name="task-line-2-0">
            <a:extLst xmlns:a="http://schemas.openxmlformats.org/drawingml/2006/main">
              <a:ext uri="{FF2B5EF4-FFF2-40B4-BE49-F238E27FC236}">
                <a16:creationId xmlns:a16="http://schemas.microsoft.com/office/drawing/2014/main" id="{32A409BF-481C-491E-8AC6-E964A6F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1990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2" name="task-2-0">
            <a:extLst xmlns:a="http://schemas.openxmlformats.org/drawingml/2006/main">
              <a:ext uri="{FF2B5EF4-FFF2-40B4-BE49-F238E27FC236}">
                <a16:creationId xmlns:a16="http://schemas.microsoft.com/office/drawing/2014/main" id="{4660FCDC-B361-4885-96C0-725D435F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914525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61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Data Parsing</a:t>
            </a:r>
          </a:p>
        </p:txBody>
      </p:sp>
      <p:sp>
        <p:nvSpPr>
          <p:cNvPr id="63" name="task-line-2-1">
            <a:extLst xmlns:a="http://schemas.openxmlformats.org/drawingml/2006/main">
              <a:ext uri="{FF2B5EF4-FFF2-40B4-BE49-F238E27FC236}">
                <a16:creationId xmlns:a16="http://schemas.microsoft.com/office/drawing/2014/main" id="{C51F1C7D-5B6E-4CD5-AA16-6A02EA23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224768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4" name="task-2-1">
            <a:extLst xmlns:a="http://schemas.openxmlformats.org/drawingml/2006/main">
              <a:ext uri="{FF2B5EF4-FFF2-40B4-BE49-F238E27FC236}">
                <a16:creationId xmlns:a16="http://schemas.microsoft.com/office/drawing/2014/main" id="{D39DF590-0C5C-4E4C-AC3E-189342D8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148568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61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Understand Data Context</a:t>
            </a:r>
          </a:p>
        </p:txBody>
      </p:sp>
      <p:sp>
        <p:nvSpPr>
          <p:cNvPr id="65" name="task-line-2-2">
            <a:extLst xmlns:a="http://schemas.openxmlformats.org/drawingml/2006/main">
              <a:ext uri="{FF2B5EF4-FFF2-40B4-BE49-F238E27FC236}">
                <a16:creationId xmlns:a16="http://schemas.microsoft.com/office/drawing/2014/main" id="{12F9AB3D-EA1C-4422-96AB-B3FD018E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458811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6" name="task-2-2">
            <a:extLst xmlns:a="http://schemas.openxmlformats.org/drawingml/2006/main">
              <a:ext uri="{FF2B5EF4-FFF2-40B4-BE49-F238E27FC236}">
                <a16:creationId xmlns:a16="http://schemas.microsoft.com/office/drawing/2014/main" id="{ECAD164F-43B5-4F12-BD8A-B61FCDA0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82611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61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Analyze Data Patterns</a:t>
            </a:r>
          </a:p>
        </p:txBody>
      </p:sp>
      <p:sp>
        <p:nvSpPr>
          <p:cNvPr id="67" name="task-line-2-3">
            <a:extLst xmlns:a="http://schemas.openxmlformats.org/drawingml/2006/main">
              <a:ext uri="{FF2B5EF4-FFF2-40B4-BE49-F238E27FC236}">
                <a16:creationId xmlns:a16="http://schemas.microsoft.com/office/drawing/2014/main" id="{55E6BB9E-956A-4046-A95B-861BD82D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692854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68" name="task-2-3">
            <a:extLst xmlns:a="http://schemas.openxmlformats.org/drawingml/2006/main">
              <a:ext uri="{FF2B5EF4-FFF2-40B4-BE49-F238E27FC236}">
                <a16:creationId xmlns:a16="http://schemas.microsoft.com/office/drawing/2014/main" id="{4E0503B8-068E-454B-8262-5445F12A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16654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997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Apply Business Rules from SOP</a:t>
            </a:r>
          </a:p>
        </p:txBody>
      </p:sp>
      <p:sp>
        <p:nvSpPr>
          <p:cNvPr id="69" name="task-line-2-4">
            <a:extLst xmlns:a="http://schemas.openxmlformats.org/drawingml/2006/main">
              <a:ext uri="{FF2B5EF4-FFF2-40B4-BE49-F238E27FC236}">
                <a16:creationId xmlns:a16="http://schemas.microsoft.com/office/drawing/2014/main" id="{67E84101-FA20-400C-8591-29F9E3D6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926896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70" name="task-2-4">
            <a:extLst xmlns:a="http://schemas.openxmlformats.org/drawingml/2006/main">
              <a:ext uri="{FF2B5EF4-FFF2-40B4-BE49-F238E27FC236}">
                <a16:creationId xmlns:a16="http://schemas.microsoft.com/office/drawing/2014/main" id="{C70F4292-551D-4928-84FD-E85277FA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850696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61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Derive Insights from New File</a:t>
            </a:r>
          </a:p>
        </p:txBody>
      </p:sp>
      <p:sp>
        <p:nvSpPr>
          <p:cNvPr id="71" name="task-line-2-5">
            <a:extLst xmlns:a="http://schemas.openxmlformats.org/drawingml/2006/main">
              <a:ext uri="{FF2B5EF4-FFF2-40B4-BE49-F238E27FC236}">
                <a16:creationId xmlns:a16="http://schemas.microsoft.com/office/drawing/2014/main" id="{89FBDBD5-3091-49AD-B24D-D3E4607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160939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72" name="task-2-5">
            <a:extLst xmlns:a="http://schemas.openxmlformats.org/drawingml/2006/main">
              <a:ext uri="{FF2B5EF4-FFF2-40B4-BE49-F238E27FC236}">
                <a16:creationId xmlns:a16="http://schemas.microsoft.com/office/drawing/2014/main" id="{47E39FAE-2A5E-4183-B861-E850134F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084739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12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Validate Findings and Make Decisions</a:t>
            </a:r>
          </a:p>
        </p:txBody>
      </p:sp>
      <p:sp>
        <p:nvSpPr>
          <p:cNvPr id="73" name="task-line-2-6">
            <a:extLst xmlns:a="http://schemas.openxmlformats.org/drawingml/2006/main">
              <a:ext uri="{FF2B5EF4-FFF2-40B4-BE49-F238E27FC236}">
                <a16:creationId xmlns:a16="http://schemas.microsoft.com/office/drawing/2014/main" id="{0ADADF36-E3E6-4FD5-AF40-39B0B934B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94982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sp>
        <p:nvSpPr>
          <p:cNvPr id="74" name="task-2-6">
            <a:extLst xmlns:a="http://schemas.openxmlformats.org/drawingml/2006/main">
              <a:ext uri="{FF2B5EF4-FFF2-40B4-BE49-F238E27FC236}">
                <a16:creationId xmlns:a16="http://schemas.microsoft.com/office/drawing/2014/main" id="{18FBBF3E-1DA3-4072-872E-BF119A50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318782"/>
            <a:ext cx="1724025" cy="2245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61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Modify Existing SOP Rules</a:t>
            </a:r>
          </a:p>
        </p:txBody>
      </p:sp>
      <p:sp>
        <p:nvSpPr>
          <p:cNvPr id="75" name="card-3">
            <a:extLst xmlns:a="http://schemas.openxmlformats.org/drawingml/2006/main">
              <a:ext uri="{FF2B5EF4-FFF2-40B4-BE49-F238E27FC236}">
                <a16:creationId xmlns:a16="http://schemas.microsoft.com/office/drawing/2014/main" id="{0F357163-CD99-4DA9-8A40-BC393F3A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5486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6" name="cap-3">
            <a:extLst xmlns:a="http://schemas.openxmlformats.org/drawingml/2006/main">
              <a:ext uri="{FF2B5EF4-FFF2-40B4-BE49-F238E27FC236}">
                <a16:creationId xmlns:a16="http://schemas.microsoft.com/office/drawing/2014/main" id="{D672C407-C681-4321-B0C7-4CB1ECA7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33800"/>
            <a:ext cx="1381125" cy="23336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77" name="step-3">
            <a:extLst xmlns:a="http://schemas.openxmlformats.org/drawingml/2006/main">
              <a:ext uri="{FF2B5EF4-FFF2-40B4-BE49-F238E27FC236}">
                <a16:creationId xmlns:a16="http://schemas.microsoft.com/office/drawing/2014/main" id="{CA913BA8-D93F-4001-9B76-CE2D5132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29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pic>
        <p:nvPicPr>
          <p:cNvPr id="1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ba865dc56415a"/>
          <a:stretch xmlns:a="http://schemas.openxmlformats.org/drawingml/2006/main"/>
        </p:blipFill>
        <p:spPr>
          <a:xfrm xmlns:a="http://schemas.openxmlformats.org/drawingml/2006/main">
            <a:off x="865371" y="4019550"/>
            <a:ext cx="460007" cy="704850"/>
          </a:xfrm>
          <a:prstGeom xmlns:a="http://schemas.openxmlformats.org/drawingml/2006/main" prst="rect">
            <a:avLst/>
          </a:prstGeom>
        </p:spPr>
      </p:pic>
      <p:sp>
        <p:nvSpPr>
          <p:cNvPr id="79" name="module-3">
            <a:extLst xmlns:a="http://schemas.openxmlformats.org/drawingml/2006/main">
              <a:ext uri="{FF2B5EF4-FFF2-40B4-BE49-F238E27FC236}">
                <a16:creationId xmlns:a16="http://schemas.microsoft.com/office/drawing/2014/main" id="{C77508FF-3F78-4A34-9B0B-B8DECB45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Comparison</a:t>
            </a:r>
          </a:p>
        </p:txBody>
      </p:sp>
      <p:sp>
        <p:nvSpPr>
          <p:cNvPr id="80" name="proc-label-3">
            <a:extLst xmlns:a="http://schemas.openxmlformats.org/drawingml/2006/main">
              <a:ext uri="{FF2B5EF4-FFF2-40B4-BE49-F238E27FC236}">
                <a16:creationId xmlns:a16="http://schemas.microsoft.com/office/drawing/2014/main" id="{13583BCD-7F78-42FB-BEA0-82314FC83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81" name="proc-3">
            <a:extLst xmlns:a="http://schemas.openxmlformats.org/drawingml/2006/main">
              <a:ext uri="{FF2B5EF4-FFF2-40B4-BE49-F238E27FC236}">
                <a16:creationId xmlns:a16="http://schemas.microsoft.com/office/drawing/2014/main" id="{C64355EB-F856-4BCD-99D4-3B00728B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413</a:t>
            </a:r>
          </a:p>
        </p:txBody>
      </p:sp>
      <p:sp>
        <p:nvSpPr>
          <p:cNvPr id="82" name="task-label-3">
            <a:extLst xmlns:a="http://schemas.openxmlformats.org/drawingml/2006/main">
              <a:ext uri="{FF2B5EF4-FFF2-40B4-BE49-F238E27FC236}">
                <a16:creationId xmlns:a16="http://schemas.microsoft.com/office/drawing/2014/main" id="{5EF83D28-5F25-4412-A045-5C65A51D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905250"/>
            <a:ext cx="3743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A7C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EA7CF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83" name="task-line-3-0">
            <a:extLst xmlns:a="http://schemas.openxmlformats.org/drawingml/2006/main">
              <a:ext uri="{FF2B5EF4-FFF2-40B4-BE49-F238E27FC236}">
                <a16:creationId xmlns:a16="http://schemas.microsoft.com/office/drawing/2014/main" id="{785E9FE2-FCC3-491B-89A8-E07B486F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4" name="task-3-0">
            <a:extLst xmlns:a="http://schemas.openxmlformats.org/drawingml/2006/main">
              <a:ext uri="{FF2B5EF4-FFF2-40B4-BE49-F238E27FC236}">
                <a16:creationId xmlns:a16="http://schemas.microsoft.com/office/drawing/2014/main" id="{7836C65E-2AF8-462F-8A6C-C716D0A5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1719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DB Schema Setup</a:t>
            </a:r>
          </a:p>
        </p:txBody>
      </p:sp>
      <p:sp>
        <p:nvSpPr>
          <p:cNvPr id="85" name="task-line-3-1">
            <a:extLst xmlns:a="http://schemas.openxmlformats.org/drawingml/2006/main">
              <a:ext uri="{FF2B5EF4-FFF2-40B4-BE49-F238E27FC236}">
                <a16:creationId xmlns:a16="http://schemas.microsoft.com/office/drawing/2014/main" id="{5DB2678F-EB79-4BFE-BEFB-547AB7A7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6" name="task-3-1">
            <a:extLst xmlns:a="http://schemas.openxmlformats.org/drawingml/2006/main">
              <a:ext uri="{FF2B5EF4-FFF2-40B4-BE49-F238E27FC236}">
                <a16:creationId xmlns:a16="http://schemas.microsoft.com/office/drawing/2014/main" id="{E0633FFF-D236-4CA3-90B9-D139D301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005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Data Sources</a:t>
            </a:r>
          </a:p>
        </p:txBody>
      </p:sp>
      <p:sp>
        <p:nvSpPr>
          <p:cNvPr id="87" name="task-line-3-2">
            <a:extLst xmlns:a="http://schemas.openxmlformats.org/drawingml/2006/main">
              <a:ext uri="{FF2B5EF4-FFF2-40B4-BE49-F238E27FC236}">
                <a16:creationId xmlns:a16="http://schemas.microsoft.com/office/drawing/2014/main" id="{0AB9DAF1-14EB-4F75-A6A9-EFDCF966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05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88" name="task-3-2">
            <a:extLst xmlns:a="http://schemas.openxmlformats.org/drawingml/2006/main">
              <a:ext uri="{FF2B5EF4-FFF2-40B4-BE49-F238E27FC236}">
                <a16:creationId xmlns:a16="http://schemas.microsoft.com/office/drawing/2014/main" id="{EE7C491A-63D5-4E0E-9FFF-6B13048A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291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Define Comparison Criteria</a:t>
            </a:r>
          </a:p>
        </p:txBody>
      </p:sp>
      <p:sp>
        <p:nvSpPr>
          <p:cNvPr id="89" name="task-line-3-3">
            <a:extLst xmlns:a="http://schemas.openxmlformats.org/drawingml/2006/main">
              <a:ext uri="{FF2B5EF4-FFF2-40B4-BE49-F238E27FC236}">
                <a16:creationId xmlns:a16="http://schemas.microsoft.com/office/drawing/2014/main" id="{1D323CAD-4FD2-4A26-A109-3349A6F2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933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0" name="task-3-3">
            <a:extLst xmlns:a="http://schemas.openxmlformats.org/drawingml/2006/main">
              <a:ext uri="{FF2B5EF4-FFF2-40B4-BE49-F238E27FC236}">
                <a16:creationId xmlns:a16="http://schemas.microsoft.com/office/drawing/2014/main" id="{D275D74B-B0D6-4945-9DCB-D165429F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8577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Perform Data Matching</a:t>
            </a:r>
          </a:p>
        </p:txBody>
      </p:sp>
      <p:sp>
        <p:nvSpPr>
          <p:cNvPr id="91" name="task-line-3-4">
            <a:extLst xmlns:a="http://schemas.openxmlformats.org/drawingml/2006/main">
              <a:ext uri="{FF2B5EF4-FFF2-40B4-BE49-F238E27FC236}">
                <a16:creationId xmlns:a16="http://schemas.microsoft.com/office/drawing/2014/main" id="{F85094BA-523C-47B5-9FDF-BCA18D01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2" name="task-3-4">
            <a:extLst xmlns:a="http://schemas.openxmlformats.org/drawingml/2006/main">
              <a:ext uri="{FF2B5EF4-FFF2-40B4-BE49-F238E27FC236}">
                <a16:creationId xmlns:a16="http://schemas.microsoft.com/office/drawing/2014/main" id="{902D3894-0E43-400C-8179-33FA6C09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0863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Analyze Variances and Make Decisions</a:t>
            </a:r>
          </a:p>
        </p:txBody>
      </p:sp>
      <p:sp>
        <p:nvSpPr>
          <p:cNvPr id="93" name="task-line-3-5">
            <a:extLst xmlns:a="http://schemas.openxmlformats.org/drawingml/2006/main">
              <a:ext uri="{FF2B5EF4-FFF2-40B4-BE49-F238E27FC236}">
                <a16:creationId xmlns:a16="http://schemas.microsoft.com/office/drawing/2014/main" id="{B5EE9C17-EB0C-4505-9837-B7E8256C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91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4" name="task-3-5">
            <a:extLst xmlns:a="http://schemas.openxmlformats.org/drawingml/2006/main">
              <a:ext uri="{FF2B5EF4-FFF2-40B4-BE49-F238E27FC236}">
                <a16:creationId xmlns:a16="http://schemas.microsoft.com/office/drawing/2014/main" id="{685F3C6A-636F-474D-A88E-8F1C6171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3149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Identify Exceptions</a:t>
            </a:r>
          </a:p>
        </p:txBody>
      </p:sp>
      <p:sp>
        <p:nvSpPr>
          <p:cNvPr id="95" name="task-line-3-6">
            <a:extLst xmlns:a="http://schemas.openxmlformats.org/drawingml/2006/main">
              <a:ext uri="{FF2B5EF4-FFF2-40B4-BE49-F238E27FC236}">
                <a16:creationId xmlns:a16="http://schemas.microsoft.com/office/drawing/2014/main" id="{F52041E6-F51F-4963-9BBA-B7E3066A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619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6" name="task-3-6">
            <a:extLst xmlns:a="http://schemas.openxmlformats.org/drawingml/2006/main">
              <a:ext uri="{FF2B5EF4-FFF2-40B4-BE49-F238E27FC236}">
                <a16:creationId xmlns:a16="http://schemas.microsoft.com/office/drawing/2014/main" id="{9FFC2A01-53BD-47A3-84D9-5C631DC4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435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Validate Final Results</a:t>
            </a:r>
          </a:p>
        </p:txBody>
      </p:sp>
      <p:sp>
        <p:nvSpPr>
          <p:cNvPr id="97" name="task-line-3-7">
            <a:extLst xmlns:a="http://schemas.openxmlformats.org/drawingml/2006/main">
              <a:ext uri="{FF2B5EF4-FFF2-40B4-BE49-F238E27FC236}">
                <a16:creationId xmlns:a16="http://schemas.microsoft.com/office/drawing/2014/main" id="{BCDD7E8A-7DAE-4003-9249-724EADBB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48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98" name="task-3-7">
            <a:extLst xmlns:a="http://schemas.openxmlformats.org/drawingml/2006/main">
              <a:ext uri="{FF2B5EF4-FFF2-40B4-BE49-F238E27FC236}">
                <a16:creationId xmlns:a16="http://schemas.microsoft.com/office/drawing/2014/main" id="{42F82B55-72DA-4CF0-9FBD-77090963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72150"/>
            <a:ext cx="35718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Review / Approve (Human in the Loop)</a:t>
            </a:r>
          </a:p>
        </p:txBody>
      </p:sp>
      <p:sp>
        <p:nvSpPr>
          <p:cNvPr id="99" name="card-4">
            <a:extLst xmlns:a="http://schemas.openxmlformats.org/drawingml/2006/main">
              <a:ext uri="{FF2B5EF4-FFF2-40B4-BE49-F238E27FC236}">
                <a16:creationId xmlns:a16="http://schemas.microsoft.com/office/drawing/2014/main" id="{31722647-B2AE-4529-8482-E07B07DC2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54864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00" name="cap-4">
            <a:extLst xmlns:a="http://schemas.openxmlformats.org/drawingml/2006/main">
              <a:ext uri="{FF2B5EF4-FFF2-40B4-BE49-F238E27FC236}">
                <a16:creationId xmlns:a16="http://schemas.microsoft.com/office/drawing/2014/main" id="{8FC4566C-8A1A-4A8C-AC2B-F554209B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33800"/>
            <a:ext cx="1381125" cy="23336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1" name="step-4">
            <a:extLst xmlns:a="http://schemas.openxmlformats.org/drawingml/2006/main">
              <a:ext uri="{FF2B5EF4-FFF2-40B4-BE49-F238E27FC236}">
                <a16:creationId xmlns:a16="http://schemas.microsoft.com/office/drawing/2014/main" id="{0E21A4EC-84CB-46D0-83F0-B9D17CC8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29050"/>
            <a:ext cx="304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378666f1e49b1"/>
          <a:stretch xmlns:a="http://schemas.openxmlformats.org/drawingml/2006/main"/>
        </p:blipFill>
        <p:spPr>
          <a:xfrm xmlns:a="http://schemas.openxmlformats.org/drawingml/2006/main">
            <a:off x="6480922" y="4019550"/>
            <a:ext cx="468406" cy="704850"/>
          </a:xfrm>
          <a:prstGeom xmlns:a="http://schemas.openxmlformats.org/drawingml/2006/main" prst="rect">
            <a:avLst/>
          </a:prstGeom>
        </p:spPr>
      </p:pic>
      <p:sp>
        <p:nvSpPr>
          <p:cNvPr id="103" name="module-4">
            <a:extLst xmlns:a="http://schemas.openxmlformats.org/drawingml/2006/main">
              <a:ext uri="{FF2B5EF4-FFF2-40B4-BE49-F238E27FC236}">
                <a16:creationId xmlns:a16="http://schemas.microsoft.com/office/drawing/2014/main" id="{991AE97E-CEA3-47C0-889D-68F1A67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72025"/>
            <a:ext cx="11525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Load</a:t>
            </a:r>
          </a:p>
        </p:txBody>
      </p:sp>
      <p:sp>
        <p:nvSpPr>
          <p:cNvPr id="104" name="proc-label-4">
            <a:extLst xmlns:a="http://schemas.openxmlformats.org/drawingml/2006/main">
              <a:ext uri="{FF2B5EF4-FFF2-40B4-BE49-F238E27FC236}">
                <a16:creationId xmlns:a16="http://schemas.microsoft.com/office/drawing/2014/main" id="{0DE80E21-0259-4B77-80A2-34C0677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476875"/>
            <a:ext cx="1152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E3F0F9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3F0F9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5" name="proc-4">
            <a:extLst xmlns:a="http://schemas.openxmlformats.org/drawingml/2006/main">
              <a:ext uri="{FF2B5EF4-FFF2-40B4-BE49-F238E27FC236}">
                <a16:creationId xmlns:a16="http://schemas.microsoft.com/office/drawing/2014/main" id="{C43CEB59-2EEC-4D53-BCB0-5DE5847D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67375"/>
            <a:ext cx="1152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409</a:t>
            </a:r>
          </a:p>
        </p:txBody>
      </p:sp>
      <p:sp>
        <p:nvSpPr>
          <p:cNvPr id="106" name="task-label-4">
            <a:extLst xmlns:a="http://schemas.openxmlformats.org/drawingml/2006/main">
              <a:ext uri="{FF2B5EF4-FFF2-40B4-BE49-F238E27FC236}">
                <a16:creationId xmlns:a16="http://schemas.microsoft.com/office/drawing/2014/main" id="{A787CCF7-65A2-49AA-9E81-80DE881D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905250"/>
            <a:ext cx="3743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38A1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38A1C"/>
                </a:solidFill>
                <a:latin typeface="Aptos"/>
                <a:ea typeface="Aptos"/>
                <a:cs typeface="Aptos"/>
              </a:rPr>
              <a:t>TASKS</a:t>
            </a:r>
          </a:p>
        </p:txBody>
      </p:sp>
      <p:sp>
        <p:nvSpPr>
          <p:cNvPr id="107" name="task-line-4-0">
            <a:extLst xmlns:a="http://schemas.openxmlformats.org/drawingml/2006/main">
              <a:ext uri="{FF2B5EF4-FFF2-40B4-BE49-F238E27FC236}">
                <a16:creationId xmlns:a16="http://schemas.microsoft.com/office/drawing/2014/main" id="{255DCF3D-E181-4C5C-B13F-F02B671A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48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08" name="task-4-0">
            <a:extLst xmlns:a="http://schemas.openxmlformats.org/drawingml/2006/main">
              <a:ext uri="{FF2B5EF4-FFF2-40B4-BE49-F238E27FC236}">
                <a16:creationId xmlns:a16="http://schemas.microsoft.com/office/drawing/2014/main" id="{9031E46E-6582-4D28-8732-59EA4D0E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1719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Establish Source-to-Target Connection</a:t>
            </a:r>
          </a:p>
        </p:txBody>
      </p:sp>
      <p:sp>
        <p:nvSpPr>
          <p:cNvPr id="109" name="task-line-4-1">
            <a:extLst xmlns:a="http://schemas.openxmlformats.org/drawingml/2006/main">
              <a:ext uri="{FF2B5EF4-FFF2-40B4-BE49-F238E27FC236}">
                <a16:creationId xmlns:a16="http://schemas.microsoft.com/office/drawing/2014/main" id="{BE8E716D-38C1-4971-B688-8FBA7F59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5529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0" name="task-4-1">
            <a:extLst xmlns:a="http://schemas.openxmlformats.org/drawingml/2006/main">
              <a:ext uri="{FF2B5EF4-FFF2-40B4-BE49-F238E27FC236}">
                <a16:creationId xmlns:a16="http://schemas.microsoft.com/office/drawing/2014/main" id="{1C8A349A-C902-40BF-BDB7-2BEA26A1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4767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Map Data to Target Structure</a:t>
            </a:r>
          </a:p>
        </p:txBody>
      </p:sp>
      <p:sp>
        <p:nvSpPr>
          <p:cNvPr id="111" name="task-line-4-2">
            <a:extLst xmlns:a="http://schemas.openxmlformats.org/drawingml/2006/main">
              <a:ext uri="{FF2B5EF4-FFF2-40B4-BE49-F238E27FC236}">
                <a16:creationId xmlns:a16="http://schemas.microsoft.com/office/drawing/2014/main" id="{254F45B2-6B0B-4585-950A-4C9CC77C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57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2" name="task-4-2">
            <a:extLst xmlns:a="http://schemas.openxmlformats.org/drawingml/2006/main">
              <a:ext uri="{FF2B5EF4-FFF2-40B4-BE49-F238E27FC236}">
                <a16:creationId xmlns:a16="http://schemas.microsoft.com/office/drawing/2014/main" id="{4F3A94A5-3020-4B5D-9B2A-3106FA76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7815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Load Data into Target Repository</a:t>
            </a:r>
          </a:p>
        </p:txBody>
      </p:sp>
      <p:sp>
        <p:nvSpPr>
          <p:cNvPr id="113" name="task-line-4-3">
            <a:extLst xmlns:a="http://schemas.openxmlformats.org/drawingml/2006/main">
              <a:ext uri="{FF2B5EF4-FFF2-40B4-BE49-F238E27FC236}">
                <a16:creationId xmlns:a16="http://schemas.microsoft.com/office/drawing/2014/main" id="{D9D5E5EC-8AC2-434A-B1E4-F54EB1D2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162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4" name="task-4-3">
            <a:extLst xmlns:a="http://schemas.openxmlformats.org/drawingml/2006/main">
              <a:ext uri="{FF2B5EF4-FFF2-40B4-BE49-F238E27FC236}">
                <a16:creationId xmlns:a16="http://schemas.microsoft.com/office/drawing/2014/main" id="{073042E4-34BF-4A5B-A497-24A61AF1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0863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Verify Load Completion</a:t>
            </a:r>
          </a:p>
        </p:txBody>
      </p:sp>
      <p:sp>
        <p:nvSpPr>
          <p:cNvPr id="115" name="task-line-4-4">
            <a:extLst xmlns:a="http://schemas.openxmlformats.org/drawingml/2006/main">
              <a:ext uri="{FF2B5EF4-FFF2-40B4-BE49-F238E27FC236}">
                <a16:creationId xmlns:a16="http://schemas.microsoft.com/office/drawing/2014/main" id="{6AE459E2-BA4F-4A24-B52E-1380F61A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467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6" name="task-4-4">
            <a:extLst xmlns:a="http://schemas.openxmlformats.org/drawingml/2006/main">
              <a:ext uri="{FF2B5EF4-FFF2-40B4-BE49-F238E27FC236}">
                <a16:creationId xmlns:a16="http://schemas.microsoft.com/office/drawing/2014/main" id="{1C06361C-3DDE-462C-A1B8-F0BD4E6E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3911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Reconcile Data Counts</a:t>
            </a:r>
          </a:p>
        </p:txBody>
      </p:sp>
      <p:sp>
        <p:nvSpPr>
          <p:cNvPr id="117" name="task-line-4-5">
            <a:extLst xmlns:a="http://schemas.openxmlformats.org/drawingml/2006/main">
              <a:ext uri="{FF2B5EF4-FFF2-40B4-BE49-F238E27FC236}">
                <a16:creationId xmlns:a16="http://schemas.microsoft.com/office/drawing/2014/main" id="{7DBCC693-1637-4812-A13D-CC4E9D20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772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sp>
        <p:nvSpPr>
          <p:cNvPr id="118" name="task-4-5">
            <a:extLst xmlns:a="http://schemas.openxmlformats.org/drawingml/2006/main">
              <a:ext uri="{FF2B5EF4-FFF2-40B4-BE49-F238E27FC236}">
                <a16:creationId xmlns:a16="http://schemas.microsoft.com/office/drawing/2014/main" id="{EE4FAE3B-C466-4273-B119-A3E48E5F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5695950"/>
            <a:ext cx="3571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23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62338"/>
                </a:solidFill>
                <a:latin typeface="Aptos"/>
                <a:ea typeface="Aptos"/>
                <a:cs typeface="Aptos"/>
              </a:rPr>
              <a:t>Report Final Load Results</a:t>
            </a:r>
          </a:p>
        </p:txBody>
      </p:sp>
    </p:spTree>
    <p:extLst>
      <p:ext uri="{BB962C8B-B14F-4D97-AF65-F5344CB8AC3E}">
        <p14:creationId xmlns:p14="http://schemas.microsoft.com/office/powerpoint/2010/main" val="7311653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top-band">
            <a:extLst xmlns:a="http://schemas.openxmlformats.org/drawingml/2006/main">
              <a:ext uri="{FF2B5EF4-FFF2-40B4-BE49-F238E27FC236}">
                <a16:creationId xmlns:a16="http://schemas.microsoft.com/office/drawing/2014/main" id="{87719B25-8155-48A6-BF7F-1E1D2B99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3"/>
          </a:solidFill>
          <a:ln xmlns:a="http://schemas.openxmlformats.org/drawingml/2006/main" w="0">
            <a:solidFill>
              <a:srgbClr val="071A33"/>
            </a:solidFill>
            <a:prstDash val="solid"/>
          </a:ln>
        </p:spPr>
      </p:sp>
      <p:sp>
        <p:nvSpPr>
          <p:cNvPr id="2" name="accent">
            <a:extLst xmlns:a="http://schemas.openxmlformats.org/drawingml/2006/main">
              <a:ext uri="{FF2B5EF4-FFF2-40B4-BE49-F238E27FC236}">
                <a16:creationId xmlns:a16="http://schemas.microsoft.com/office/drawing/2014/main" id="{7DD5B203-6AA4-497A-AD98-C24F36B9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1915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A4DF94-DB09-4E07-8110-44AE4752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Medicaid Rate Kernel Effort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B79DCACD-0409-4151-973B-B49500D8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3875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9D8E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9D8E8"/>
                </a:solidFill>
                <a:latin typeface="Aptos"/>
                <a:ea typeface="Aptos"/>
                <a:cs typeface="Aptos"/>
              </a:rPr>
              <a:t>File count, pattern count, effort, and cost by module</a:t>
            </a:r>
          </a:p>
        </p:txBody>
      </p:sp>
      <p:sp>
        <p:nvSpPr>
          <p:cNvPr id="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82E22D4-8920-4F6B-B799-900748FF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FEA"/>
          </a:solidFill>
          <a:ln xmlns:a="http://schemas.openxmlformats.org/drawingml/2006/main" w="0">
            <a:solidFill>
              <a:srgbClr val="D3DFEA"/>
            </a:solidFill>
            <a:prstDash val="solid"/>
          </a:ln>
        </p:spPr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7DBA7ED8-B9BC-443F-A327-0D46D755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4367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Medicaid Rate Kernel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EE59102F-AAAA-4643-B4EC-1D637FA5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5436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pic>
        <p:nvPicPr>
          <p:cNvPr id="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1c25c4e637480e"/>
          <a:stretch xmlns:a="http://schemas.openxmlformats.org/drawingml/2006/main"/>
        </p:blipFill>
        <p:spPr>
          <a:xfrm xmlns:a="http://schemas.openxmlformats.org/drawingml/2006/main">
            <a:off x="10365105" y="6524625"/>
            <a:ext cx="1062990" cy="257175"/>
          </a:xfrm>
          <a:prstGeom xmlns:a="http://schemas.openxmlformats.org/drawingml/2006/main" prst="rect">
            <a:avLst/>
          </a:prstGeom>
        </p:spPr>
      </p:pic>
      <p:sp>
        <p:nvSpPr>
          <p:cNvPr id="9" name="metric-card-0">
            <a:extLst xmlns:a="http://schemas.openxmlformats.org/drawingml/2006/main">
              <a:ext uri="{FF2B5EF4-FFF2-40B4-BE49-F238E27FC236}">
                <a16:creationId xmlns:a16="http://schemas.microsoft.com/office/drawing/2014/main" id="{62C5EBED-3E54-467E-89C0-B36A8039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0" name="metric-cap-0">
            <a:extLst xmlns:a="http://schemas.openxmlformats.org/drawingml/2006/main">
              <a:ext uri="{FF2B5EF4-FFF2-40B4-BE49-F238E27FC236}">
                <a16:creationId xmlns:a16="http://schemas.microsoft.com/office/drawing/2014/main" id="{8BC55468-DFA6-4EB3-970A-BDF54D30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769AA"/>
          </a:solidFill>
          <a:ln xmlns:a="http://schemas.openxmlformats.org/drawingml/2006/main" w="0">
            <a:solidFill>
              <a:srgbClr val="1769AA"/>
            </a:solidFill>
            <a:prstDash val="solid"/>
          </a:ln>
        </p:spPr>
      </p: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2ebacd1984791"/>
          <a:stretch xmlns:a="http://schemas.openxmlformats.org/drawingml/2006/main"/>
        </p:blipFill>
        <p:spPr>
          <a:xfrm xmlns:a="http://schemas.openxmlformats.org/drawingml/2006/main">
            <a:off x="684689" y="1362075"/>
            <a:ext cx="345121" cy="571500"/>
          </a:xfrm>
          <a:prstGeom xmlns:a="http://schemas.openxmlformats.org/drawingml/2006/main" prst="rect">
            <a:avLst/>
          </a:prstGeom>
        </p:spPr>
      </p:pic>
      <p:sp>
        <p:nvSpPr>
          <p:cNvPr id="12" name="metric-name-0">
            <a:extLst xmlns:a="http://schemas.openxmlformats.org/drawingml/2006/main">
              <a:ext uri="{FF2B5EF4-FFF2-40B4-BE49-F238E27FC236}">
                <a16:creationId xmlns:a16="http://schemas.microsoft.com/office/drawing/2014/main" id="{0DC6831F-A48E-4B07-B5FA-65DA0790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Download</a:t>
            </a:r>
          </a:p>
        </p:txBody>
      </p:sp>
      <p:sp>
        <p:nvSpPr>
          <p:cNvPr id="13" name="label-0-0">
            <a:extLst xmlns:a="http://schemas.openxmlformats.org/drawingml/2006/main">
              <a:ext uri="{FF2B5EF4-FFF2-40B4-BE49-F238E27FC236}">
                <a16:creationId xmlns:a16="http://schemas.microsoft.com/office/drawing/2014/main" id="{F39814B3-5852-4168-8EAF-52F37339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14" name="value-bg-0-0">
            <a:extLst xmlns:a="http://schemas.openxmlformats.org/drawingml/2006/main">
              <a:ext uri="{FF2B5EF4-FFF2-40B4-BE49-F238E27FC236}">
                <a16:creationId xmlns:a16="http://schemas.microsoft.com/office/drawing/2014/main" id="{F3AE6EB8-267C-4070-8EA8-A6DEE689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5" name="value-0-0">
            <a:extLst xmlns:a="http://schemas.openxmlformats.org/drawingml/2006/main">
              <a:ext uri="{FF2B5EF4-FFF2-40B4-BE49-F238E27FC236}">
                <a16:creationId xmlns:a16="http://schemas.microsoft.com/office/drawing/2014/main" id="{95F4F37C-E89E-4D47-AAED-AA325450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4,247</a:t>
            </a:r>
          </a:p>
        </p:txBody>
      </p:sp>
      <p:sp>
        <p:nvSpPr>
          <p:cNvPr id="16" name="label-0-1">
            <a:extLst xmlns:a="http://schemas.openxmlformats.org/drawingml/2006/main">
              <a:ext uri="{FF2B5EF4-FFF2-40B4-BE49-F238E27FC236}">
                <a16:creationId xmlns:a16="http://schemas.microsoft.com/office/drawing/2014/main" id="{02725E77-5B2A-4BF7-8DDB-6EB3834E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17" name="value-bg-0-1">
            <a:extLst xmlns:a="http://schemas.openxmlformats.org/drawingml/2006/main">
              <a:ext uri="{FF2B5EF4-FFF2-40B4-BE49-F238E27FC236}">
                <a16:creationId xmlns:a16="http://schemas.microsoft.com/office/drawing/2014/main" id="{67F89715-D15C-484D-84E1-F732D800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18" name="value-0-1">
            <a:extLst xmlns:a="http://schemas.openxmlformats.org/drawingml/2006/main">
              <a:ext uri="{FF2B5EF4-FFF2-40B4-BE49-F238E27FC236}">
                <a16:creationId xmlns:a16="http://schemas.microsoft.com/office/drawing/2014/main" id="{832C232C-74F6-4AD7-A47C-FEF89DD9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19" name="label-0-2">
            <a:extLst xmlns:a="http://schemas.openxmlformats.org/drawingml/2006/main">
              <a:ext uri="{FF2B5EF4-FFF2-40B4-BE49-F238E27FC236}">
                <a16:creationId xmlns:a16="http://schemas.microsoft.com/office/drawing/2014/main" id="{47F678F4-277A-40C6-9038-2CEE8EFA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20" name="value-bg-0-2">
            <a:extLst xmlns:a="http://schemas.openxmlformats.org/drawingml/2006/main">
              <a:ext uri="{FF2B5EF4-FFF2-40B4-BE49-F238E27FC236}">
                <a16:creationId xmlns:a16="http://schemas.microsoft.com/office/drawing/2014/main" id="{B5895CDE-BC3C-430E-BFFF-209FFFB58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1" name="value-0-2">
            <a:extLst xmlns:a="http://schemas.openxmlformats.org/drawingml/2006/main">
              <a:ext uri="{FF2B5EF4-FFF2-40B4-BE49-F238E27FC236}">
                <a16:creationId xmlns:a16="http://schemas.microsoft.com/office/drawing/2014/main" id="{242AFB0D-C995-4296-9934-E9386EA82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63,705</a:t>
            </a:r>
          </a:p>
        </p:txBody>
      </p:sp>
      <p:sp>
        <p:nvSpPr>
          <p:cNvPr id="22" name="label-0-3">
            <a:extLst xmlns:a="http://schemas.openxmlformats.org/drawingml/2006/main">
              <a:ext uri="{FF2B5EF4-FFF2-40B4-BE49-F238E27FC236}">
                <a16:creationId xmlns:a16="http://schemas.microsoft.com/office/drawing/2014/main" id="{32C7F0C1-3CC4-4E83-895E-88AC41D5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3" name="value-bg-0-3">
            <a:extLst xmlns:a="http://schemas.openxmlformats.org/drawingml/2006/main">
              <a:ext uri="{FF2B5EF4-FFF2-40B4-BE49-F238E27FC236}">
                <a16:creationId xmlns:a16="http://schemas.microsoft.com/office/drawing/2014/main" id="{104EC39A-E534-4EA2-8678-16BED87F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769AA"/>
            </a:solidFill>
            <a:prstDash val="solid"/>
          </a:ln>
        </p:spPr>
      </p:sp>
      <p:sp>
        <p:nvSpPr>
          <p:cNvPr id="24" name="value-0-3">
            <a:extLst xmlns:a="http://schemas.openxmlformats.org/drawingml/2006/main">
              <a:ext uri="{FF2B5EF4-FFF2-40B4-BE49-F238E27FC236}">
                <a16:creationId xmlns:a16="http://schemas.microsoft.com/office/drawing/2014/main" id="{861710D0-5456-4776-9004-2043343F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69A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69AA"/>
                </a:solidFill>
                <a:latin typeface="Aptos"/>
                <a:ea typeface="Aptos"/>
                <a:cs typeface="Aptos"/>
              </a:rPr>
              <a:t>$4,140,825</a:t>
            </a:r>
          </a:p>
        </p:txBody>
      </p:sp>
      <p:sp>
        <p:nvSpPr>
          <p:cNvPr id="25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42D8FB3B-A90D-4400-B4C5-47C5A1F8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26" name="metric-cap-1">
            <a:extLst xmlns:a="http://schemas.openxmlformats.org/drawingml/2006/main">
              <a:ext uri="{FF2B5EF4-FFF2-40B4-BE49-F238E27FC236}">
                <a16:creationId xmlns:a16="http://schemas.microsoft.com/office/drawing/2014/main" id="{C9266613-F3A4-4B15-A4E2-F76A1275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4865F"/>
          </a:solidFill>
          <a:ln xmlns:a="http://schemas.openxmlformats.org/drawingml/2006/main" w="0">
            <a:solidFill>
              <a:srgbClr val="14865F"/>
            </a:solidFill>
            <a:prstDash val="solid"/>
          </a:ln>
        </p:spPr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6f94a8fdd4073"/>
          <a:stretch xmlns:a="http://schemas.openxmlformats.org/drawingml/2006/main"/>
        </p:blipFill>
        <p:spPr>
          <a:xfrm xmlns:a="http://schemas.openxmlformats.org/drawingml/2006/main">
            <a:off x="2948222" y="1362075"/>
            <a:ext cx="351955" cy="571500"/>
          </a:xfrm>
          <a:prstGeom xmlns:a="http://schemas.openxmlformats.org/drawingml/2006/main" prst="rect">
            <a:avLst/>
          </a:prstGeom>
        </p:spPr>
      </p:pic>
      <p:sp>
        <p:nvSpPr>
          <p:cNvPr id="28" name="metric-name-1">
            <a:extLst xmlns:a="http://schemas.openxmlformats.org/drawingml/2006/main">
              <a:ext uri="{FF2B5EF4-FFF2-40B4-BE49-F238E27FC236}">
                <a16:creationId xmlns:a16="http://schemas.microsoft.com/office/drawing/2014/main" id="{67BE378F-6F53-49A1-A5E2-7F4B345B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File Extraction</a:t>
            </a:r>
          </a:p>
        </p:txBody>
      </p:sp>
      <p:sp>
        <p:nvSpPr>
          <p:cNvPr id="29" name="label-1-0">
            <a:extLst xmlns:a="http://schemas.openxmlformats.org/drawingml/2006/main">
              <a:ext uri="{FF2B5EF4-FFF2-40B4-BE49-F238E27FC236}">
                <a16:creationId xmlns:a16="http://schemas.microsoft.com/office/drawing/2014/main" id="{8B84FECD-39A4-42F0-8436-9EAFAE79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30" name="value-bg-1-0">
            <a:extLst xmlns:a="http://schemas.openxmlformats.org/drawingml/2006/main">
              <a:ext uri="{FF2B5EF4-FFF2-40B4-BE49-F238E27FC236}">
                <a16:creationId xmlns:a16="http://schemas.microsoft.com/office/drawing/2014/main" id="{274183ED-FFF2-4DC1-97CD-1AD8B477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1" name="value-1-0">
            <a:extLst xmlns:a="http://schemas.openxmlformats.org/drawingml/2006/main">
              <a:ext uri="{FF2B5EF4-FFF2-40B4-BE49-F238E27FC236}">
                <a16:creationId xmlns:a16="http://schemas.microsoft.com/office/drawing/2014/main" id="{950E02AF-996D-4265-90FE-40A4419CF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32" name="label-1-1">
            <a:extLst xmlns:a="http://schemas.openxmlformats.org/drawingml/2006/main">
              <a:ext uri="{FF2B5EF4-FFF2-40B4-BE49-F238E27FC236}">
                <a16:creationId xmlns:a16="http://schemas.microsoft.com/office/drawing/2014/main" id="{E8AD3D77-A275-4C9B-9D65-370F050A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33" name="value-bg-1-1">
            <a:extLst xmlns:a="http://schemas.openxmlformats.org/drawingml/2006/main">
              <a:ext uri="{FF2B5EF4-FFF2-40B4-BE49-F238E27FC236}">
                <a16:creationId xmlns:a16="http://schemas.microsoft.com/office/drawing/2014/main" id="{AE71355C-5BCB-4676-8FB4-BE8879FD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4" name="value-1-1">
            <a:extLst xmlns:a="http://schemas.openxmlformats.org/drawingml/2006/main">
              <a:ext uri="{FF2B5EF4-FFF2-40B4-BE49-F238E27FC236}">
                <a16:creationId xmlns:a16="http://schemas.microsoft.com/office/drawing/2014/main" id="{C0858789-7B40-43D9-A397-DF888135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35" name="label-1-2">
            <a:extLst xmlns:a="http://schemas.openxmlformats.org/drawingml/2006/main">
              <a:ext uri="{FF2B5EF4-FFF2-40B4-BE49-F238E27FC236}">
                <a16:creationId xmlns:a16="http://schemas.microsoft.com/office/drawing/2014/main" id="{53A8D69E-46D9-480D-99EA-CA6E21B7D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36" name="value-bg-1-2">
            <a:extLst xmlns:a="http://schemas.openxmlformats.org/drawingml/2006/main">
              <a:ext uri="{FF2B5EF4-FFF2-40B4-BE49-F238E27FC236}">
                <a16:creationId xmlns:a16="http://schemas.microsoft.com/office/drawing/2014/main" id="{669948C7-1FB1-4688-9B52-F18A8762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37" name="value-1-2">
            <a:extLst xmlns:a="http://schemas.openxmlformats.org/drawingml/2006/main">
              <a:ext uri="{FF2B5EF4-FFF2-40B4-BE49-F238E27FC236}">
                <a16:creationId xmlns:a16="http://schemas.microsoft.com/office/drawing/2014/main" id="{8F57944C-911A-48ED-9655-715F4BC0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14,950</a:t>
            </a:r>
          </a:p>
        </p:txBody>
      </p:sp>
      <p:sp>
        <p:nvSpPr>
          <p:cNvPr id="38" name="label-1-3">
            <a:extLst xmlns:a="http://schemas.openxmlformats.org/drawingml/2006/main">
              <a:ext uri="{FF2B5EF4-FFF2-40B4-BE49-F238E27FC236}">
                <a16:creationId xmlns:a16="http://schemas.microsoft.com/office/drawing/2014/main" id="{D063ADCE-822A-4AD5-8E94-A26A524E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39" name="value-bg-1-3">
            <a:extLst xmlns:a="http://schemas.openxmlformats.org/drawingml/2006/main">
              <a:ext uri="{FF2B5EF4-FFF2-40B4-BE49-F238E27FC236}">
                <a16:creationId xmlns:a16="http://schemas.microsoft.com/office/drawing/2014/main" id="{31D086DC-D441-43B3-95EA-D7790E71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4865F"/>
            </a:solidFill>
            <a:prstDash val="solid"/>
          </a:ln>
        </p:spPr>
      </p:sp>
      <p:sp>
        <p:nvSpPr>
          <p:cNvPr id="40" name="value-1-3">
            <a:extLst xmlns:a="http://schemas.openxmlformats.org/drawingml/2006/main">
              <a:ext uri="{FF2B5EF4-FFF2-40B4-BE49-F238E27FC236}">
                <a16:creationId xmlns:a16="http://schemas.microsoft.com/office/drawing/2014/main" id="{2A5508C5-83D2-4C94-AC07-E80972FA1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865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4865F"/>
                </a:solidFill>
                <a:latin typeface="Aptos"/>
                <a:ea typeface="Aptos"/>
                <a:cs typeface="Aptos"/>
              </a:rPr>
              <a:t>$971,750</a:t>
            </a:r>
          </a:p>
        </p:txBody>
      </p:sp>
      <p:sp>
        <p:nvSpPr>
          <p:cNvPr id="41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9E222934-0D7D-4985-93B0-9D9787B5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42" name="metric-cap-2">
            <a:extLst xmlns:a="http://schemas.openxmlformats.org/drawingml/2006/main">
              <a:ext uri="{FF2B5EF4-FFF2-40B4-BE49-F238E27FC236}">
                <a16:creationId xmlns:a16="http://schemas.microsoft.com/office/drawing/2014/main" id="{6EC876DA-90DC-44F6-9DA9-F4FE99A5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7048C2"/>
          </a:solidFill>
          <a:ln xmlns:a="http://schemas.openxmlformats.org/drawingml/2006/main" w="0">
            <a:solidFill>
              <a:srgbClr val="7048C2"/>
            </a:solidFill>
            <a:prstDash val="solid"/>
          </a:ln>
        </p:spPr>
      </p:sp>
      <p:pic>
        <p:nvPicPr>
          <p:cNvPr id="1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e556286fb47de"/>
          <a:stretch xmlns:a="http://schemas.openxmlformats.org/drawingml/2006/main"/>
        </p:blipFill>
        <p:spPr>
          <a:xfrm xmlns:a="http://schemas.openxmlformats.org/drawingml/2006/main">
            <a:off x="5211774" y="1362075"/>
            <a:ext cx="358752" cy="571500"/>
          </a:xfrm>
          <a:prstGeom xmlns:a="http://schemas.openxmlformats.org/drawingml/2006/main" prst="rect">
            <a:avLst/>
          </a:prstGeom>
        </p:spPr>
      </p:pic>
      <p:sp>
        <p:nvSpPr>
          <p:cNvPr id="44" name="metric-name-2">
            <a:extLst xmlns:a="http://schemas.openxmlformats.org/drawingml/2006/main">
              <a:ext uri="{FF2B5EF4-FFF2-40B4-BE49-F238E27FC236}">
                <a16:creationId xmlns:a16="http://schemas.microsoft.com/office/drawing/2014/main" id="{DDF40780-6F78-4BD7-88B3-9A63AB8E6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963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Interpretation</a:t>
            </a:r>
          </a:p>
        </p:txBody>
      </p:sp>
      <p:sp>
        <p:nvSpPr>
          <p:cNvPr id="45" name="label-2-0">
            <a:extLst xmlns:a="http://schemas.openxmlformats.org/drawingml/2006/main">
              <a:ext uri="{FF2B5EF4-FFF2-40B4-BE49-F238E27FC236}">
                <a16:creationId xmlns:a16="http://schemas.microsoft.com/office/drawing/2014/main" id="{3F6D709C-E969-4387-B62F-AB05BDFB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46" name="value-bg-2-0">
            <a:extLst xmlns:a="http://schemas.openxmlformats.org/drawingml/2006/main">
              <a:ext uri="{FF2B5EF4-FFF2-40B4-BE49-F238E27FC236}">
                <a16:creationId xmlns:a16="http://schemas.microsoft.com/office/drawing/2014/main" id="{C9FC2FCE-ED0C-4DC3-9179-B7BA1281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47" name="value-2-0">
            <a:extLst xmlns:a="http://schemas.openxmlformats.org/drawingml/2006/main">
              <a:ext uri="{FF2B5EF4-FFF2-40B4-BE49-F238E27FC236}">
                <a16:creationId xmlns:a16="http://schemas.microsoft.com/office/drawing/2014/main" id="{755FE519-FFBE-4D3D-93E2-237AFDD7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48" name="label-2-1">
            <a:extLst xmlns:a="http://schemas.openxmlformats.org/drawingml/2006/main">
              <a:ext uri="{FF2B5EF4-FFF2-40B4-BE49-F238E27FC236}">
                <a16:creationId xmlns:a16="http://schemas.microsoft.com/office/drawing/2014/main" id="{B26A810A-A7D1-4869-85DF-B19E940E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49" name="value-bg-2-1">
            <a:extLst xmlns:a="http://schemas.openxmlformats.org/drawingml/2006/main">
              <a:ext uri="{FF2B5EF4-FFF2-40B4-BE49-F238E27FC236}">
                <a16:creationId xmlns:a16="http://schemas.microsoft.com/office/drawing/2014/main" id="{07601DB3-2138-4408-B9D5-BB8E76CE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0" name="value-2-1">
            <a:extLst xmlns:a="http://schemas.openxmlformats.org/drawingml/2006/main">
              <a:ext uri="{FF2B5EF4-FFF2-40B4-BE49-F238E27FC236}">
                <a16:creationId xmlns:a16="http://schemas.microsoft.com/office/drawing/2014/main" id="{6183C695-619E-4C17-B20E-6ED4CEF7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51" name="label-2-2">
            <a:extLst xmlns:a="http://schemas.openxmlformats.org/drawingml/2006/main">
              <a:ext uri="{FF2B5EF4-FFF2-40B4-BE49-F238E27FC236}">
                <a16:creationId xmlns:a16="http://schemas.microsoft.com/office/drawing/2014/main" id="{7F172CC6-93AF-4736-94F8-233366C3F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52" name="value-bg-2-2">
            <a:extLst xmlns:a="http://schemas.openxmlformats.org/drawingml/2006/main">
              <a:ext uri="{FF2B5EF4-FFF2-40B4-BE49-F238E27FC236}">
                <a16:creationId xmlns:a16="http://schemas.microsoft.com/office/drawing/2014/main" id="{58C3957A-8B9C-4D62-88E2-E8C44128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3" name="value-2-2">
            <a:extLst xmlns:a="http://schemas.openxmlformats.org/drawingml/2006/main">
              <a:ext uri="{FF2B5EF4-FFF2-40B4-BE49-F238E27FC236}">
                <a16:creationId xmlns:a16="http://schemas.microsoft.com/office/drawing/2014/main" id="{DFAD677D-24F6-4F85-8E47-38606D09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22,425</a:t>
            </a:r>
          </a:p>
        </p:txBody>
      </p:sp>
      <p:sp>
        <p:nvSpPr>
          <p:cNvPr id="54" name="label-2-3">
            <a:extLst xmlns:a="http://schemas.openxmlformats.org/drawingml/2006/main">
              <a:ext uri="{FF2B5EF4-FFF2-40B4-BE49-F238E27FC236}">
                <a16:creationId xmlns:a16="http://schemas.microsoft.com/office/drawing/2014/main" id="{27224544-EF55-4C06-B3C2-629D49C4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55" name="value-bg-2-3">
            <a:extLst xmlns:a="http://schemas.openxmlformats.org/drawingml/2006/main">
              <a:ext uri="{FF2B5EF4-FFF2-40B4-BE49-F238E27FC236}">
                <a16:creationId xmlns:a16="http://schemas.microsoft.com/office/drawing/2014/main" id="{D3A5DE6E-87BB-4DD4-9726-98FB5EB4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7048C2"/>
            </a:solidFill>
            <a:prstDash val="solid"/>
          </a:ln>
        </p:spPr>
      </p:sp>
      <p:sp>
        <p:nvSpPr>
          <p:cNvPr id="56" name="value-2-3">
            <a:extLst xmlns:a="http://schemas.openxmlformats.org/drawingml/2006/main">
              <a:ext uri="{FF2B5EF4-FFF2-40B4-BE49-F238E27FC236}">
                <a16:creationId xmlns:a16="http://schemas.microsoft.com/office/drawing/2014/main" id="{64A5079D-9A4B-469D-B489-51949002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048C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048C2"/>
                </a:solidFill>
                <a:latin typeface="Aptos"/>
                <a:ea typeface="Aptos"/>
                <a:cs typeface="Aptos"/>
              </a:rPr>
              <a:t>$1,457,625</a:t>
            </a:r>
          </a:p>
        </p:txBody>
      </p:sp>
      <p:sp>
        <p:nvSpPr>
          <p:cNvPr id="57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7A6630A2-9CBF-4263-AA1F-555258F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58" name="metric-cap-3">
            <a:extLst xmlns:a="http://schemas.openxmlformats.org/drawingml/2006/main">
              <a:ext uri="{FF2B5EF4-FFF2-40B4-BE49-F238E27FC236}">
                <a16:creationId xmlns:a16="http://schemas.microsoft.com/office/drawing/2014/main" id="{88995802-FCC3-4997-8D2F-81E6B835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EA7CF"/>
          </a:solidFill>
          <a:ln xmlns:a="http://schemas.openxmlformats.org/drawingml/2006/main" w="0">
            <a:solidFill>
              <a:srgbClr val="1EA7CF"/>
            </a:solidFill>
            <a:prstDash val="solid"/>
          </a:ln>
        </p:spPr>
      </p:sp>
      <p:pic>
        <p:nvPicPr>
          <p:cNvPr id="1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2fa1b36834be7"/>
          <a:stretch xmlns:a="http://schemas.openxmlformats.org/drawingml/2006/main"/>
        </p:blipFill>
        <p:spPr>
          <a:xfrm xmlns:a="http://schemas.openxmlformats.org/drawingml/2006/main">
            <a:off x="7471611" y="1362075"/>
            <a:ext cx="372979" cy="571500"/>
          </a:xfrm>
          <a:prstGeom xmlns:a="http://schemas.openxmlformats.org/drawingml/2006/main" prst="rect">
            <a:avLst/>
          </a:prstGeom>
        </p:spPr>
      </p:pic>
      <p:sp>
        <p:nvSpPr>
          <p:cNvPr id="60" name="metric-name-3">
            <a:extLst xmlns:a="http://schemas.openxmlformats.org/drawingml/2006/main">
              <a:ext uri="{FF2B5EF4-FFF2-40B4-BE49-F238E27FC236}">
                <a16:creationId xmlns:a16="http://schemas.microsoft.com/office/drawing/2014/main" id="{40EAC556-04B8-4BD4-86E7-EFC79BDA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11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Comparison</a:t>
            </a:r>
          </a:p>
        </p:txBody>
      </p:sp>
      <p:sp>
        <p:nvSpPr>
          <p:cNvPr id="61" name="label-3-0">
            <a:extLst xmlns:a="http://schemas.openxmlformats.org/drawingml/2006/main">
              <a:ext uri="{FF2B5EF4-FFF2-40B4-BE49-F238E27FC236}">
                <a16:creationId xmlns:a16="http://schemas.microsoft.com/office/drawing/2014/main" id="{BCB48D69-C472-4642-B502-7FD98B46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62" name="value-bg-3-0">
            <a:extLst xmlns:a="http://schemas.openxmlformats.org/drawingml/2006/main">
              <a:ext uri="{FF2B5EF4-FFF2-40B4-BE49-F238E27FC236}">
                <a16:creationId xmlns:a16="http://schemas.microsoft.com/office/drawing/2014/main" id="{5C44755A-754C-4AF7-B85D-F2F510059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3" name="value-3-0">
            <a:extLst xmlns:a="http://schemas.openxmlformats.org/drawingml/2006/main">
              <a:ext uri="{FF2B5EF4-FFF2-40B4-BE49-F238E27FC236}">
                <a16:creationId xmlns:a16="http://schemas.microsoft.com/office/drawing/2014/main" id="{4FF67A8C-2EA4-4369-AC57-1251DF6ED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64" name="label-3-1">
            <a:extLst xmlns:a="http://schemas.openxmlformats.org/drawingml/2006/main">
              <a:ext uri="{FF2B5EF4-FFF2-40B4-BE49-F238E27FC236}">
                <a16:creationId xmlns:a16="http://schemas.microsoft.com/office/drawing/2014/main" id="{304B3CDD-81F2-4401-881B-117A3AEB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65" name="value-bg-3-1">
            <a:extLst xmlns:a="http://schemas.openxmlformats.org/drawingml/2006/main">
              <a:ext uri="{FF2B5EF4-FFF2-40B4-BE49-F238E27FC236}">
                <a16:creationId xmlns:a16="http://schemas.microsoft.com/office/drawing/2014/main" id="{00EC226D-B1A8-44EC-8EBF-8F8F5DB3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6" name="value-3-1">
            <a:extLst xmlns:a="http://schemas.openxmlformats.org/drawingml/2006/main">
              <a:ext uri="{FF2B5EF4-FFF2-40B4-BE49-F238E27FC236}">
                <a16:creationId xmlns:a16="http://schemas.microsoft.com/office/drawing/2014/main" id="{85F9FDDC-C76A-4726-9D5C-385E527C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67" name="label-3-2">
            <a:extLst xmlns:a="http://schemas.openxmlformats.org/drawingml/2006/main">
              <a:ext uri="{FF2B5EF4-FFF2-40B4-BE49-F238E27FC236}">
                <a16:creationId xmlns:a16="http://schemas.microsoft.com/office/drawing/2014/main" id="{117CC82B-E186-4126-8A6B-323386FC5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68" name="value-bg-3-2">
            <a:extLst xmlns:a="http://schemas.openxmlformats.org/drawingml/2006/main">
              <a:ext uri="{FF2B5EF4-FFF2-40B4-BE49-F238E27FC236}">
                <a16:creationId xmlns:a16="http://schemas.microsoft.com/office/drawing/2014/main" id="{E42DC638-C998-445C-9EFE-AB9CC9BC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69" name="value-3-2">
            <a:extLst xmlns:a="http://schemas.openxmlformats.org/drawingml/2006/main">
              <a:ext uri="{FF2B5EF4-FFF2-40B4-BE49-F238E27FC236}">
                <a16:creationId xmlns:a16="http://schemas.microsoft.com/office/drawing/2014/main" id="{0090390C-DACB-4701-B777-A47C034C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37,375</a:t>
            </a:r>
          </a:p>
        </p:txBody>
      </p:sp>
      <p:sp>
        <p:nvSpPr>
          <p:cNvPr id="70" name="label-3-3">
            <a:extLst xmlns:a="http://schemas.openxmlformats.org/drawingml/2006/main">
              <a:ext uri="{FF2B5EF4-FFF2-40B4-BE49-F238E27FC236}">
                <a16:creationId xmlns:a16="http://schemas.microsoft.com/office/drawing/2014/main" id="{A20ECAFC-8E05-47D2-9E48-6CD7AFCF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71" name="value-bg-3-3">
            <a:extLst xmlns:a="http://schemas.openxmlformats.org/drawingml/2006/main">
              <a:ext uri="{FF2B5EF4-FFF2-40B4-BE49-F238E27FC236}">
                <a16:creationId xmlns:a16="http://schemas.microsoft.com/office/drawing/2014/main" id="{03E10734-030D-40D5-8248-933117B3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1EA7CF"/>
            </a:solidFill>
            <a:prstDash val="solid"/>
          </a:ln>
        </p:spPr>
      </p:sp>
      <p:sp>
        <p:nvSpPr>
          <p:cNvPr id="72" name="value-3-3">
            <a:extLst xmlns:a="http://schemas.openxmlformats.org/drawingml/2006/main">
              <a:ext uri="{FF2B5EF4-FFF2-40B4-BE49-F238E27FC236}">
                <a16:creationId xmlns:a16="http://schemas.microsoft.com/office/drawing/2014/main" id="{BA5A8B8A-9AEF-45A7-9D7E-1187E930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A7C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A7CF"/>
                </a:solidFill>
                <a:latin typeface="Aptos"/>
                <a:ea typeface="Aptos"/>
                <a:cs typeface="Aptos"/>
              </a:rPr>
              <a:t>$2,429,375</a:t>
            </a:r>
          </a:p>
        </p:txBody>
      </p:sp>
      <p:sp>
        <p:nvSpPr>
          <p:cNvPr id="73" name="metric-card-4">
            <a:extLst xmlns:a="http://schemas.openxmlformats.org/drawingml/2006/main">
              <a:ext uri="{FF2B5EF4-FFF2-40B4-BE49-F238E27FC236}">
                <a16:creationId xmlns:a16="http://schemas.microsoft.com/office/drawing/2014/main" id="{71ABDC84-5595-4984-8AB2-216C756B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57300"/>
            <a:ext cx="2133600" cy="478155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4" name="metric-cap-4">
            <a:extLst xmlns:a="http://schemas.openxmlformats.org/drawingml/2006/main">
              <a:ext uri="{FF2B5EF4-FFF2-40B4-BE49-F238E27FC236}">
                <a16:creationId xmlns:a16="http://schemas.microsoft.com/office/drawing/2014/main" id="{6368109A-4FFA-4178-BFCD-844479C2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257300"/>
            <a:ext cx="21336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38A1C"/>
          </a:solidFill>
          <a:ln xmlns:a="http://schemas.openxmlformats.org/drawingml/2006/main" w="0">
            <a:solidFill>
              <a:srgbClr val="D38A1C"/>
            </a:solidFill>
            <a:prstDash val="solid"/>
          </a:ln>
        </p:spPr>
      </p:sp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80305a3854230"/>
          <a:stretch xmlns:a="http://schemas.openxmlformats.org/drawingml/2006/main"/>
        </p:blipFill>
        <p:spPr>
          <a:xfrm xmlns:a="http://schemas.openxmlformats.org/drawingml/2006/main">
            <a:off x="9735156" y="1362075"/>
            <a:ext cx="379789" cy="571500"/>
          </a:xfrm>
          <a:prstGeom xmlns:a="http://schemas.openxmlformats.org/drawingml/2006/main" prst="rect">
            <a:avLst/>
          </a:prstGeom>
        </p:spPr>
      </p:pic>
      <p:sp>
        <p:nvSpPr>
          <p:cNvPr id="76" name="metric-name-4">
            <a:extLst xmlns:a="http://schemas.openxmlformats.org/drawingml/2006/main">
              <a:ext uri="{FF2B5EF4-FFF2-40B4-BE49-F238E27FC236}">
                <a16:creationId xmlns:a16="http://schemas.microsoft.com/office/drawing/2014/main" id="{987912FF-D461-4A40-BCE4-E0543D8D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4287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 Load</a:t>
            </a:r>
          </a:p>
        </p:txBody>
      </p:sp>
      <p:sp>
        <p:nvSpPr>
          <p:cNvPr id="77" name="label-4-0">
            <a:extLst xmlns:a="http://schemas.openxmlformats.org/drawingml/2006/main">
              <a:ext uri="{FF2B5EF4-FFF2-40B4-BE49-F238E27FC236}">
                <a16:creationId xmlns:a16="http://schemas.microsoft.com/office/drawing/2014/main" id="{23E435D3-4F97-4A44-A336-E324910F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247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FILE COUNT</a:t>
            </a:r>
          </a:p>
        </p:txBody>
      </p:sp>
      <p:sp>
        <p:nvSpPr>
          <p:cNvPr id="78" name="value-bg-4-0">
            <a:extLst xmlns:a="http://schemas.openxmlformats.org/drawingml/2006/main">
              <a:ext uri="{FF2B5EF4-FFF2-40B4-BE49-F238E27FC236}">
                <a16:creationId xmlns:a16="http://schemas.microsoft.com/office/drawing/2014/main" id="{B011BC1B-E26C-46F4-B4DB-6B03A9DC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050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79" name="value-4-0">
            <a:extLst xmlns:a="http://schemas.openxmlformats.org/drawingml/2006/main">
              <a:ext uri="{FF2B5EF4-FFF2-40B4-BE49-F238E27FC236}">
                <a16:creationId xmlns:a16="http://schemas.microsoft.com/office/drawing/2014/main" id="{E0454C4B-6851-4145-86AE-6BFDFABB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241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NA</a:t>
            </a:r>
          </a:p>
        </p:txBody>
      </p:sp>
      <p:sp>
        <p:nvSpPr>
          <p:cNvPr id="80" name="label-4-1">
            <a:extLst xmlns:a="http://schemas.openxmlformats.org/drawingml/2006/main">
              <a:ext uri="{FF2B5EF4-FFF2-40B4-BE49-F238E27FC236}">
                <a16:creationId xmlns:a16="http://schemas.microsoft.com/office/drawing/2014/main" id="{D7F06A16-EF20-49E8-B923-5AC9C76A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1432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PATTERN COUNT</a:t>
            </a:r>
          </a:p>
        </p:txBody>
      </p:sp>
      <p:sp>
        <p:nvSpPr>
          <p:cNvPr id="81" name="value-bg-4-1">
            <a:extLst xmlns:a="http://schemas.openxmlformats.org/drawingml/2006/main">
              <a:ext uri="{FF2B5EF4-FFF2-40B4-BE49-F238E27FC236}">
                <a16:creationId xmlns:a16="http://schemas.microsoft.com/office/drawing/2014/main" id="{695CB5A4-EF56-4A31-8752-DBEDDC7B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004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82" name="value-4-1">
            <a:extLst xmlns:a="http://schemas.openxmlformats.org/drawingml/2006/main">
              <a:ext uri="{FF2B5EF4-FFF2-40B4-BE49-F238E27FC236}">
                <a16:creationId xmlns:a16="http://schemas.microsoft.com/office/drawing/2014/main" id="{DB38FF1C-BE45-4DB5-BDC5-A5EC1336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4194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748</a:t>
            </a:r>
          </a:p>
        </p:txBody>
      </p:sp>
      <p:sp>
        <p:nvSpPr>
          <p:cNvPr id="83" name="label-4-2">
            <a:extLst xmlns:a="http://schemas.openxmlformats.org/drawingml/2006/main">
              <a:ext uri="{FF2B5EF4-FFF2-40B4-BE49-F238E27FC236}">
                <a16:creationId xmlns:a16="http://schemas.microsoft.com/office/drawing/2014/main" id="{E0B38689-9189-4BFA-9884-889526384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386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EFFORT (HRS.)</a:t>
            </a:r>
          </a:p>
        </p:txBody>
      </p:sp>
      <p:sp>
        <p:nvSpPr>
          <p:cNvPr id="84" name="value-bg-4-2">
            <a:extLst xmlns:a="http://schemas.openxmlformats.org/drawingml/2006/main">
              <a:ext uri="{FF2B5EF4-FFF2-40B4-BE49-F238E27FC236}">
                <a16:creationId xmlns:a16="http://schemas.microsoft.com/office/drawing/2014/main" id="{F75603AD-BC22-4E14-918C-FB44A013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9577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7FAFD"/>
          </a:solidFill>
          <a:ln xmlns:a="http://schemas.openxmlformats.org/drawingml/2006/main" w="9525">
            <a:solidFill>
              <a:srgbClr val="D3DFEA"/>
            </a:solidFill>
            <a:prstDash val="solid"/>
          </a:ln>
        </p:spPr>
      </p:sp>
      <p:sp>
        <p:nvSpPr>
          <p:cNvPr id="85" name="value-4-2">
            <a:extLst xmlns:a="http://schemas.openxmlformats.org/drawingml/2006/main">
              <a:ext uri="{FF2B5EF4-FFF2-40B4-BE49-F238E27FC236}">
                <a16:creationId xmlns:a16="http://schemas.microsoft.com/office/drawing/2014/main" id="{A49F0B3A-BC92-42E7-8EFA-EDEB20126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431482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18,688</a:t>
            </a:r>
          </a:p>
        </p:txBody>
      </p:sp>
      <p:sp>
        <p:nvSpPr>
          <p:cNvPr id="86" name="label-4-3">
            <a:extLst xmlns:a="http://schemas.openxmlformats.org/drawingml/2006/main">
              <a:ext uri="{FF2B5EF4-FFF2-40B4-BE49-F238E27FC236}">
                <a16:creationId xmlns:a16="http://schemas.microsoft.com/office/drawing/2014/main" id="{562BBA37-8897-49BC-AB23-30B4F352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93395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2222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9687A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87" name="value-bg-4-3">
            <a:extLst xmlns:a="http://schemas.openxmlformats.org/drawingml/2006/main">
              <a:ext uri="{FF2B5EF4-FFF2-40B4-BE49-F238E27FC236}">
                <a16:creationId xmlns:a16="http://schemas.microsoft.com/office/drawing/2014/main" id="{169C3399-47F9-4011-ABE6-3724C1B6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5191125"/>
            <a:ext cx="1866900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EDF4FA"/>
          </a:solidFill>
          <a:ln xmlns:a="http://schemas.openxmlformats.org/drawingml/2006/main" w="14288">
            <a:solidFill>
              <a:srgbClr val="D38A1C"/>
            </a:solidFill>
            <a:prstDash val="solid"/>
          </a:ln>
        </p:spPr>
      </p:sp>
      <p:sp>
        <p:nvSpPr>
          <p:cNvPr id="88" name="value-4-3">
            <a:extLst xmlns:a="http://schemas.openxmlformats.org/drawingml/2006/main">
              <a:ext uri="{FF2B5EF4-FFF2-40B4-BE49-F238E27FC236}">
                <a16:creationId xmlns:a16="http://schemas.microsoft.com/office/drawing/2014/main" id="{B0A2303A-A871-4136-8A1C-850888A4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5210175"/>
            <a:ext cx="1771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38A1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D38A1C"/>
                </a:solidFill>
                <a:latin typeface="Aptos"/>
                <a:ea typeface="Aptos"/>
                <a:cs typeface="Aptos"/>
              </a:rPr>
              <a:t>$1,214,688</a:t>
            </a:r>
          </a:p>
        </p:txBody>
      </p:sp>
      <p:sp>
        <p:nvSpPr>
          <p:cNvPr id="89" name="source-note">
            <a:extLst xmlns:a="http://schemas.openxmlformats.org/drawingml/2006/main">
              <a:ext uri="{FF2B5EF4-FFF2-40B4-BE49-F238E27FC236}">
                <a16:creationId xmlns:a16="http://schemas.microsoft.com/office/drawing/2014/main" id="{F9F50525-067E-44FC-AEE7-622D4B61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531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687A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687A"/>
                </a:solidFill>
                <a:latin typeface="Aptos"/>
                <a:ea typeface="Aptos"/>
                <a:cs typeface="Aptos"/>
              </a:rPr>
              <a:t>Values reproduced exactly from the supplied workbook screenshots.</a:t>
            </a:r>
          </a:p>
        </p:txBody>
      </p:sp>
    </p:spTree>
    <p:extLst>
      <p:ext uri="{BB962C8B-B14F-4D97-AF65-F5344CB8AC3E}">
        <p14:creationId xmlns:p14="http://schemas.microsoft.com/office/powerpoint/2010/main" val="15057308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2026-09-10T13:22:39.3030000Z</dcterms:created>
  <dcterms:modified xsi:type="dcterms:W3CDTF">2026-09-10T13:22:39.3030000Z</dcterms:modified>
</coreProperties>
</file>