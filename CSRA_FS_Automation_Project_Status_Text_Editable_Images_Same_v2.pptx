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7" d="100"/>
          <a:sy n="107" d="100"/>
        </p:scale>
        <p:origin x="7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44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7266D"/>
          </a:solidFill>
          <a:ln w="12700">
            <a:solidFill>
              <a:srgbClr val="172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731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CSRA FS Automation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" y="356616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Standardizing and automating the CSRA fee schedule process to improve accuracy, efficiency, and scalability.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4592" y="658368"/>
            <a:ext cx="11868912" cy="749808"/>
          </a:xfrm>
          <a:prstGeom prst="roundRect">
            <a:avLst>
              <a:gd name="adj" fmla="val 7317"/>
            </a:avLst>
          </a:prstGeom>
          <a:solidFill>
            <a:srgbClr val="F8FCFF"/>
          </a:solidFill>
          <a:ln w="8890">
            <a:solidFill>
              <a:srgbClr val="A7D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658368"/>
            <a:ext cx="11868912" cy="2286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04088"/>
            <a:ext cx="1164945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7266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 and automate the CSRA fee schedule process across CMS state file download, SOP review and update, master file / QNXT validation, data-load preparation, and latest fee update in QNXT.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1508760"/>
            <a:ext cx="1186891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D4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" y="1508760"/>
            <a:ext cx="11868912" cy="23774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554480"/>
            <a:ext cx="1164945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Top-Level Metrics / Summary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746504"/>
            <a:ext cx="2487168" cy="438912"/>
          </a:xfrm>
          <a:prstGeom prst="roundRect">
            <a:avLst>
              <a:gd name="adj" fmla="val 12500"/>
            </a:avLst>
          </a:prstGeom>
          <a:solidFill>
            <a:srgbClr val="F4FAFF"/>
          </a:solidFill>
          <a:ln w="8890">
            <a:solidFill>
              <a:srgbClr val="DAE9F7"/>
            </a:solidFill>
            <a:prstDash val="solid"/>
          </a:ln>
          <a:effectLst>
            <a:outerShdw blurRad="12700" dist="50800" dir="2700000" algn="bl" rotWithShape="0">
              <a:srgbClr val="D9E6F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csra_assets_exact/metric_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60220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6968" y="1801368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68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05256" y="201168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68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Files Live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172968" y="1746504"/>
            <a:ext cx="2487168" cy="438912"/>
          </a:xfrm>
          <a:prstGeom prst="roundRect">
            <a:avLst>
              <a:gd name="adj" fmla="val 12500"/>
            </a:avLst>
          </a:prstGeom>
          <a:solidFill>
            <a:srgbClr val="F4FAFF"/>
          </a:solidFill>
          <a:ln w="8890">
            <a:solidFill>
              <a:srgbClr val="DAE9F7"/>
            </a:solidFill>
            <a:prstDash val="solid"/>
          </a:ln>
          <a:effectLst>
            <a:outerShdw blurRad="12700" dist="50800" dir="2700000" algn="bl" rotWithShape="0">
              <a:srgbClr val="D9E6F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/mnt/data/csra_assets_exact/metric_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760220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39896" y="1801368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5C1DB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300K+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3758184" y="201168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C1D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Validated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062472" y="1746504"/>
            <a:ext cx="2487168" cy="438912"/>
          </a:xfrm>
          <a:prstGeom prst="roundRect">
            <a:avLst>
              <a:gd name="adj" fmla="val 12500"/>
            </a:avLst>
          </a:prstGeom>
          <a:solidFill>
            <a:srgbClr val="F4FAFF"/>
          </a:solidFill>
          <a:ln w="8890">
            <a:solidFill>
              <a:srgbClr val="DAE9F7"/>
            </a:solidFill>
            <a:prstDash val="solid"/>
          </a:ln>
          <a:effectLst>
            <a:outerShdw blurRad="12700" dist="50800" dir="2700000" algn="bl" rotWithShape="0">
              <a:srgbClr val="D9E6F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/mnt/data/csra_assets_exact/metric_augu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760220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9400" y="1801368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647688" y="201168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E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August Files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8942832" y="1746504"/>
            <a:ext cx="2487168" cy="438912"/>
          </a:xfrm>
          <a:prstGeom prst="roundRect">
            <a:avLst>
              <a:gd name="adj" fmla="val 12500"/>
            </a:avLst>
          </a:prstGeom>
          <a:solidFill>
            <a:srgbClr val="F4FAFF"/>
          </a:solidFill>
          <a:ln w="8890">
            <a:solidFill>
              <a:srgbClr val="DAE9F7"/>
            </a:solidFill>
            <a:prstDash val="solid"/>
          </a:ln>
          <a:effectLst>
            <a:outerShdw blurRad="12700" dist="50800" dir="2700000" algn="bl" rotWithShape="0">
              <a:srgbClr val="D9E6F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/mnt/data/csra_assets_exact/metric_20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1704" y="1760220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09760" y="1801368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124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528048" y="201168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Files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164592" y="2432304"/>
            <a:ext cx="635508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8890">
            <a:solidFill>
              <a:srgbClr val="D4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164592" y="2432304"/>
            <a:ext cx="6355080" cy="25603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274320" y="2478024"/>
            <a:ext cx="6135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/ Issues / Assumptions / Opportunities / Dependencies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164592" y="2688336"/>
            <a:ext cx="1225296" cy="210312"/>
          </a:xfrm>
          <a:prstGeom prst="rect">
            <a:avLst/>
          </a:prstGeom>
          <a:solidFill>
            <a:srgbClr val="EEF4FA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201168" y="2715768"/>
            <a:ext cx="11521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132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</a:t>
            </a:r>
            <a:endParaRPr lang="en-US" sz="590" dirty="0"/>
          </a:p>
        </p:txBody>
      </p:sp>
      <p:sp>
        <p:nvSpPr>
          <p:cNvPr id="33" name="Shape 27"/>
          <p:cNvSpPr/>
          <p:nvPr/>
        </p:nvSpPr>
        <p:spPr>
          <a:xfrm>
            <a:off x="1389888" y="2688336"/>
            <a:ext cx="2148840" cy="210312"/>
          </a:xfrm>
          <a:prstGeom prst="rect">
            <a:avLst/>
          </a:prstGeom>
          <a:solidFill>
            <a:srgbClr val="EEF4FA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1426464" y="2715768"/>
            <a:ext cx="20756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132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590" dirty="0"/>
          </a:p>
        </p:txBody>
      </p:sp>
      <p:sp>
        <p:nvSpPr>
          <p:cNvPr id="35" name="Shape 29"/>
          <p:cNvSpPr/>
          <p:nvPr/>
        </p:nvSpPr>
        <p:spPr>
          <a:xfrm>
            <a:off x="3538728" y="2688336"/>
            <a:ext cx="1847088" cy="210312"/>
          </a:xfrm>
          <a:prstGeom prst="rect">
            <a:avLst/>
          </a:prstGeom>
          <a:solidFill>
            <a:srgbClr val="EEF4FA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3575304" y="2715768"/>
            <a:ext cx="1773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132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/ Next Steps</a:t>
            </a:r>
            <a:endParaRPr lang="en-US" sz="590" dirty="0"/>
          </a:p>
        </p:txBody>
      </p:sp>
      <p:sp>
        <p:nvSpPr>
          <p:cNvPr id="37" name="Shape 31"/>
          <p:cNvSpPr/>
          <p:nvPr/>
        </p:nvSpPr>
        <p:spPr>
          <a:xfrm>
            <a:off x="5385816" y="2688336"/>
            <a:ext cx="1133856" cy="210312"/>
          </a:xfrm>
          <a:prstGeom prst="rect">
            <a:avLst/>
          </a:prstGeom>
          <a:solidFill>
            <a:srgbClr val="EEF4FA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5422392" y="2715768"/>
            <a:ext cx="10607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132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590" dirty="0"/>
          </a:p>
        </p:txBody>
      </p:sp>
      <p:sp>
        <p:nvSpPr>
          <p:cNvPr id="39" name="Shape 33"/>
          <p:cNvSpPr/>
          <p:nvPr/>
        </p:nvSpPr>
        <p:spPr>
          <a:xfrm>
            <a:off x="164592" y="2898648"/>
            <a:ext cx="122529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201168" y="2926080"/>
            <a:ext cx="11521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600" dirty="0"/>
          </a:p>
        </p:txBody>
      </p:sp>
      <p:sp>
        <p:nvSpPr>
          <p:cNvPr id="41" name="Shape 35"/>
          <p:cNvSpPr/>
          <p:nvPr/>
        </p:nvSpPr>
        <p:spPr>
          <a:xfrm>
            <a:off x="1389888" y="2898648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1435608" y="2926080"/>
            <a:ext cx="21031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business review and QNXT load confirmation remain a dependency for completed build items.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37"/>
          <p:cNvSpPr/>
          <p:nvPr/>
        </p:nvSpPr>
        <p:spPr>
          <a:xfrm>
            <a:off x="3538728" y="2898648"/>
            <a:ext cx="18470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3575304" y="2926080"/>
            <a:ext cx="17739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review and confirm QNXT load for approved items.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39"/>
          <p:cNvSpPr/>
          <p:nvPr/>
        </p:nvSpPr>
        <p:spPr>
          <a:xfrm>
            <a:off x="5385816" y="2898648"/>
            <a:ext cx="113385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5422392" y="2926080"/>
            <a:ext cx="10607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600" dirty="0"/>
          </a:p>
        </p:txBody>
      </p:sp>
      <p:pic>
        <p:nvPicPr>
          <p:cNvPr id="47" name="Image 4" descr="/mnt/data/csra_assets_exact/risk_dependen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985516"/>
            <a:ext cx="201168" cy="20116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57784" y="302666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Dependency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2"/>
          <p:cNvSpPr/>
          <p:nvPr/>
        </p:nvSpPr>
        <p:spPr>
          <a:xfrm>
            <a:off x="5532120" y="3003804"/>
            <a:ext cx="859536" cy="201168"/>
          </a:xfrm>
          <a:prstGeom prst="roundRect">
            <a:avLst>
              <a:gd name="adj" fmla="val 36364"/>
            </a:avLst>
          </a:prstGeom>
          <a:solidFill>
            <a:srgbClr val="DDEFFF"/>
          </a:solidFill>
          <a:ln w="12700">
            <a:solidFill>
              <a:srgbClr val="DDE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5532120" y="302666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Dependency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Shape 44"/>
          <p:cNvSpPr/>
          <p:nvPr/>
        </p:nvSpPr>
        <p:spPr>
          <a:xfrm>
            <a:off x="164592" y="3310128"/>
            <a:ext cx="122529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201168" y="3337560"/>
            <a:ext cx="11521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600" dirty="0"/>
          </a:p>
        </p:txBody>
      </p:sp>
      <p:sp>
        <p:nvSpPr>
          <p:cNvPr id="53" name="Shape 46"/>
          <p:cNvSpPr/>
          <p:nvPr/>
        </p:nvSpPr>
        <p:spPr>
          <a:xfrm>
            <a:off x="1389888" y="3310128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1426464" y="3337560"/>
            <a:ext cx="20756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Release 2 deployment depends on review completion for MI + IL/ILC files.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48"/>
          <p:cNvSpPr/>
          <p:nvPr/>
        </p:nvSpPr>
        <p:spPr>
          <a:xfrm>
            <a:off x="3538728" y="3310128"/>
            <a:ext cx="18470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/>
          <p:nvPr/>
        </p:nvSpPr>
        <p:spPr>
          <a:xfrm>
            <a:off x="3575304" y="3337560"/>
            <a:ext cx="17739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 review process and address open items.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Shape 50"/>
          <p:cNvSpPr/>
          <p:nvPr/>
        </p:nvSpPr>
        <p:spPr>
          <a:xfrm>
            <a:off x="5385816" y="3310128"/>
            <a:ext cx="113385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/>
          <p:nvPr/>
        </p:nvSpPr>
        <p:spPr>
          <a:xfrm>
            <a:off x="5422392" y="3337560"/>
            <a:ext cx="10607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600" dirty="0"/>
          </a:p>
        </p:txBody>
      </p:sp>
      <p:pic>
        <p:nvPicPr>
          <p:cNvPr id="59" name="Image 5" descr="/mnt/data/csra_assets_exact/risk_releas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396996"/>
            <a:ext cx="201168" cy="201168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557784" y="343814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Release 2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53"/>
          <p:cNvSpPr/>
          <p:nvPr/>
        </p:nvSpPr>
        <p:spPr>
          <a:xfrm>
            <a:off x="5532120" y="3415284"/>
            <a:ext cx="859536" cy="201168"/>
          </a:xfrm>
          <a:prstGeom prst="roundRect">
            <a:avLst>
              <a:gd name="adj" fmla="val 36364"/>
            </a:avLst>
          </a:prstGeom>
          <a:solidFill>
            <a:srgbClr val="FFF0C9"/>
          </a:solidFill>
          <a:ln w="12700">
            <a:solidFill>
              <a:srgbClr val="FFF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4"/>
          <p:cNvSpPr/>
          <p:nvPr/>
        </p:nvSpPr>
        <p:spPr>
          <a:xfrm>
            <a:off x="5532120" y="343814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Progress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164592" y="3721608"/>
            <a:ext cx="122529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6"/>
          <p:cNvSpPr/>
          <p:nvPr/>
        </p:nvSpPr>
        <p:spPr>
          <a:xfrm>
            <a:off x="201168" y="3749040"/>
            <a:ext cx="11521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600" dirty="0"/>
          </a:p>
        </p:txBody>
      </p:sp>
      <p:sp>
        <p:nvSpPr>
          <p:cNvPr id="65" name="Shape 57"/>
          <p:cNvSpPr/>
          <p:nvPr/>
        </p:nvSpPr>
        <p:spPr>
          <a:xfrm>
            <a:off x="1389888" y="3721608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8"/>
          <p:cNvSpPr/>
          <p:nvPr/>
        </p:nvSpPr>
        <p:spPr>
          <a:xfrm>
            <a:off x="1426464" y="3749040"/>
            <a:ext cx="20756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Release 3 rollout is in build progress for VA, FL, OK, and WV plans.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Shape 59"/>
          <p:cNvSpPr/>
          <p:nvPr/>
        </p:nvSpPr>
        <p:spPr>
          <a:xfrm>
            <a:off x="3538728" y="3721608"/>
            <a:ext cx="18470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0"/>
          <p:cNvSpPr/>
          <p:nvPr/>
        </p:nvSpPr>
        <p:spPr>
          <a:xfrm>
            <a:off x="3575304" y="3749040"/>
            <a:ext cx="17739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 build development and prepare for September deployment.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Shape 61"/>
          <p:cNvSpPr/>
          <p:nvPr/>
        </p:nvSpPr>
        <p:spPr>
          <a:xfrm>
            <a:off x="5385816" y="3721608"/>
            <a:ext cx="113385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2"/>
          <p:cNvSpPr/>
          <p:nvPr/>
        </p:nvSpPr>
        <p:spPr>
          <a:xfrm>
            <a:off x="5422392" y="3749040"/>
            <a:ext cx="10607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600" dirty="0"/>
          </a:p>
        </p:txBody>
      </p:sp>
      <p:pic>
        <p:nvPicPr>
          <p:cNvPr id="71" name="Image 6" descr="/mnt/data/csra_assets_exact/risk_release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3808476"/>
            <a:ext cx="201168" cy="201168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557784" y="384962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Release 3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64"/>
          <p:cNvSpPr/>
          <p:nvPr/>
        </p:nvSpPr>
        <p:spPr>
          <a:xfrm>
            <a:off x="5532120" y="3826764"/>
            <a:ext cx="859536" cy="201168"/>
          </a:xfrm>
          <a:prstGeom prst="roundRect">
            <a:avLst>
              <a:gd name="adj" fmla="val 36364"/>
            </a:avLst>
          </a:prstGeom>
          <a:solidFill>
            <a:srgbClr val="FFF0C9"/>
          </a:solidFill>
          <a:ln w="12700">
            <a:solidFill>
              <a:srgbClr val="FFF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5"/>
          <p:cNvSpPr/>
          <p:nvPr/>
        </p:nvSpPr>
        <p:spPr>
          <a:xfrm>
            <a:off x="5532120" y="384962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Progress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Shape 66"/>
          <p:cNvSpPr/>
          <p:nvPr/>
        </p:nvSpPr>
        <p:spPr>
          <a:xfrm>
            <a:off x="164592" y="4133088"/>
            <a:ext cx="122529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67"/>
          <p:cNvSpPr/>
          <p:nvPr/>
        </p:nvSpPr>
        <p:spPr>
          <a:xfrm>
            <a:off x="201168" y="4160520"/>
            <a:ext cx="11521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600" dirty="0"/>
          </a:p>
        </p:txBody>
      </p:sp>
      <p:sp>
        <p:nvSpPr>
          <p:cNvPr id="77" name="Shape 68"/>
          <p:cNvSpPr/>
          <p:nvPr/>
        </p:nvSpPr>
        <p:spPr>
          <a:xfrm>
            <a:off x="1389888" y="4133088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69"/>
          <p:cNvSpPr/>
          <p:nvPr/>
        </p:nvSpPr>
        <p:spPr>
          <a:xfrm>
            <a:off x="1426464" y="4160520"/>
            <a:ext cx="20756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deployment, validation, and monitoring framework creates opportunity to scale future file onboarding.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Shape 70"/>
          <p:cNvSpPr/>
          <p:nvPr/>
        </p:nvSpPr>
        <p:spPr>
          <a:xfrm>
            <a:off x="3538728" y="4133088"/>
            <a:ext cx="18470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1"/>
          <p:cNvSpPr/>
          <p:nvPr/>
        </p:nvSpPr>
        <p:spPr>
          <a:xfrm>
            <a:off x="3575304" y="4160520"/>
            <a:ext cx="17739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framework to onboard additional state files in 2026 and beyond.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Shape 72"/>
          <p:cNvSpPr/>
          <p:nvPr/>
        </p:nvSpPr>
        <p:spPr>
          <a:xfrm>
            <a:off x="5385816" y="4133088"/>
            <a:ext cx="113385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3"/>
          <p:cNvSpPr/>
          <p:nvPr/>
        </p:nvSpPr>
        <p:spPr>
          <a:xfrm>
            <a:off x="5422392" y="4160520"/>
            <a:ext cx="10607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600" dirty="0"/>
          </a:p>
        </p:txBody>
      </p:sp>
      <p:pic>
        <p:nvPicPr>
          <p:cNvPr id="83" name="Image 7" descr="/mnt/data/csra_assets_exact/risk_opportun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4219956"/>
            <a:ext cx="201168" cy="201168"/>
          </a:xfrm>
          <a:prstGeom prst="rect">
            <a:avLst/>
          </a:prstGeom>
        </p:spPr>
      </p:pic>
      <p:sp>
        <p:nvSpPr>
          <p:cNvPr id="84" name="Text 74"/>
          <p:cNvSpPr/>
          <p:nvPr/>
        </p:nvSpPr>
        <p:spPr>
          <a:xfrm>
            <a:off x="557784" y="426110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Opportunity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Shape 75"/>
          <p:cNvSpPr/>
          <p:nvPr/>
        </p:nvSpPr>
        <p:spPr>
          <a:xfrm>
            <a:off x="5532120" y="4238244"/>
            <a:ext cx="859536" cy="201168"/>
          </a:xfrm>
          <a:prstGeom prst="roundRect">
            <a:avLst>
              <a:gd name="adj" fmla="val 36364"/>
            </a:avLst>
          </a:prstGeom>
          <a:solidFill>
            <a:srgbClr val="DDF4E5"/>
          </a:solidFill>
          <a:ln w="12700">
            <a:solidFill>
              <a:srgbClr val="DDF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76"/>
          <p:cNvSpPr/>
          <p:nvPr/>
        </p:nvSpPr>
        <p:spPr>
          <a:xfrm>
            <a:off x="5532120" y="426110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B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Track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Shape 77"/>
          <p:cNvSpPr/>
          <p:nvPr/>
        </p:nvSpPr>
        <p:spPr>
          <a:xfrm>
            <a:off x="6629400" y="2432304"/>
            <a:ext cx="54041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8890">
            <a:solidFill>
              <a:srgbClr val="D4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78"/>
          <p:cNvSpPr/>
          <p:nvPr/>
        </p:nvSpPr>
        <p:spPr>
          <a:xfrm>
            <a:off x="6629400" y="2432304"/>
            <a:ext cx="5404104" cy="25603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79"/>
          <p:cNvSpPr/>
          <p:nvPr/>
        </p:nvSpPr>
        <p:spPr>
          <a:xfrm>
            <a:off x="6739128" y="2478024"/>
            <a:ext cx="518464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90" name="Shape 80"/>
          <p:cNvSpPr/>
          <p:nvPr/>
        </p:nvSpPr>
        <p:spPr>
          <a:xfrm>
            <a:off x="6629400" y="2688336"/>
            <a:ext cx="3246120" cy="210312"/>
          </a:xfrm>
          <a:prstGeom prst="rect">
            <a:avLst/>
          </a:prstGeom>
          <a:solidFill>
            <a:srgbClr val="EEF4FA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1"/>
          <p:cNvSpPr/>
          <p:nvPr/>
        </p:nvSpPr>
        <p:spPr>
          <a:xfrm>
            <a:off x="6665976" y="2715768"/>
            <a:ext cx="31729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132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Milestone</a:t>
            </a:r>
            <a:endParaRPr lang="en-US" sz="590" dirty="0"/>
          </a:p>
        </p:txBody>
      </p:sp>
      <p:sp>
        <p:nvSpPr>
          <p:cNvPr id="92" name="Shape 82"/>
          <p:cNvSpPr/>
          <p:nvPr/>
        </p:nvSpPr>
        <p:spPr>
          <a:xfrm>
            <a:off x="9875520" y="2688336"/>
            <a:ext cx="1033272" cy="210312"/>
          </a:xfrm>
          <a:prstGeom prst="rect">
            <a:avLst/>
          </a:prstGeom>
          <a:solidFill>
            <a:srgbClr val="EEF4FA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3"/>
          <p:cNvSpPr/>
          <p:nvPr/>
        </p:nvSpPr>
        <p:spPr>
          <a:xfrm>
            <a:off x="9912096" y="2715768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1320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/ Status</a:t>
            </a:r>
            <a:endParaRPr lang="en-US" sz="590" dirty="0"/>
          </a:p>
        </p:txBody>
      </p:sp>
      <p:sp>
        <p:nvSpPr>
          <p:cNvPr id="94" name="Shape 84"/>
          <p:cNvSpPr/>
          <p:nvPr/>
        </p:nvSpPr>
        <p:spPr>
          <a:xfrm>
            <a:off x="10908792" y="2688336"/>
            <a:ext cx="1124712" cy="210312"/>
          </a:xfrm>
          <a:prstGeom prst="rect">
            <a:avLst/>
          </a:prstGeom>
          <a:solidFill>
            <a:srgbClr val="EEF4FA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5"/>
          <p:cNvSpPr/>
          <p:nvPr/>
        </p:nvSpPr>
        <p:spPr>
          <a:xfrm>
            <a:off x="10945368" y="2715768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590" dirty="0"/>
          </a:p>
        </p:txBody>
      </p:sp>
      <p:sp>
        <p:nvSpPr>
          <p:cNvPr id="96" name="Shape 86"/>
          <p:cNvSpPr/>
          <p:nvPr/>
        </p:nvSpPr>
        <p:spPr>
          <a:xfrm>
            <a:off x="6629400" y="2898648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87"/>
          <p:cNvSpPr/>
          <p:nvPr/>
        </p:nvSpPr>
        <p:spPr>
          <a:xfrm>
            <a:off x="6665976" y="2926080"/>
            <a:ext cx="317296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 POC foundation – PROD deployment and first run completed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Shape 88"/>
          <p:cNvSpPr/>
          <p:nvPr/>
        </p:nvSpPr>
        <p:spPr>
          <a:xfrm>
            <a:off x="9875520" y="2898648"/>
            <a:ext cx="10332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89"/>
          <p:cNvSpPr/>
          <p:nvPr/>
        </p:nvSpPr>
        <p:spPr>
          <a:xfrm>
            <a:off x="9912096" y="2926080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07/15/2026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Shape 90"/>
          <p:cNvSpPr/>
          <p:nvPr/>
        </p:nvSpPr>
        <p:spPr>
          <a:xfrm>
            <a:off x="10908792" y="2898648"/>
            <a:ext cx="112471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1"/>
          <p:cNvSpPr/>
          <p:nvPr/>
        </p:nvSpPr>
        <p:spPr>
          <a:xfrm>
            <a:off x="10945368" y="2926080"/>
            <a:ext cx="1051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585" dirty="0"/>
          </a:p>
        </p:txBody>
      </p:sp>
      <p:sp>
        <p:nvSpPr>
          <p:cNvPr id="102" name="Shape 92"/>
          <p:cNvSpPr/>
          <p:nvPr/>
        </p:nvSpPr>
        <p:spPr>
          <a:xfrm>
            <a:off x="10991088" y="2948940"/>
            <a:ext cx="896112" cy="201168"/>
          </a:xfrm>
          <a:prstGeom prst="roundRect">
            <a:avLst>
              <a:gd name="adj" fmla="val 36364"/>
            </a:avLst>
          </a:prstGeom>
          <a:solidFill>
            <a:srgbClr val="DDF4E5"/>
          </a:solidFill>
          <a:ln w="12700">
            <a:solidFill>
              <a:srgbClr val="DDF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3"/>
          <p:cNvSpPr/>
          <p:nvPr/>
        </p:nvSpPr>
        <p:spPr>
          <a:xfrm>
            <a:off x="10991088" y="297180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B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Completed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Shape 94"/>
          <p:cNvSpPr/>
          <p:nvPr/>
        </p:nvSpPr>
        <p:spPr>
          <a:xfrm>
            <a:off x="6629400" y="3182112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95"/>
          <p:cNvSpPr/>
          <p:nvPr/>
        </p:nvSpPr>
        <p:spPr>
          <a:xfrm>
            <a:off x="6665976" y="3209544"/>
            <a:ext cx="317296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38 MI FS files live and 300K+ records validated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Shape 96"/>
          <p:cNvSpPr/>
          <p:nvPr/>
        </p:nvSpPr>
        <p:spPr>
          <a:xfrm>
            <a:off x="9875520" y="3182112"/>
            <a:ext cx="10332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97"/>
          <p:cNvSpPr/>
          <p:nvPr/>
        </p:nvSpPr>
        <p:spPr>
          <a:xfrm>
            <a:off x="9912096" y="3209544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July 2026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Shape 98"/>
          <p:cNvSpPr/>
          <p:nvPr/>
        </p:nvSpPr>
        <p:spPr>
          <a:xfrm>
            <a:off x="10908792" y="3182112"/>
            <a:ext cx="112471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99"/>
          <p:cNvSpPr/>
          <p:nvPr/>
        </p:nvSpPr>
        <p:spPr>
          <a:xfrm>
            <a:off x="10945368" y="3209544"/>
            <a:ext cx="1051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585" dirty="0"/>
          </a:p>
        </p:txBody>
      </p:sp>
      <p:sp>
        <p:nvSpPr>
          <p:cNvPr id="110" name="Shape 100"/>
          <p:cNvSpPr/>
          <p:nvPr/>
        </p:nvSpPr>
        <p:spPr>
          <a:xfrm>
            <a:off x="10991088" y="3232404"/>
            <a:ext cx="896112" cy="201168"/>
          </a:xfrm>
          <a:prstGeom prst="roundRect">
            <a:avLst>
              <a:gd name="adj" fmla="val 36364"/>
            </a:avLst>
          </a:prstGeom>
          <a:solidFill>
            <a:srgbClr val="DDF4E5"/>
          </a:solidFill>
          <a:ln w="12700">
            <a:solidFill>
              <a:srgbClr val="DDF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1"/>
          <p:cNvSpPr/>
          <p:nvPr/>
        </p:nvSpPr>
        <p:spPr>
          <a:xfrm>
            <a:off x="10991088" y="325526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B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Completed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Shape 102"/>
          <p:cNvSpPr/>
          <p:nvPr/>
        </p:nvSpPr>
        <p:spPr>
          <a:xfrm>
            <a:off x="6629400" y="3465576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03"/>
          <p:cNvSpPr/>
          <p:nvPr/>
        </p:nvSpPr>
        <p:spPr>
          <a:xfrm>
            <a:off x="6665976" y="3493008"/>
            <a:ext cx="317296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Release 2: MI + IL/ILC delivery (3 plans | 25 Fee IDs | 35 files)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Shape 104"/>
          <p:cNvSpPr/>
          <p:nvPr/>
        </p:nvSpPr>
        <p:spPr>
          <a:xfrm>
            <a:off x="9875520" y="3465576"/>
            <a:ext cx="10332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05"/>
          <p:cNvSpPr/>
          <p:nvPr/>
        </p:nvSpPr>
        <p:spPr>
          <a:xfrm>
            <a:off x="9912096" y="3493008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August 2026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Shape 106"/>
          <p:cNvSpPr/>
          <p:nvPr/>
        </p:nvSpPr>
        <p:spPr>
          <a:xfrm>
            <a:off x="10908792" y="3465576"/>
            <a:ext cx="112471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07"/>
          <p:cNvSpPr/>
          <p:nvPr/>
        </p:nvSpPr>
        <p:spPr>
          <a:xfrm>
            <a:off x="10945368" y="3493008"/>
            <a:ext cx="1051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585" dirty="0"/>
          </a:p>
        </p:txBody>
      </p:sp>
      <p:sp>
        <p:nvSpPr>
          <p:cNvPr id="118" name="Shape 108"/>
          <p:cNvSpPr/>
          <p:nvPr/>
        </p:nvSpPr>
        <p:spPr>
          <a:xfrm>
            <a:off x="10991088" y="3515868"/>
            <a:ext cx="896112" cy="201168"/>
          </a:xfrm>
          <a:prstGeom prst="roundRect">
            <a:avLst>
              <a:gd name="adj" fmla="val 36364"/>
            </a:avLst>
          </a:prstGeom>
          <a:solidFill>
            <a:srgbClr val="FFF0C9"/>
          </a:solidFill>
          <a:ln w="12700">
            <a:solidFill>
              <a:srgbClr val="FFF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09"/>
          <p:cNvSpPr/>
          <p:nvPr/>
        </p:nvSpPr>
        <p:spPr>
          <a:xfrm>
            <a:off x="10991088" y="35387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in Progress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Shape 110"/>
          <p:cNvSpPr/>
          <p:nvPr/>
        </p:nvSpPr>
        <p:spPr>
          <a:xfrm>
            <a:off x="6629400" y="3749040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1"/>
          <p:cNvSpPr/>
          <p:nvPr/>
        </p:nvSpPr>
        <p:spPr>
          <a:xfrm>
            <a:off x="6665976" y="3776472"/>
            <a:ext cx="317296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 deployment target for August files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Shape 112"/>
          <p:cNvSpPr/>
          <p:nvPr/>
        </p:nvSpPr>
        <p:spPr>
          <a:xfrm>
            <a:off x="9875520" y="3749040"/>
            <a:ext cx="10332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13"/>
          <p:cNvSpPr/>
          <p:nvPr/>
        </p:nvSpPr>
        <p:spPr>
          <a:xfrm>
            <a:off x="9912096" y="3776472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08/31/2026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Shape 114"/>
          <p:cNvSpPr/>
          <p:nvPr/>
        </p:nvSpPr>
        <p:spPr>
          <a:xfrm>
            <a:off x="10908792" y="3749040"/>
            <a:ext cx="112471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15"/>
          <p:cNvSpPr/>
          <p:nvPr/>
        </p:nvSpPr>
        <p:spPr>
          <a:xfrm>
            <a:off x="10945368" y="3776472"/>
            <a:ext cx="1051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585" dirty="0"/>
          </a:p>
        </p:txBody>
      </p:sp>
      <p:sp>
        <p:nvSpPr>
          <p:cNvPr id="126" name="Shape 116"/>
          <p:cNvSpPr/>
          <p:nvPr/>
        </p:nvSpPr>
        <p:spPr>
          <a:xfrm>
            <a:off x="10991088" y="3799332"/>
            <a:ext cx="896112" cy="201168"/>
          </a:xfrm>
          <a:prstGeom prst="roundRect">
            <a:avLst>
              <a:gd name="adj" fmla="val 36364"/>
            </a:avLst>
          </a:prstGeom>
          <a:solidFill>
            <a:srgbClr val="DDF4E5"/>
          </a:solidFill>
          <a:ln w="12700">
            <a:solidFill>
              <a:srgbClr val="DDF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17"/>
          <p:cNvSpPr/>
          <p:nvPr/>
        </p:nvSpPr>
        <p:spPr>
          <a:xfrm>
            <a:off x="10991088" y="382219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B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Track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Shape 118"/>
          <p:cNvSpPr/>
          <p:nvPr/>
        </p:nvSpPr>
        <p:spPr>
          <a:xfrm>
            <a:off x="6629400" y="4032504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19"/>
          <p:cNvSpPr/>
          <p:nvPr/>
        </p:nvSpPr>
        <p:spPr>
          <a:xfrm>
            <a:off x="6665976" y="4059936"/>
            <a:ext cx="317296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Release 3 rollout: VA, FL, OK + WV (4 plans | 13 Fee IDs | 19 files)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Shape 120"/>
          <p:cNvSpPr/>
          <p:nvPr/>
        </p:nvSpPr>
        <p:spPr>
          <a:xfrm>
            <a:off x="9875520" y="4032504"/>
            <a:ext cx="10332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1"/>
          <p:cNvSpPr/>
          <p:nvPr/>
        </p:nvSpPr>
        <p:spPr>
          <a:xfrm>
            <a:off x="9912096" y="4059936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September 2026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2" name="Shape 122"/>
          <p:cNvSpPr/>
          <p:nvPr/>
        </p:nvSpPr>
        <p:spPr>
          <a:xfrm>
            <a:off x="10908792" y="4032504"/>
            <a:ext cx="112471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23"/>
          <p:cNvSpPr/>
          <p:nvPr/>
        </p:nvSpPr>
        <p:spPr>
          <a:xfrm>
            <a:off x="10945368" y="4059936"/>
            <a:ext cx="1051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585" dirty="0"/>
          </a:p>
        </p:txBody>
      </p:sp>
      <p:sp>
        <p:nvSpPr>
          <p:cNvPr id="134" name="Shape 124"/>
          <p:cNvSpPr/>
          <p:nvPr/>
        </p:nvSpPr>
        <p:spPr>
          <a:xfrm>
            <a:off x="10991088" y="4082796"/>
            <a:ext cx="896112" cy="201168"/>
          </a:xfrm>
          <a:prstGeom prst="roundRect">
            <a:avLst>
              <a:gd name="adj" fmla="val 36364"/>
            </a:avLst>
          </a:prstGeom>
          <a:solidFill>
            <a:srgbClr val="FFF0C9"/>
          </a:solidFill>
          <a:ln w="12700">
            <a:solidFill>
              <a:srgbClr val="FFF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25"/>
          <p:cNvSpPr/>
          <p:nvPr/>
        </p:nvSpPr>
        <p:spPr>
          <a:xfrm>
            <a:off x="10991088" y="410565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in Progress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6" name="Shape 126"/>
          <p:cNvSpPr/>
          <p:nvPr/>
        </p:nvSpPr>
        <p:spPr>
          <a:xfrm>
            <a:off x="6629400" y="4315968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27"/>
          <p:cNvSpPr/>
          <p:nvPr/>
        </p:nvSpPr>
        <p:spPr>
          <a:xfrm>
            <a:off x="6665976" y="4343400"/>
            <a:ext cx="317296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 delivery roadmap covers 124 files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Shape 128"/>
          <p:cNvSpPr/>
          <p:nvPr/>
        </p:nvSpPr>
        <p:spPr>
          <a:xfrm>
            <a:off x="9875520" y="4315968"/>
            <a:ext cx="10332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Text 129"/>
          <p:cNvSpPr/>
          <p:nvPr/>
        </p:nvSpPr>
        <p:spPr>
          <a:xfrm>
            <a:off x="9912096" y="4343400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0" name="Shape 130"/>
          <p:cNvSpPr/>
          <p:nvPr/>
        </p:nvSpPr>
        <p:spPr>
          <a:xfrm>
            <a:off x="10908792" y="4315968"/>
            <a:ext cx="112471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9D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1"/>
          <p:cNvSpPr/>
          <p:nvPr/>
        </p:nvSpPr>
        <p:spPr>
          <a:xfrm>
            <a:off x="10945368" y="4343400"/>
            <a:ext cx="1051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585" dirty="0"/>
          </a:p>
        </p:txBody>
      </p:sp>
      <p:sp>
        <p:nvSpPr>
          <p:cNvPr id="142" name="Shape 132"/>
          <p:cNvSpPr/>
          <p:nvPr/>
        </p:nvSpPr>
        <p:spPr>
          <a:xfrm>
            <a:off x="10991088" y="4366260"/>
            <a:ext cx="896112" cy="201168"/>
          </a:xfrm>
          <a:prstGeom prst="roundRect">
            <a:avLst>
              <a:gd name="adj" fmla="val 36364"/>
            </a:avLst>
          </a:prstGeom>
          <a:solidFill>
            <a:srgbClr val="DDF4E5"/>
          </a:solidFill>
          <a:ln w="12700">
            <a:solidFill>
              <a:srgbClr val="DDF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33"/>
          <p:cNvSpPr/>
          <p:nvPr/>
        </p:nvSpPr>
        <p:spPr>
          <a:xfrm>
            <a:off x="10991088" y="438912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B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Track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4" name="Shape 134"/>
          <p:cNvSpPr/>
          <p:nvPr/>
        </p:nvSpPr>
        <p:spPr>
          <a:xfrm>
            <a:off x="164592" y="4782312"/>
            <a:ext cx="1186891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D4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35"/>
          <p:cNvSpPr/>
          <p:nvPr/>
        </p:nvSpPr>
        <p:spPr>
          <a:xfrm>
            <a:off x="164592" y="4782312"/>
            <a:ext cx="11868912" cy="25603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36"/>
          <p:cNvSpPr/>
          <p:nvPr/>
        </p:nvSpPr>
        <p:spPr>
          <a:xfrm>
            <a:off x="274320" y="4828032"/>
            <a:ext cx="1164945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Accomplishments / In Progress / Next Steps</a:t>
            </a:r>
            <a:endParaRPr lang="en-US" sz="1200" dirty="0"/>
          </a:p>
        </p:txBody>
      </p:sp>
      <p:pic>
        <p:nvPicPr>
          <p:cNvPr id="147" name="Image 8" descr="/mnt/data/csra_assets_exact/bottom_accom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" y="5111496"/>
            <a:ext cx="292608" cy="292608"/>
          </a:xfrm>
          <a:prstGeom prst="rect">
            <a:avLst/>
          </a:prstGeom>
        </p:spPr>
      </p:pic>
      <p:sp>
        <p:nvSpPr>
          <p:cNvPr id="148" name="Text 137"/>
          <p:cNvSpPr/>
          <p:nvPr/>
        </p:nvSpPr>
        <p:spPr>
          <a:xfrm>
            <a:off x="694944" y="5111496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0E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Accomplishments</a:t>
            </a:r>
            <a:endParaRPr lang="en-US" sz="1260" dirty="0"/>
          </a:p>
        </p:txBody>
      </p:sp>
      <p:sp>
        <p:nvSpPr>
          <p:cNvPr id="149" name="Text 138"/>
          <p:cNvSpPr/>
          <p:nvPr/>
        </p:nvSpPr>
        <p:spPr>
          <a:xfrm>
            <a:off x="758952" y="5404104"/>
            <a:ext cx="3154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MI POC foundation deployed successfully.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38 MI FS files are live.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300K+ records have been validated.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Standard deployment, validation, and monitoring framework created.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0" name="Shape 139"/>
          <p:cNvSpPr/>
          <p:nvPr/>
        </p:nvSpPr>
        <p:spPr>
          <a:xfrm>
            <a:off x="3995928" y="5138928"/>
            <a:ext cx="0" cy="914400"/>
          </a:xfrm>
          <a:prstGeom prst="line">
            <a:avLst/>
          </a:prstGeom>
          <a:noFill/>
          <a:ln w="8890">
            <a:solidFill>
              <a:srgbClr val="D5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1" name="Image 9" descr="/mnt/data/csra_assets_exact/bottom_progres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0520" y="5111496"/>
            <a:ext cx="292608" cy="292608"/>
          </a:xfrm>
          <a:prstGeom prst="rect">
            <a:avLst/>
          </a:prstGeom>
        </p:spPr>
      </p:pic>
      <p:sp>
        <p:nvSpPr>
          <p:cNvPr id="152" name="Text 140"/>
          <p:cNvSpPr/>
          <p:nvPr/>
        </p:nvSpPr>
        <p:spPr>
          <a:xfrm>
            <a:off x="4507992" y="5111496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D28B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Progress</a:t>
            </a:r>
            <a:endParaRPr lang="en-US" sz="1260" dirty="0"/>
          </a:p>
        </p:txBody>
      </p:sp>
      <p:sp>
        <p:nvSpPr>
          <p:cNvPr id="153" name="Text 141"/>
          <p:cNvSpPr/>
          <p:nvPr/>
        </p:nvSpPr>
        <p:spPr>
          <a:xfrm>
            <a:off x="4572000" y="5404104"/>
            <a:ext cx="30632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Controlled execution feedback incorporated.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Business final review underway; QNXT load after confirmation.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Release 2 review process in progress.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Release 3 build development in progress.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4" name="Shape 142"/>
          <p:cNvSpPr/>
          <p:nvPr/>
        </p:nvSpPr>
        <p:spPr>
          <a:xfrm>
            <a:off x="7717536" y="5138928"/>
            <a:ext cx="0" cy="914400"/>
          </a:xfrm>
          <a:prstGeom prst="line">
            <a:avLst/>
          </a:prstGeom>
          <a:noFill/>
          <a:ln w="8890">
            <a:solidFill>
              <a:srgbClr val="D5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5" name="Image 10" descr="/mnt/data/csra_assets_exact/bottom_nex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82128" y="5111496"/>
            <a:ext cx="292608" cy="292608"/>
          </a:xfrm>
          <a:prstGeom prst="rect">
            <a:avLst/>
          </a:prstGeom>
        </p:spPr>
      </p:pic>
      <p:sp>
        <p:nvSpPr>
          <p:cNvPr id="156" name="Text 143"/>
          <p:cNvSpPr/>
          <p:nvPr/>
        </p:nvSpPr>
        <p:spPr>
          <a:xfrm>
            <a:off x="8229600" y="5111496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0068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1260" dirty="0"/>
          </a:p>
        </p:txBody>
      </p:sp>
      <p:sp>
        <p:nvSpPr>
          <p:cNvPr id="157" name="Text 144"/>
          <p:cNvSpPr/>
          <p:nvPr/>
        </p:nvSpPr>
        <p:spPr>
          <a:xfrm>
            <a:off x="8293608" y="5404104"/>
            <a:ext cx="34290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Complete review and deploy August files.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Finalize QNXT load for approved items.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Continue September rollout for VA, FL, OK, and WV.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Execute against the broader 2026 roadmap.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Shape 145"/>
          <p:cNvSpPr/>
          <p:nvPr/>
        </p:nvSpPr>
        <p:spPr>
          <a:xfrm>
            <a:off x="164592" y="6428232"/>
            <a:ext cx="11868912" cy="0"/>
          </a:xfrm>
          <a:prstGeom prst="line">
            <a:avLst/>
          </a:prstGeom>
          <a:noFill/>
          <a:ln w="8890">
            <a:solidFill>
              <a:srgbClr val="E2EA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9" name="Image 11" descr="/mnt/data/csra_assets_exact/footer_roadmap_wid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0312" y="6400800"/>
            <a:ext cx="256032" cy="256032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502920" y="648309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C1DB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 Delivery Roadmap: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Text 147"/>
          <p:cNvSpPr/>
          <p:nvPr/>
        </p:nvSpPr>
        <p:spPr>
          <a:xfrm>
            <a:off x="2011680" y="6483096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320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Covers 124 files across multiple states, with phased deployments through September 2026 and a standardized framework for future file onboarding.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2" name="Image 12" descr="/mnt/data/csra_assets_exact/cvs_logo_wid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97312" y="6409944"/>
            <a:ext cx="1307592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452</Words>
  <Application>Microsoft Office PowerPoint</Application>
  <PresentationFormat>Widescreen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>CVS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CSRA FS Automation Project</dc:title>
  <dc:subject>CSRA FS Automation Project Status</dc:subject>
  <dc:creator>OpenAI</dc:creator>
  <cp:lastModifiedBy>Sumeet Changari</cp:lastModifiedBy>
  <cp:revision>2</cp:revision>
  <dcterms:created xsi:type="dcterms:W3CDTF">2026-09-25T15:40:17Z</dcterms:created>
  <dcterms:modified xsi:type="dcterms:W3CDTF">2026-09-25T15:58:20Z</dcterms:modified>
</cp:coreProperties>
</file>