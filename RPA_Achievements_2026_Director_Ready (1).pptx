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5adfa1e39444ab" /><Relationship Type="http://schemas.openxmlformats.org/officeDocument/2006/relationships/extended-properties" Target="/docProps/app.xml" Id="Rb02975ee05e94cb5" /><Relationship Type="http://schemas.openxmlformats.org/officeDocument/2006/relationships/officeDocument" Target="/ppt/presentation.xml" Id="Rd4c28b13c7ca46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d40d79c3674442"/>
  </p:sldMasterIdLst>
  <p:notesMasterIdLst>
    <p:notesMasterId xmlns:r="http://schemas.openxmlformats.org/officeDocument/2006/relationships" r:id="Rb39450a6d2364f0a"/>
  </p:notesMasterIdLst>
  <p:sldIdLst>
    <p:sldId xmlns:r="http://schemas.openxmlformats.org/officeDocument/2006/relationships" id="256" r:id="R66d7d5051fe2468c"/>
    <p:sldId xmlns:r="http://schemas.openxmlformats.org/officeDocument/2006/relationships" id="257" r:id="Rdaf7f5710e014b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25a39ae1074ae7" /><Relationship Type="http://schemas.openxmlformats.org/officeDocument/2006/relationships/slideMaster" Target="/ppt/slideMasters/slideMaster1.xml" Id="R6ed40d79c3674442" /><Relationship Type="http://schemas.openxmlformats.org/officeDocument/2006/relationships/notesMaster" Target="/ppt/notesMasters/notesMaster1.xml" Id="Rb39450a6d2364f0a" /><Relationship Type="http://schemas.openxmlformats.org/officeDocument/2006/relationships/presProps" Target="/ppt/presProps.xml" Id="R80d0c2dfc5b74eee" /><Relationship Type="http://schemas.openxmlformats.org/officeDocument/2006/relationships/tableStyles" Target="/ppt/tableStyles.xml" Id="Rabd8dce8ae754687" /><Relationship Type="http://schemas.openxmlformats.org/officeDocument/2006/relationships/slide" Target="/ppt/slides/slide1.xml" Id="R66d7d5051fe2468c" /><Relationship Type="http://schemas.openxmlformats.org/officeDocument/2006/relationships/slide" Target="/ppt/slides/slide2.xml" Id="Rdaf7f5710e014b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996ebd4fec48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4b251f0c1645c1" /><Relationship Type="http://schemas.openxmlformats.org/officeDocument/2006/relationships/notesMaster" Target="/ppt/notesMasters/notesMaster1.xml" Id="R9ec20cf018d84c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0e7cfe55d54c5b" /><Relationship Type="http://schemas.openxmlformats.org/officeDocument/2006/relationships/notesMaster" Target="/ppt/notesMasters/notesMaster1.xml" Id="R81ba8b67f466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RPA achievement email screenshots, August 25, 2026.</a:t>
            </a:r>
          </a:p>
          <a:p xmlns:a="http://schemas.openxmlformats.org/drawingml/2006/main">
            <a:r>
              <a:t>- User-provided CSRA Fee Schedule Automation deck screenshots, August 25, 2026, used as visual references.</a:t>
            </a:r>
          </a:p>
          <a:p xmlns:a="http://schemas.openxmlformats.org/drawingml/2006/main">
            <a:r>
              <a:t>- AI-generated RPA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RPA achievement email screenshots, August 25, 2026.</a:t>
            </a:r>
          </a:p>
          <a:p xmlns:a="http://schemas.openxmlformats.org/drawingml/2006/main">
            <a:r>
              <a:t>- User-provided CSRA Fee Schedule Automation deck screenshots, August 25, 2026, used as visual references.</a:t>
            </a:r>
          </a:p>
          <a:p xmlns:a="http://schemas.openxmlformats.org/drawingml/2006/main">
            <a:r>
              <a:t>- Released-to-processed ratio calculated as 2,335,880 / 6,626,093.</a:t>
            </a:r>
          </a:p>
          <a:p xmlns:a="http://schemas.openxmlformats.org/drawingml/2006/main">
            <a:r>
              <a:t>- July peak is derived from the supplied monthly data.</a:t>
            </a:r>
          </a:p>
          <a:p xmlns:a="http://schemas.openxmlformats.org/drawingml/2006/main">
            <a:r>
              <a:t>- AI-generated automation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3b272de4149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ee8c42c2534ec0" /><Relationship Type="http://schemas.openxmlformats.org/officeDocument/2006/relationships/slideLayout" Target="/ppt/slideLayouts/slideLayout1.xml" Id="R4d9f7786d9bc4a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9f7786d9bc4a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ad2a115294a53" /><Relationship Type="http://schemas.openxmlformats.org/officeDocument/2006/relationships/image" Target="/ppt/media/image.png" Id="R89410e44d750459a" /><Relationship Type="http://schemas.openxmlformats.org/officeDocument/2006/relationships/notesSlide" Target="/ppt/notesSlides/notesSlide1.xml" Id="R1f5600ff3a0d44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3e4483c0d427c" /><Relationship Type="http://schemas.openxmlformats.org/officeDocument/2006/relationships/chart" Target="/ppt/slides/charts/chart1.xml" Id="Rca902733aac645ed" /><Relationship Type="http://schemas.openxmlformats.org/officeDocument/2006/relationships/image" Target="/ppt/media/image2.png" Id="R5b1662a179dc4027" /><Relationship Type="http://schemas.openxmlformats.org/officeDocument/2006/relationships/notesSlide" Target="/ppt/notesSlides/notesSlide2.xml" Id="Re670dbc95a6d4b4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Processed</c:v>
          </c:tx>
          <c:spPr>
            <a:solidFill xmlns:a="http://schemas.openxmlformats.org/drawingml/2006/main">
              <a:srgbClr val="1479D1"/>
            </a:solidFill>
          </c:spPr>
          <c:cat>
            <c:strLit>
              <c:ptCount val="7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</c:strLit>
          </c:cat>
          <c:val>
            <c:numLit>
              <c:formatCode>0.0,,"M"</c:formatCode>
              <c:ptCount val="7"/>
              <c:pt idx="0">
                <c:v>847181</c:v>
              </c:pt>
              <c:pt idx="1">
                <c:v>852326</c:v>
              </c:pt>
              <c:pt idx="2">
                <c:v>796388</c:v>
              </c:pt>
              <c:pt idx="3">
                <c:v>1032514</c:v>
              </c:pt>
              <c:pt idx="4">
                <c:v>820762</c:v>
              </c:pt>
              <c:pt idx="5">
                <c:v>1066597</c:v>
              </c:pt>
              <c:pt idx="6">
                <c:v>1210325</c:v>
              </c:pt>
            </c:numLit>
          </c:val>
        </c:ser>
        <c:ser>
          <c:idx val="1"/>
          <c:order val="1"/>
          <c:tx>
            <c:v>Released</c:v>
          </c:tx>
          <c:spPr>
            <a:solidFill xmlns:a="http://schemas.openxmlformats.org/drawingml/2006/main">
              <a:srgbClr val="8B4BC1"/>
            </a:solidFill>
          </c:spPr>
          <c:cat>
            <c:strLit>
              <c:ptCount val="7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</c:strLit>
          </c:cat>
          <c:val>
            <c:numLit>
              <c:formatCode>0.0,,"M"</c:formatCode>
              <c:ptCount val="7"/>
              <c:pt idx="0">
                <c:v>326500</c:v>
              </c:pt>
              <c:pt idx="1">
                <c:v>357142</c:v>
              </c:pt>
              <c:pt idx="2">
                <c:v>320911</c:v>
              </c:pt>
              <c:pt idx="3">
                <c:v>351986</c:v>
              </c:pt>
              <c:pt idx="4">
                <c:v>286684</c:v>
              </c:pt>
              <c:pt idx="5">
                <c:v>361929</c:v>
              </c:pt>
              <c:pt idx="6">
                <c:v>330728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F3"/>
              </a:solidFill>
              <a:prstDash val="solid"/>
            </a:ln>
          </c:spPr>
        </c:majorGridlines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0000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blue-1">
            <a:extLst xmlns:a="http://schemas.openxmlformats.org/drawingml/2006/main">
              <a:ext uri="{FF2B5EF4-FFF2-40B4-BE49-F238E27FC236}">
                <a16:creationId xmlns:a16="http://schemas.microsoft.com/office/drawing/2014/main" id="{A79A4434-1F80-4E9A-BDC2-BCAA2B5E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purple-1">
            <a:extLst xmlns:a="http://schemas.openxmlformats.org/drawingml/2006/main">
              <a:ext uri="{FF2B5EF4-FFF2-40B4-BE49-F238E27FC236}">
                <a16:creationId xmlns:a16="http://schemas.microsoft.com/office/drawing/2014/main" id="{EAE3EB00-533E-4841-84D5-5041623A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B68EEB26-0BA9-4C17-A101-18FFF9B8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</a:defRPr>
            </a:pPr>
            <a:r>
              <a:rPr sz="2550" b="1">
                <a:solidFill>
                  <a:srgbClr val="13294B"/>
                </a:solidFill>
              </a:rPr>
              <a:t>RPA automation is operating at enterprise scale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95A21516-0872-48A5-B4A0-A051F32C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9688F"/>
                </a:solidFill>
              </a:defRPr>
            </a:pPr>
            <a:r>
              <a:rPr sz="1350">
                <a:solidFill>
                  <a:srgbClr val="49688F"/>
                </a:solidFill>
              </a:rPr>
              <a:t>Current achievement footprint across Medicaid operations</a:t>
            </a:r>
          </a:p>
        </p:txBody>
      </p:sp>
      <p:sp>
        <p:nvSpPr>
          <p:cNvPr id="5" name="ddat-1">
            <a:extLst xmlns:a="http://schemas.openxmlformats.org/drawingml/2006/main">
              <a:ext uri="{FF2B5EF4-FFF2-40B4-BE49-F238E27FC236}">
                <a16:creationId xmlns:a16="http://schemas.microsoft.com/office/drawing/2014/main" id="{1FE67827-F3ED-40D5-99B4-1A14C889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53A76"/>
                </a:solidFill>
              </a:defRPr>
            </a:pPr>
            <a:r>
              <a:rPr sz="1575" b="1">
                <a:solidFill>
                  <a:srgbClr val="153A76"/>
                </a:solidFill>
              </a:rPr>
              <a:t>◆ DDAT</a:t>
            </a:r>
          </a:p>
        </p:txBody>
      </p:sp>
      <p:sp>
        <p:nvSpPr>
          <p:cNvPr id="6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9D9C45B9-8317-4CA2-A71C-03F78CE3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50C102B5-90A6-47AE-A1D3-CA5C5B4C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186A3"/>
                </a:solidFill>
              </a:defRPr>
            </a:pPr>
            <a:r>
              <a:rPr sz="750">
                <a:solidFill>
                  <a:srgbClr val="7186A3"/>
                </a:solidFill>
              </a:rPr>
              <a:t>©2026 CVS Health and/or one of its affiliates. Confidential and proprietary.</a:t>
            </a:r>
          </a:p>
        </p:txBody>
      </p:sp>
      <p:sp>
        <p:nvSpPr>
          <p:cNvPr id="8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E1D6117C-52A0-4DC6-BF14-4F4D9CA1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B1538"/>
                </a:solidFill>
              </a:defRPr>
            </a:pPr>
            <a:r>
              <a:rPr sz="1125" b="1">
                <a:solidFill>
                  <a:srgbClr val="8B1538"/>
                </a:solidFill>
              </a:rPr>
              <a:t>♥ CVS Health.</a:t>
            </a:r>
          </a:p>
        </p:txBody>
      </p:sp>
      <p:sp>
        <p:nvSpPr>
          <p:cNvPr id="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AB64312B-F6EB-40C5-B100-2EB57844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1538"/>
                </a:solidFill>
              </a:defRPr>
            </a:pPr>
            <a:r>
              <a:rPr sz="1050" b="1">
                <a:solidFill>
                  <a:srgbClr val="8B1538"/>
                </a:solidFill>
              </a:rPr>
              <a:t>1</a:t>
            </a:r>
          </a:p>
        </p:txBody>
      </p:sp>
      <p:sp>
        <p:nvSpPr>
          <p:cNvPr id="10" name="s1-kpi-surface">
            <a:extLst xmlns:a="http://schemas.openxmlformats.org/drawingml/2006/main">
              <a:ext uri="{FF2B5EF4-FFF2-40B4-BE49-F238E27FC236}">
                <a16:creationId xmlns:a16="http://schemas.microsoft.com/office/drawing/2014/main" id="{FC5EF8DC-3BE5-49C0-8460-7E5E9C5B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BEF"/>
            </a:solidFill>
            <a:prstDash val="solid"/>
          </a:ln>
        </p:spPr>
      </p:sp>
      <p:sp>
        <p:nvSpPr>
          <p:cNvPr id="11" name="s1-processes-line">
            <a:extLst xmlns:a="http://schemas.openxmlformats.org/drawingml/2006/main">
              <a:ext uri="{FF2B5EF4-FFF2-40B4-BE49-F238E27FC236}">
                <a16:creationId xmlns:a16="http://schemas.microsoft.com/office/drawing/2014/main" id="{D08E491E-3710-445C-9632-55858AA6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-processes-num">
            <a:extLst xmlns:a="http://schemas.openxmlformats.org/drawingml/2006/main">
              <a:ext uri="{FF2B5EF4-FFF2-40B4-BE49-F238E27FC236}">
                <a16:creationId xmlns:a16="http://schemas.microsoft.com/office/drawing/2014/main" id="{ED3D2985-22D7-4DD6-BD2E-73D4092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79D1"/>
                </a:solidFill>
              </a:defRPr>
            </a:pPr>
            <a:r>
              <a:rPr sz="3000" b="1">
                <a:solidFill>
                  <a:srgbClr val="1479D1"/>
                </a:solidFill>
              </a:rPr>
              <a:t>100+</a:t>
            </a:r>
          </a:p>
        </p:txBody>
      </p:sp>
      <p:sp>
        <p:nvSpPr>
          <p:cNvPr id="13" name="s1-processes-lab">
            <a:extLst xmlns:a="http://schemas.openxmlformats.org/drawingml/2006/main">
              <a:ext uri="{FF2B5EF4-FFF2-40B4-BE49-F238E27FC236}">
                <a16:creationId xmlns:a16="http://schemas.microsoft.com/office/drawing/2014/main" id="{E47F7672-CAAB-4501-BC64-C11DD382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Processes currently handled</a:t>
            </a:r>
          </a:p>
        </p:txBody>
      </p:sp>
      <p:sp>
        <p:nvSpPr>
          <p:cNvPr id="14" name="s1-bots-line">
            <a:extLst xmlns:a="http://schemas.openxmlformats.org/drawingml/2006/main">
              <a:ext uri="{FF2B5EF4-FFF2-40B4-BE49-F238E27FC236}">
                <a16:creationId xmlns:a16="http://schemas.microsoft.com/office/drawing/2014/main" id="{60D842E6-390E-4E7C-8614-B8F9DE4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859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-bots-num">
            <a:extLst xmlns:a="http://schemas.openxmlformats.org/drawingml/2006/main">
              <a:ext uri="{FF2B5EF4-FFF2-40B4-BE49-F238E27FC236}">
                <a16:creationId xmlns:a16="http://schemas.microsoft.com/office/drawing/2014/main" id="{406E74BE-9C87-46DF-9F98-F94A60D3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B3CC4"/>
                </a:solidFill>
              </a:defRPr>
            </a:pPr>
            <a:r>
              <a:rPr sz="3000" b="1">
                <a:solidFill>
                  <a:srgbClr val="5B3CC4"/>
                </a:solidFill>
              </a:rPr>
              <a:t>762</a:t>
            </a:r>
          </a:p>
        </p:txBody>
      </p:sp>
      <p:sp>
        <p:nvSpPr>
          <p:cNvPr id="16" name="s1-bots-lab">
            <a:extLst xmlns:a="http://schemas.openxmlformats.org/drawingml/2006/main">
              <a:ext uri="{FF2B5EF4-FFF2-40B4-BE49-F238E27FC236}">
                <a16:creationId xmlns:a16="http://schemas.microsoft.com/office/drawing/2014/main" id="{7E1F1D2C-D3D2-443E-93DD-9412B34C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Bots deployed across all lines of business</a:t>
            </a:r>
          </a:p>
        </p:txBody>
      </p:sp>
      <p:sp>
        <p:nvSpPr>
          <p:cNvPr id="17" name="s1-footprint">
            <a:extLst xmlns:a="http://schemas.openxmlformats.org/drawingml/2006/main">
              <a:ext uri="{FF2B5EF4-FFF2-40B4-BE49-F238E27FC236}">
                <a16:creationId xmlns:a16="http://schemas.microsoft.com/office/drawing/2014/main" id="{A80F4D93-3347-4F8A-AAE9-3B309FE7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6685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SCALE</a:t>
            </a:r>
          </a:p>
          <a:p xmlns:a="http://schemas.openxmlformats.org/drawingml/2006/main">
            <a:pPr algn="ctr"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+</a:t>
            </a:r>
          </a:p>
          <a:p xmlns:a="http://schemas.openxmlformats.org/drawingml/2006/main">
            <a:pPr algn="ctr"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BREADTH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10e44d750459a"/>
          <a:stretch xmlns:a="http://schemas.openxmlformats.org/drawingml/2006/main"/>
        </p:blipFill>
        <p:spPr>
          <a:xfrm xmlns:a="http://schemas.openxmlformats.org/drawingml/2006/main">
            <a:off x="9372048" y="1104900"/>
            <a:ext cx="1286979" cy="1657350"/>
          </a:xfrm>
          <a:prstGeom xmlns:a="http://schemas.openxmlformats.org/drawingml/2006/main" prst="rect">
            <a:avLst/>
          </a:prstGeom>
        </p:spPr>
      </p:pic>
      <p:sp>
        <p:nvSpPr>
          <p:cNvPr id="19" name="s1-coverage-title">
            <a:extLst xmlns:a="http://schemas.openxmlformats.org/drawingml/2006/main">
              <a:ext uri="{FF2B5EF4-FFF2-40B4-BE49-F238E27FC236}">
                <a16:creationId xmlns:a16="http://schemas.microsoft.com/office/drawing/2014/main" id="{41713BA7-6CBB-4B40-A3DC-3CC91EB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94B"/>
                </a:solidFill>
              </a:defRPr>
            </a:pPr>
            <a:r>
              <a:rPr sz="1800" b="1">
                <a:solidFill>
                  <a:srgbClr val="13294B"/>
                </a:solidFill>
              </a:rPr>
              <a:t>Automation coverage</a:t>
            </a:r>
          </a:p>
        </p:txBody>
      </p:sp>
      <p:sp>
        <p:nvSpPr>
          <p:cNvPr id="20" name="s1-col1-top">
            <a:extLst xmlns:a="http://schemas.openxmlformats.org/drawingml/2006/main">
              <a:ext uri="{FF2B5EF4-FFF2-40B4-BE49-F238E27FC236}">
                <a16:creationId xmlns:a16="http://schemas.microsoft.com/office/drawing/2014/main" id="{D86B7062-FD1E-4DE2-9516-CB7A4398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24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-col1">
            <a:extLst xmlns:a="http://schemas.openxmlformats.org/drawingml/2006/main">
              <a:ext uri="{FF2B5EF4-FFF2-40B4-BE49-F238E27FC236}">
                <a16:creationId xmlns:a16="http://schemas.microsoft.com/office/drawing/2014/main" id="{73222167-13D3-44BA-A6E7-45CF6C0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33242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2" name="s1-col1-icon">
            <a:extLst xmlns:a="http://schemas.openxmlformats.org/drawingml/2006/main">
              <a:ext uri="{FF2B5EF4-FFF2-40B4-BE49-F238E27FC236}">
                <a16:creationId xmlns:a16="http://schemas.microsoft.com/office/drawing/2014/main" id="{E3884F6E-452D-4E5C-9D4E-14A35EDE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83E8"/>
                </a:solidFill>
              </a:defRPr>
            </a:pPr>
            <a:r>
              <a:rPr sz="2550" b="1">
                <a:solidFill>
                  <a:srgbClr val="1683E8"/>
                </a:solidFill>
              </a:rPr>
              <a:t>⇄</a:t>
            </a:r>
          </a:p>
        </p:txBody>
      </p:sp>
      <p:sp>
        <p:nvSpPr>
          <p:cNvPr id="23" name="s1-col1-head">
            <a:extLst xmlns:a="http://schemas.openxmlformats.org/drawingml/2006/main">
              <a:ext uri="{FF2B5EF4-FFF2-40B4-BE49-F238E27FC236}">
                <a16:creationId xmlns:a16="http://schemas.microsoft.com/office/drawing/2014/main" id="{3A5B0BEB-D543-4C73-8BAF-438BCDC8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480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Digital integration</a:t>
            </a:r>
          </a:p>
        </p:txBody>
      </p:sp>
      <p:sp>
        <p:nvSpPr>
          <p:cNvPr id="24" name="s1-col1-copy">
            <a:extLst xmlns:a="http://schemas.openxmlformats.org/drawingml/2006/main">
              <a:ext uri="{FF2B5EF4-FFF2-40B4-BE49-F238E27FC236}">
                <a16:creationId xmlns:a16="http://schemas.microsoft.com/office/drawing/2014/main" id="{5F6633DE-AFF2-4CEB-A0BC-5F6C72BC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714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Database Automation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API Automation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SNOW Integration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Web Scraping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Windows Automation</a:t>
            </a:r>
          </a:p>
        </p:txBody>
      </p:sp>
      <p:sp>
        <p:nvSpPr>
          <p:cNvPr id="25" name="s1-col2-top">
            <a:extLst xmlns:a="http://schemas.openxmlformats.org/drawingml/2006/main">
              <a:ext uri="{FF2B5EF4-FFF2-40B4-BE49-F238E27FC236}">
                <a16:creationId xmlns:a16="http://schemas.microsoft.com/office/drawing/2014/main" id="{86685731-3747-42B1-B1F4-54F90980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3324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-col2">
            <a:extLst xmlns:a="http://schemas.openxmlformats.org/drawingml/2006/main">
              <a:ext uri="{FF2B5EF4-FFF2-40B4-BE49-F238E27FC236}">
                <a16:creationId xmlns:a16="http://schemas.microsoft.com/office/drawing/2014/main" id="{A3F0A2DC-0184-44F1-ADFC-30C5D3D5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00425"/>
            <a:ext cx="33242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7" name="s1-col2-icon">
            <a:extLst xmlns:a="http://schemas.openxmlformats.org/drawingml/2006/main">
              <a:ext uri="{FF2B5EF4-FFF2-40B4-BE49-F238E27FC236}">
                <a16:creationId xmlns:a16="http://schemas.microsoft.com/office/drawing/2014/main" id="{7F900BA0-1855-4EE4-BAD2-0FE63483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3A65"/>
                </a:solidFill>
              </a:defRPr>
            </a:pPr>
            <a:r>
              <a:rPr sz="2550" b="1">
                <a:solidFill>
                  <a:srgbClr val="B43A65"/>
                </a:solidFill>
              </a:rPr>
              <a:t>▤</a:t>
            </a:r>
          </a:p>
        </p:txBody>
      </p:sp>
      <p:sp>
        <p:nvSpPr>
          <p:cNvPr id="28" name="s1-col2-head">
            <a:extLst xmlns:a="http://schemas.openxmlformats.org/drawingml/2006/main">
              <a:ext uri="{FF2B5EF4-FFF2-40B4-BE49-F238E27FC236}">
                <a16:creationId xmlns:a16="http://schemas.microsoft.com/office/drawing/2014/main" id="{8432E0A2-79CD-45D6-AC83-C08277BC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480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Document intelligence</a:t>
            </a:r>
          </a:p>
        </p:txBody>
      </p:sp>
      <p:sp>
        <p:nvSpPr>
          <p:cNvPr id="29" name="s1-col2-copy">
            <a:extLst xmlns:a="http://schemas.openxmlformats.org/drawingml/2006/main">
              <a:ext uri="{FF2B5EF4-FFF2-40B4-BE49-F238E27FC236}">
                <a16:creationId xmlns:a16="http://schemas.microsoft.com/office/drawing/2014/main" id="{80300FAB-A2EA-4F45-BD40-67603A58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71950"/>
            <a:ext cx="2714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Document Understanding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Structured PDF Data Extraction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Unstructured PDF Data Extraction</a:t>
            </a:r>
          </a:p>
        </p:txBody>
      </p:sp>
      <p:sp>
        <p:nvSpPr>
          <p:cNvPr id="30" name="s1-col3-top">
            <a:extLst xmlns:a="http://schemas.openxmlformats.org/drawingml/2006/main">
              <a:ext uri="{FF2B5EF4-FFF2-40B4-BE49-F238E27FC236}">
                <a16:creationId xmlns:a16="http://schemas.microsoft.com/office/drawing/2014/main" id="{589F2AFD-3A99-4C7D-8E14-8559903E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714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-col3">
            <a:extLst xmlns:a="http://schemas.openxmlformats.org/drawingml/2006/main">
              <a:ext uri="{FF2B5EF4-FFF2-40B4-BE49-F238E27FC236}">
                <a16:creationId xmlns:a16="http://schemas.microsoft.com/office/drawing/2014/main" id="{BE8B6372-B644-4F0F-928E-873CF790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0425"/>
            <a:ext cx="3714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32" name="s1-col3-icon">
            <a:extLst xmlns:a="http://schemas.openxmlformats.org/drawingml/2006/main">
              <a:ext uri="{FF2B5EF4-FFF2-40B4-BE49-F238E27FC236}">
                <a16:creationId xmlns:a16="http://schemas.microsoft.com/office/drawing/2014/main" id="{17AF5C43-5310-42C2-B0D9-660825CC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D38C8"/>
                </a:solidFill>
              </a:defRPr>
            </a:pPr>
            <a:r>
              <a:rPr sz="2550" b="1">
                <a:solidFill>
                  <a:srgbClr val="5D38C8"/>
                </a:solidFill>
              </a:rPr>
              <a:t>✓</a:t>
            </a:r>
          </a:p>
        </p:txBody>
      </p:sp>
      <p:sp>
        <p:nvSpPr>
          <p:cNvPr id="33" name="s1-col3-head">
            <a:extLst xmlns:a="http://schemas.openxmlformats.org/drawingml/2006/main">
              <a:ext uri="{FF2B5EF4-FFF2-40B4-BE49-F238E27FC236}">
                <a16:creationId xmlns:a16="http://schemas.microsoft.com/office/drawing/2014/main" id="{3DED1D7F-9A79-42F1-B6D8-182645B3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480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Medicaid operations</a:t>
            </a:r>
          </a:p>
        </p:txBody>
      </p:sp>
      <p:sp>
        <p:nvSpPr>
          <p:cNvPr id="34" name="s1-col3-left">
            <a:extLst xmlns:a="http://schemas.openxmlformats.org/drawingml/2006/main">
              <a:ext uri="{FF2B5EF4-FFF2-40B4-BE49-F238E27FC236}">
                <a16:creationId xmlns:a16="http://schemas.microsoft.com/office/drawing/2014/main" id="{B73EE2CF-7C8E-48E0-BED4-ACCED784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Claim Adjudication</a:t>
            </a:r>
          </a:p>
          <a:p xmlns:a="http://schemas.openxmlformats.org/drawingml/2006/main">
            <a:pPr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Clinical Authorization Review</a:t>
            </a:r>
          </a:p>
          <a:p xmlns:a="http://schemas.openxmlformats.org/drawingml/2006/main">
            <a:pPr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3M Pricing</a:t>
            </a:r>
          </a:p>
          <a:p xmlns:a="http://schemas.openxmlformats.org/drawingml/2006/main">
            <a:pPr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High Dollar Claims Processing</a:t>
            </a:r>
          </a:p>
        </p:txBody>
      </p:sp>
      <p:sp>
        <p:nvSpPr>
          <p:cNvPr id="35" name="s1-col3-right">
            <a:extLst xmlns:a="http://schemas.openxmlformats.org/drawingml/2006/main">
              <a:ext uri="{FF2B5EF4-FFF2-40B4-BE49-F238E27FC236}">
                <a16:creationId xmlns:a16="http://schemas.microsoft.com/office/drawing/2014/main" id="{BA8E9CE6-84DA-4D4D-B506-D5C379FF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581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ACE Rework</a:t>
            </a:r>
          </a:p>
          <a:p xmlns:a="http://schemas.openxmlformats.org/drawingml/2006/main">
            <a:pPr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Resub Claim Processing</a:t>
            </a:r>
          </a:p>
          <a:p xmlns:a="http://schemas.openxmlformats.org/drawingml/2006/main">
            <a:pPr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Payment Review</a:t>
            </a:r>
          </a:p>
          <a:p xmlns:a="http://schemas.openxmlformats.org/drawingml/2006/main">
            <a:pPr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EOB COB Review</a:t>
            </a:r>
          </a:p>
          <a:p xmlns:a="http://schemas.openxmlformats.org/drawingml/2006/main">
            <a:pPr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QNXT Performance Monitoring</a:t>
            </a:r>
          </a:p>
        </p:txBody>
      </p:sp>
    </p:spTree>
    <p:extLst>
      <p:ext uri="{BB962C8B-B14F-4D97-AF65-F5344CB8AC3E}">
        <p14:creationId xmlns:p14="http://schemas.microsoft.com/office/powerpoint/2010/main" val="1458295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top-blue-2">
            <a:extLst xmlns:a="http://schemas.openxmlformats.org/drawingml/2006/main">
              <a:ext uri="{FF2B5EF4-FFF2-40B4-BE49-F238E27FC236}">
                <a16:creationId xmlns:a16="http://schemas.microsoft.com/office/drawing/2014/main" id="{8743E467-386B-45C7-93EF-3BDF71A2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purple-2">
            <a:extLst xmlns:a="http://schemas.openxmlformats.org/drawingml/2006/main">
              <a:ext uri="{FF2B5EF4-FFF2-40B4-BE49-F238E27FC236}">
                <a16:creationId xmlns:a16="http://schemas.microsoft.com/office/drawing/2014/main" id="{CA3E9EF8-C8D4-4D96-AF24-2376E6E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A635BE02-016F-4967-B48F-1ECB3F2F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</a:defRPr>
            </a:pPr>
            <a:r>
              <a:rPr sz="2550" b="1">
                <a:solidFill>
                  <a:srgbClr val="13294B"/>
                </a:solidFill>
              </a:rPr>
              <a:t>2026 automation impact is measurable and material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F850567D-0392-44AE-9FDD-297AF7A4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9688F"/>
                </a:solidFill>
              </a:defRPr>
            </a:pPr>
            <a:r>
              <a:rPr sz="1350">
                <a:solidFill>
                  <a:srgbClr val="49688F"/>
                </a:solidFill>
              </a:rPr>
              <a:t>January–July performance across the RPA portfolio</a:t>
            </a:r>
          </a:p>
        </p:txBody>
      </p:sp>
      <p:sp>
        <p:nvSpPr>
          <p:cNvPr id="5" name="ddat-2">
            <a:extLst xmlns:a="http://schemas.openxmlformats.org/drawingml/2006/main">
              <a:ext uri="{FF2B5EF4-FFF2-40B4-BE49-F238E27FC236}">
                <a16:creationId xmlns:a16="http://schemas.microsoft.com/office/drawing/2014/main" id="{80A13745-A048-4D2B-9A10-6EE13747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53A76"/>
                </a:solidFill>
              </a:defRPr>
            </a:pPr>
            <a:r>
              <a:rPr sz="1575" b="1">
                <a:solidFill>
                  <a:srgbClr val="153A76"/>
                </a:solidFill>
              </a:rPr>
              <a:t>◆ DDAT</a:t>
            </a:r>
          </a:p>
        </p:txBody>
      </p:sp>
      <p:sp>
        <p:nvSpPr>
          <p:cNvPr id="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27C14334-292F-43F3-9938-C0D6484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64BA34D0-FDF8-4BE9-9F46-10A05D03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186A3"/>
                </a:solidFill>
              </a:defRPr>
            </a:pPr>
            <a:r>
              <a:rPr sz="750">
                <a:solidFill>
                  <a:srgbClr val="7186A3"/>
                </a:solidFill>
              </a:rPr>
              <a:t>©2026 CVS Health and/or one of its affiliates. Confidential and proprietary.</a:t>
            </a:r>
          </a:p>
        </p:txBody>
      </p:sp>
      <p:sp>
        <p:nvSpPr>
          <p:cNvPr id="8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45905742-C896-4A57-BBCF-84428459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B1538"/>
                </a:solidFill>
              </a:defRPr>
            </a:pPr>
            <a:r>
              <a:rPr sz="1125" b="1">
                <a:solidFill>
                  <a:srgbClr val="8B1538"/>
                </a:solidFill>
              </a:rPr>
              <a:t>♥ CVS Health.</a:t>
            </a:r>
          </a:p>
        </p:txBody>
      </p:sp>
      <p:sp>
        <p:nvSpPr>
          <p:cNvPr id="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2E7CB1F-8BBD-4E3C-BE84-BBCF1A59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1538"/>
                </a:solidFill>
              </a:defRPr>
            </a:pPr>
            <a:r>
              <a:rPr sz="1050" b="1">
                <a:solidFill>
                  <a:srgbClr val="8B1538"/>
                </a:solidFill>
              </a:rPr>
              <a:t>2</a:t>
            </a:r>
          </a:p>
        </p:txBody>
      </p:sp>
      <p:sp>
        <p:nvSpPr>
          <p:cNvPr id="10" name="s2-hours">
            <a:extLst xmlns:a="http://schemas.openxmlformats.org/drawingml/2006/main">
              <a:ext uri="{FF2B5EF4-FFF2-40B4-BE49-F238E27FC236}">
                <a16:creationId xmlns:a16="http://schemas.microsoft.com/office/drawing/2014/main" id="{061748F7-AA4D-476B-9B8D-5E8DEBD1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3D89"/>
          </a:solidFill>
          <a:ln xmlns:a="http://schemas.openxmlformats.org/drawingml/2006/main" w="9525">
            <a:solidFill>
              <a:srgbClr val="103D89"/>
            </a:solidFill>
            <a:prstDash val="solid"/>
          </a:ln>
        </p:spPr>
      </p:sp>
      <p:sp>
        <p:nvSpPr>
          <p:cNvPr id="11" name="s2-hours-num">
            <a:extLst xmlns:a="http://schemas.openxmlformats.org/drawingml/2006/main">
              <a:ext uri="{FF2B5EF4-FFF2-40B4-BE49-F238E27FC236}">
                <a16:creationId xmlns:a16="http://schemas.microsoft.com/office/drawing/2014/main" id="{9AF99D92-9331-4140-B8A8-826BC1D2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38275"/>
            <a:ext cx="200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560K</a:t>
            </a:r>
          </a:p>
        </p:txBody>
      </p:sp>
      <p:sp>
        <p:nvSpPr>
          <p:cNvPr id="12" name="s2-hours-label">
            <a:extLst xmlns:a="http://schemas.openxmlformats.org/drawingml/2006/main">
              <a:ext uri="{FF2B5EF4-FFF2-40B4-BE49-F238E27FC236}">
                <a16:creationId xmlns:a16="http://schemas.microsoft.com/office/drawing/2014/main" id="{F4FF6438-383A-4860-8DF3-794D6799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EAFF"/>
                </a:solidFill>
              </a:defRPr>
            </a:pPr>
            <a:r>
              <a:rPr sz="1500" b="1">
                <a:solidFill>
                  <a:srgbClr val="BFEAFF"/>
                </a:solidFill>
              </a:rPr>
              <a:t>hours saved in 2026</a:t>
            </a:r>
          </a:p>
        </p:txBody>
      </p:sp>
      <p:sp>
        <p:nvSpPr>
          <p:cNvPr id="13" name="s2-hours-meaning">
            <a:extLst xmlns:a="http://schemas.openxmlformats.org/drawingml/2006/main">
              <a:ext uri="{FF2B5EF4-FFF2-40B4-BE49-F238E27FC236}">
                <a16:creationId xmlns:a16="http://schemas.microsoft.com/office/drawing/2014/main" id="{DF4131B7-6D1B-4F48-9188-715770C5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9FF"/>
                </a:solidFill>
              </a:defRPr>
            </a:pPr>
            <a:r>
              <a:rPr sz="1050">
                <a:solidFill>
                  <a:srgbClr val="D9E9FF"/>
                </a:solidFill>
              </a:rPr>
              <a:t>Capacity returned to the business</a:t>
            </a:r>
          </a:p>
        </p:txBody>
      </p:sp>
      <p:sp>
        <p:nvSpPr>
          <p:cNvPr id="14" name="s2-processed-line">
            <a:extLst xmlns:a="http://schemas.openxmlformats.org/drawingml/2006/main">
              <a:ext uri="{FF2B5EF4-FFF2-40B4-BE49-F238E27FC236}">
                <a16:creationId xmlns:a16="http://schemas.microsoft.com/office/drawing/2014/main" id="{84EEC9F3-6307-4FF4-A8BF-C27D86A5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95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processed-num">
            <a:extLst xmlns:a="http://schemas.openxmlformats.org/drawingml/2006/main">
              <a:ext uri="{FF2B5EF4-FFF2-40B4-BE49-F238E27FC236}">
                <a16:creationId xmlns:a16="http://schemas.microsoft.com/office/drawing/2014/main" id="{8A923BA5-6D8B-4BBC-B2C1-D49D4AD4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476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79D1"/>
                </a:solidFill>
              </a:defRPr>
            </a:pPr>
            <a:r>
              <a:rPr sz="3000" b="1">
                <a:solidFill>
                  <a:srgbClr val="1479D1"/>
                </a:solidFill>
              </a:rPr>
              <a:t>6,626,093</a:t>
            </a:r>
          </a:p>
        </p:txBody>
      </p:sp>
      <p:sp>
        <p:nvSpPr>
          <p:cNvPr id="16" name="s2-processed-lab">
            <a:extLst xmlns:a="http://schemas.openxmlformats.org/drawingml/2006/main">
              <a:ext uri="{FF2B5EF4-FFF2-40B4-BE49-F238E27FC236}">
                <a16:creationId xmlns:a16="http://schemas.microsoft.com/office/drawing/2014/main" id="{A01E17C8-5F5B-473F-8A24-CB46F832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90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Claim transactions processed</a:t>
            </a:r>
          </a:p>
        </p:txBody>
      </p:sp>
      <p:sp>
        <p:nvSpPr>
          <p:cNvPr id="17" name="s2-released-line">
            <a:extLst xmlns:a="http://schemas.openxmlformats.org/drawingml/2006/main">
              <a:ext uri="{FF2B5EF4-FFF2-40B4-BE49-F238E27FC236}">
                <a16:creationId xmlns:a16="http://schemas.microsoft.com/office/drawing/2014/main" id="{0A657B0C-981F-4634-A8C2-2FD2FDE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2-released-num">
            <a:extLst xmlns:a="http://schemas.openxmlformats.org/drawingml/2006/main">
              <a:ext uri="{FF2B5EF4-FFF2-40B4-BE49-F238E27FC236}">
                <a16:creationId xmlns:a16="http://schemas.microsoft.com/office/drawing/2014/main" id="{20CCB975-51DA-484E-927B-D1734ABF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76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38C8"/>
                </a:solidFill>
              </a:defRPr>
            </a:pPr>
            <a:r>
              <a:rPr sz="3000" b="1">
                <a:solidFill>
                  <a:srgbClr val="5D38C8"/>
                </a:solidFill>
              </a:rPr>
              <a:t>2,335,880</a:t>
            </a:r>
          </a:p>
        </p:txBody>
      </p:sp>
      <p:sp>
        <p:nvSpPr>
          <p:cNvPr id="19" name="s2-released-lab">
            <a:extLst xmlns:a="http://schemas.openxmlformats.org/drawingml/2006/main">
              <a:ext uri="{FF2B5EF4-FFF2-40B4-BE49-F238E27FC236}">
                <a16:creationId xmlns:a16="http://schemas.microsoft.com/office/drawing/2014/main" id="{C6AAE4AB-3576-408C-85EC-EA7E2823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90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Claims released by bots</a:t>
            </a:r>
          </a:p>
        </p:txBody>
      </p:sp>
      <p:sp>
        <p:nvSpPr>
          <p:cNvPr id="20" name="s2-ratio-line">
            <a:extLst xmlns:a="http://schemas.openxmlformats.org/drawingml/2006/main">
              <a:ext uri="{FF2B5EF4-FFF2-40B4-BE49-F238E27FC236}">
                <a16:creationId xmlns:a16="http://schemas.microsoft.com/office/drawing/2014/main" id="{C01CFF7D-4E04-442F-9241-7811F718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495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ratio-num">
            <a:extLst xmlns:a="http://schemas.openxmlformats.org/drawingml/2006/main">
              <a:ext uri="{FF2B5EF4-FFF2-40B4-BE49-F238E27FC236}">
                <a16:creationId xmlns:a16="http://schemas.microsoft.com/office/drawing/2014/main" id="{81779012-2D42-44EC-8085-8F0C0AF6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476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AA7C7"/>
                </a:solidFill>
              </a:defRPr>
            </a:pPr>
            <a:r>
              <a:rPr sz="3000" b="1">
                <a:solidFill>
                  <a:srgbClr val="1AA7C7"/>
                </a:solidFill>
              </a:rPr>
              <a:t>35.3%</a:t>
            </a:r>
          </a:p>
        </p:txBody>
      </p:sp>
      <p:sp>
        <p:nvSpPr>
          <p:cNvPr id="22" name="s2-ratio-lab">
            <a:extLst xmlns:a="http://schemas.openxmlformats.org/drawingml/2006/main">
              <a:ext uri="{FF2B5EF4-FFF2-40B4-BE49-F238E27FC236}">
                <a16:creationId xmlns:a16="http://schemas.microsoft.com/office/drawing/2014/main" id="{580C0FAA-BB92-4AEC-A4FF-6F6D528D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990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Released-to-processed ratio</a:t>
            </a:r>
          </a:p>
        </p:txBody>
      </p:sp>
      <p:sp>
        <p:nvSpPr>
          <p:cNvPr id="23" name="s2-chart-title">
            <a:extLst xmlns:a="http://schemas.openxmlformats.org/drawingml/2006/main">
              <a:ext uri="{FF2B5EF4-FFF2-40B4-BE49-F238E27FC236}">
                <a16:creationId xmlns:a16="http://schemas.microsoft.com/office/drawing/2014/main" id="{ED53D19D-860C-4A28-B78A-3054D4D9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94B"/>
                </a:solidFill>
              </a:defRPr>
            </a:pPr>
            <a:r>
              <a:rPr sz="1800" b="1">
                <a:solidFill>
                  <a:srgbClr val="13294B"/>
                </a:solidFill>
              </a:rPr>
              <a:t>Monthly claim volume</a:t>
            </a:r>
          </a:p>
        </p:txBody>
      </p:sp>
      <p:sp>
        <p:nvSpPr>
          <p:cNvPr id="24" name="s2-peak">
            <a:extLst xmlns:a="http://schemas.openxmlformats.org/drawingml/2006/main">
              <a:ext uri="{FF2B5EF4-FFF2-40B4-BE49-F238E27FC236}">
                <a16:creationId xmlns:a16="http://schemas.microsoft.com/office/drawing/2014/main" id="{7451B653-D844-42E8-B547-E2C1E9D9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479D1"/>
                </a:solidFill>
              </a:defRPr>
            </a:pPr>
            <a:r>
              <a:rPr sz="1125" b="1">
                <a:solidFill>
                  <a:srgbClr val="1479D1"/>
                </a:solidFill>
              </a:rPr>
              <a:t>Peak processed volume: July  |  1.21M</a:t>
            </a:r>
          </a:p>
        </p:txBody>
      </p:sp>
      <p:sp>
        <p:nvSpPr>
          <p:cNvPr id="25" name="s2-chart-bg">
            <a:extLst xmlns:a="http://schemas.openxmlformats.org/drawingml/2006/main">
              <a:ext uri="{FF2B5EF4-FFF2-40B4-BE49-F238E27FC236}">
                <a16:creationId xmlns:a16="http://schemas.microsoft.com/office/drawing/2014/main" id="{8E6D6911-9B32-470C-881A-6029632A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95250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graphicFrame>
        <p:nvGraphicFramePr>
          <p:cNvPr id="101" name="Chart"/>
          <p:cNvGraphicFramePr/>
          <p:nvPr/>
        </p:nvGraphicFramePr>
        <p:xfrm>
          <a:off xmlns:a="http://schemas.openxmlformats.org/drawingml/2006/main" x="962025" y="3552825"/>
          <a:ext xmlns:a="http://schemas.openxmlformats.org/drawingml/2006/main" cx="897255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902733aac645ed"/>
          </a:graphicData>
        </a:graphic>
      </p:graphicFrame>
      <p:sp>
        <p:nvSpPr>
          <p:cNvPr id="27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2098AE94-DE88-46C4-9B1D-CA0E3145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104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7A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28" name="table-head-txt-0">
            <a:extLst xmlns:a="http://schemas.openxmlformats.org/drawingml/2006/main">
              <a:ext uri="{FF2B5EF4-FFF2-40B4-BE49-F238E27FC236}">
                <a16:creationId xmlns:a16="http://schemas.microsoft.com/office/drawing/2014/main" id="{C53E0321-6951-466E-8F2C-94428A27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34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MONTH</a:t>
            </a:r>
          </a:p>
        </p:txBody>
      </p:sp>
      <p:sp>
        <p:nvSpPr>
          <p:cNvPr id="29" name="table-proc-0">
            <a:extLst xmlns:a="http://schemas.openxmlformats.org/drawingml/2006/main">
              <a:ext uri="{FF2B5EF4-FFF2-40B4-BE49-F238E27FC236}">
                <a16:creationId xmlns:a16="http://schemas.microsoft.com/office/drawing/2014/main" id="{31090BE7-1351-4011-AE0A-E8C7D64C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104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30" name="table-proc-txt-0">
            <a:extLst xmlns:a="http://schemas.openxmlformats.org/drawingml/2006/main">
              <a:ext uri="{FF2B5EF4-FFF2-40B4-BE49-F238E27FC236}">
                <a16:creationId xmlns:a16="http://schemas.microsoft.com/office/drawing/2014/main" id="{730AD1C0-C97E-4C78-ABCD-7B8D335D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479D1"/>
                </a:solidFill>
              </a:defRPr>
            </a:pPr>
            <a:r>
              <a:rPr sz="675" b="1">
                <a:solidFill>
                  <a:srgbClr val="1479D1"/>
                </a:solidFill>
              </a:rPr>
              <a:t>PROCESSED</a:t>
            </a:r>
          </a:p>
        </p:txBody>
      </p:sp>
      <p:sp>
        <p:nvSpPr>
          <p:cNvPr id="31" name="table-rel-0">
            <a:extLst xmlns:a="http://schemas.openxmlformats.org/drawingml/2006/main">
              <a:ext uri="{FF2B5EF4-FFF2-40B4-BE49-F238E27FC236}">
                <a16:creationId xmlns:a16="http://schemas.microsoft.com/office/drawing/2014/main" id="{A77E7DC4-49BE-43B6-94F6-C613F22A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04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32" name="table-rel-txt-0">
            <a:extLst xmlns:a="http://schemas.openxmlformats.org/drawingml/2006/main">
              <a:ext uri="{FF2B5EF4-FFF2-40B4-BE49-F238E27FC236}">
                <a16:creationId xmlns:a16="http://schemas.microsoft.com/office/drawing/2014/main" id="{F26FA230-57A3-4AE9-B97E-2DA4640F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959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D3DB7"/>
                </a:solidFill>
              </a:defRPr>
            </a:pPr>
            <a:r>
              <a:rPr sz="675" b="1">
                <a:solidFill>
                  <a:srgbClr val="7D3DB7"/>
                </a:solidFill>
              </a:rPr>
              <a:t>RELEASED</a:t>
            </a:r>
          </a:p>
        </p:txBody>
      </p:sp>
      <p:sp>
        <p:nvSpPr>
          <p:cNvPr id="33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4C3B607C-7842-4E9E-8DFB-8CAF793B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0545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34" name="table-head-txt-1">
            <a:extLst xmlns:a="http://schemas.openxmlformats.org/drawingml/2006/main">
              <a:ext uri="{FF2B5EF4-FFF2-40B4-BE49-F238E27FC236}">
                <a16:creationId xmlns:a16="http://schemas.microsoft.com/office/drawing/2014/main" id="{E5307703-E781-43B6-8693-B05CC360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53402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64A75"/>
                </a:solidFill>
              </a:defRPr>
            </a:pPr>
            <a:r>
              <a:rPr sz="675" b="1">
                <a:solidFill>
                  <a:srgbClr val="264A75"/>
                </a:solidFill>
              </a:rPr>
              <a:t>JAN</a:t>
            </a:r>
          </a:p>
        </p:txBody>
      </p:sp>
      <p:sp>
        <p:nvSpPr>
          <p:cNvPr id="35" name="table-proc-1">
            <a:extLst xmlns:a="http://schemas.openxmlformats.org/drawingml/2006/main">
              <a:ext uri="{FF2B5EF4-FFF2-40B4-BE49-F238E27FC236}">
                <a16:creationId xmlns:a16="http://schemas.microsoft.com/office/drawing/2014/main" id="{E4776281-79EA-4667-9FCA-7A01CDAC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86425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36" name="table-proc-txt-1">
            <a:extLst xmlns:a="http://schemas.openxmlformats.org/drawingml/2006/main">
              <a:ext uri="{FF2B5EF4-FFF2-40B4-BE49-F238E27FC236}">
                <a16:creationId xmlns:a16="http://schemas.microsoft.com/office/drawing/2014/main" id="{B6695280-39EE-4091-A4E4-224EF5A5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7150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479D1"/>
                </a:solidFill>
              </a:defRPr>
            </a:pPr>
            <a:r>
              <a:rPr sz="675" b="0">
                <a:solidFill>
                  <a:srgbClr val="1479D1"/>
                </a:solidFill>
              </a:rPr>
              <a:t>847,181</a:t>
            </a:r>
          </a:p>
        </p:txBody>
      </p:sp>
      <p:sp>
        <p:nvSpPr>
          <p:cNvPr id="37" name="table-rel-1">
            <a:extLst xmlns:a="http://schemas.openxmlformats.org/drawingml/2006/main">
              <a:ext uri="{FF2B5EF4-FFF2-40B4-BE49-F238E27FC236}">
                <a16:creationId xmlns:a16="http://schemas.microsoft.com/office/drawing/2014/main" id="{1CDEF8BD-04DB-46BF-9CC8-38AF808C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6740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38" name="table-rel-txt-1">
            <a:extLst xmlns:a="http://schemas.openxmlformats.org/drawingml/2006/main">
              <a:ext uri="{FF2B5EF4-FFF2-40B4-BE49-F238E27FC236}">
                <a16:creationId xmlns:a16="http://schemas.microsoft.com/office/drawing/2014/main" id="{A10FA704-A72D-4C6F-A7DC-2D630688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8959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D3DB7"/>
                </a:solidFill>
              </a:defRPr>
            </a:pPr>
            <a:r>
              <a:rPr sz="675" b="0">
                <a:solidFill>
                  <a:srgbClr val="7D3DB7"/>
                </a:solidFill>
              </a:rPr>
              <a:t>326,500</a:t>
            </a:r>
          </a:p>
        </p:txBody>
      </p:sp>
      <p:sp>
        <p:nvSpPr>
          <p:cNvPr id="39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614C5554-9E7F-4B48-94D1-70A91042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50545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40" name="table-head-txt-2">
            <a:extLst xmlns:a="http://schemas.openxmlformats.org/drawingml/2006/main">
              <a:ext uri="{FF2B5EF4-FFF2-40B4-BE49-F238E27FC236}">
                <a16:creationId xmlns:a16="http://schemas.microsoft.com/office/drawing/2014/main" id="{532F4944-B222-4305-901E-4C93CE60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53402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64A75"/>
                </a:solidFill>
              </a:defRPr>
            </a:pPr>
            <a:r>
              <a:rPr sz="675" b="1">
                <a:solidFill>
                  <a:srgbClr val="264A75"/>
                </a:solidFill>
              </a:rPr>
              <a:t>FEB</a:t>
            </a:r>
          </a:p>
        </p:txBody>
      </p:sp>
      <p:sp>
        <p:nvSpPr>
          <p:cNvPr id="41" name="table-proc-2">
            <a:extLst xmlns:a="http://schemas.openxmlformats.org/drawingml/2006/main">
              <a:ext uri="{FF2B5EF4-FFF2-40B4-BE49-F238E27FC236}">
                <a16:creationId xmlns:a16="http://schemas.microsoft.com/office/drawing/2014/main" id="{B0C4B650-5A03-4689-851D-81C1EC1C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86425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42" name="table-proc-txt-2">
            <a:extLst xmlns:a="http://schemas.openxmlformats.org/drawingml/2006/main">
              <a:ext uri="{FF2B5EF4-FFF2-40B4-BE49-F238E27FC236}">
                <a16:creationId xmlns:a16="http://schemas.microsoft.com/office/drawing/2014/main" id="{2A4B859F-57C1-4471-BFE9-1D585C70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7150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479D1"/>
                </a:solidFill>
              </a:defRPr>
            </a:pPr>
            <a:r>
              <a:rPr sz="675" b="0">
                <a:solidFill>
                  <a:srgbClr val="1479D1"/>
                </a:solidFill>
              </a:rPr>
              <a:t>852,326</a:t>
            </a:r>
          </a:p>
        </p:txBody>
      </p:sp>
      <p:sp>
        <p:nvSpPr>
          <p:cNvPr id="43" name="table-rel-2">
            <a:extLst xmlns:a="http://schemas.openxmlformats.org/drawingml/2006/main">
              <a:ext uri="{FF2B5EF4-FFF2-40B4-BE49-F238E27FC236}">
                <a16:creationId xmlns:a16="http://schemas.microsoft.com/office/drawing/2014/main" id="{A9D1080A-BD93-4D6B-B712-BF280F61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86740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44" name="table-rel-txt-2">
            <a:extLst xmlns:a="http://schemas.openxmlformats.org/drawingml/2006/main">
              <a:ext uri="{FF2B5EF4-FFF2-40B4-BE49-F238E27FC236}">
                <a16:creationId xmlns:a16="http://schemas.microsoft.com/office/drawing/2014/main" id="{2E002CEF-36CD-4F44-97BD-90D9D74B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8959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D3DB7"/>
                </a:solidFill>
              </a:defRPr>
            </a:pPr>
            <a:r>
              <a:rPr sz="675" b="0">
                <a:solidFill>
                  <a:srgbClr val="7D3DB7"/>
                </a:solidFill>
              </a:rPr>
              <a:t>357,142</a:t>
            </a:r>
          </a:p>
        </p:txBody>
      </p:sp>
      <p:sp>
        <p:nvSpPr>
          <p:cNvPr id="45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905227EA-BC3E-4A9F-9B7C-A8A7C3D7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0545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46" name="table-head-txt-3">
            <a:extLst xmlns:a="http://schemas.openxmlformats.org/drawingml/2006/main">
              <a:ext uri="{FF2B5EF4-FFF2-40B4-BE49-F238E27FC236}">
                <a16:creationId xmlns:a16="http://schemas.microsoft.com/office/drawing/2014/main" id="{A81D62D4-A577-4EFE-BDE1-CCC63686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53402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64A75"/>
                </a:solidFill>
              </a:defRPr>
            </a:pPr>
            <a:r>
              <a:rPr sz="675" b="1">
                <a:solidFill>
                  <a:srgbClr val="264A75"/>
                </a:solidFill>
              </a:rPr>
              <a:t>MAR</a:t>
            </a:r>
          </a:p>
        </p:txBody>
      </p:sp>
      <p:sp>
        <p:nvSpPr>
          <p:cNvPr id="47" name="table-proc-3">
            <a:extLst xmlns:a="http://schemas.openxmlformats.org/drawingml/2006/main">
              <a:ext uri="{FF2B5EF4-FFF2-40B4-BE49-F238E27FC236}">
                <a16:creationId xmlns:a16="http://schemas.microsoft.com/office/drawing/2014/main" id="{8251E9AC-D2DB-491F-8DF4-3295A064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86425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48" name="table-proc-txt-3">
            <a:extLst xmlns:a="http://schemas.openxmlformats.org/drawingml/2006/main">
              <a:ext uri="{FF2B5EF4-FFF2-40B4-BE49-F238E27FC236}">
                <a16:creationId xmlns:a16="http://schemas.microsoft.com/office/drawing/2014/main" id="{AEBA31D8-9104-44F3-8289-76D3B755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7150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479D1"/>
                </a:solidFill>
              </a:defRPr>
            </a:pPr>
            <a:r>
              <a:rPr sz="675" b="0">
                <a:solidFill>
                  <a:srgbClr val="1479D1"/>
                </a:solidFill>
              </a:rPr>
              <a:t>796,388</a:t>
            </a:r>
          </a:p>
        </p:txBody>
      </p:sp>
      <p:sp>
        <p:nvSpPr>
          <p:cNvPr id="49" name="table-rel-3">
            <a:extLst xmlns:a="http://schemas.openxmlformats.org/drawingml/2006/main">
              <a:ext uri="{FF2B5EF4-FFF2-40B4-BE49-F238E27FC236}">
                <a16:creationId xmlns:a16="http://schemas.microsoft.com/office/drawing/2014/main" id="{9342E035-0483-4756-9F9E-79F4FB40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6740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50" name="table-rel-txt-3">
            <a:extLst xmlns:a="http://schemas.openxmlformats.org/drawingml/2006/main">
              <a:ext uri="{FF2B5EF4-FFF2-40B4-BE49-F238E27FC236}">
                <a16:creationId xmlns:a16="http://schemas.microsoft.com/office/drawing/2014/main" id="{09D3314E-7318-4BEB-B039-10358F47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8959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D3DB7"/>
                </a:solidFill>
              </a:defRPr>
            </a:pPr>
            <a:r>
              <a:rPr sz="675" b="0">
                <a:solidFill>
                  <a:srgbClr val="7D3DB7"/>
                </a:solidFill>
              </a:rPr>
              <a:t>320,911</a:t>
            </a:r>
          </a:p>
        </p:txBody>
      </p:sp>
      <p:sp>
        <p:nvSpPr>
          <p:cNvPr id="51" name="table-head-4">
            <a:extLst xmlns:a="http://schemas.openxmlformats.org/drawingml/2006/main">
              <a:ext uri="{FF2B5EF4-FFF2-40B4-BE49-F238E27FC236}">
                <a16:creationId xmlns:a16="http://schemas.microsoft.com/office/drawing/2014/main" id="{505C72F2-3110-4FCD-9080-D29D3D9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0545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52" name="table-head-txt-4">
            <a:extLst xmlns:a="http://schemas.openxmlformats.org/drawingml/2006/main">
              <a:ext uri="{FF2B5EF4-FFF2-40B4-BE49-F238E27FC236}">
                <a16:creationId xmlns:a16="http://schemas.microsoft.com/office/drawing/2014/main" id="{77070EDC-6EF6-4C32-9AA4-C68FC05B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53402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64A75"/>
                </a:solidFill>
              </a:defRPr>
            </a:pPr>
            <a:r>
              <a:rPr sz="675" b="1">
                <a:solidFill>
                  <a:srgbClr val="264A75"/>
                </a:solidFill>
              </a:rPr>
              <a:t>APR</a:t>
            </a:r>
          </a:p>
        </p:txBody>
      </p:sp>
      <p:sp>
        <p:nvSpPr>
          <p:cNvPr id="53" name="table-proc-4">
            <a:extLst xmlns:a="http://schemas.openxmlformats.org/drawingml/2006/main">
              <a:ext uri="{FF2B5EF4-FFF2-40B4-BE49-F238E27FC236}">
                <a16:creationId xmlns:a16="http://schemas.microsoft.com/office/drawing/2014/main" id="{8644C4C2-27CF-450A-9403-B30C7C2F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686425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54" name="table-proc-txt-4">
            <a:extLst xmlns:a="http://schemas.openxmlformats.org/drawingml/2006/main">
              <a:ext uri="{FF2B5EF4-FFF2-40B4-BE49-F238E27FC236}">
                <a16:creationId xmlns:a16="http://schemas.microsoft.com/office/drawing/2014/main" id="{C27290B5-9D0E-4593-B6D3-9B99D1F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7150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479D1"/>
                </a:solidFill>
              </a:defRPr>
            </a:pPr>
            <a:r>
              <a:rPr sz="675" b="0">
                <a:solidFill>
                  <a:srgbClr val="1479D1"/>
                </a:solidFill>
              </a:rPr>
              <a:t>1,032,514</a:t>
            </a:r>
          </a:p>
        </p:txBody>
      </p:sp>
      <p:sp>
        <p:nvSpPr>
          <p:cNvPr id="55" name="table-rel-4">
            <a:extLst xmlns:a="http://schemas.openxmlformats.org/drawingml/2006/main">
              <a:ext uri="{FF2B5EF4-FFF2-40B4-BE49-F238E27FC236}">
                <a16:creationId xmlns:a16="http://schemas.microsoft.com/office/drawing/2014/main" id="{F87BBB30-925B-46AF-A4D0-9B11C037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6740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56" name="table-rel-txt-4">
            <a:extLst xmlns:a="http://schemas.openxmlformats.org/drawingml/2006/main">
              <a:ext uri="{FF2B5EF4-FFF2-40B4-BE49-F238E27FC236}">
                <a16:creationId xmlns:a16="http://schemas.microsoft.com/office/drawing/2014/main" id="{E1B9C614-8ED8-46E0-B7C5-64A8D89A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8959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D3DB7"/>
                </a:solidFill>
              </a:defRPr>
            </a:pPr>
            <a:r>
              <a:rPr sz="675" b="0">
                <a:solidFill>
                  <a:srgbClr val="7D3DB7"/>
                </a:solidFill>
              </a:rPr>
              <a:t>351,986</a:t>
            </a:r>
          </a:p>
        </p:txBody>
      </p:sp>
      <p:sp>
        <p:nvSpPr>
          <p:cNvPr id="57" name="table-head-5">
            <a:extLst xmlns:a="http://schemas.openxmlformats.org/drawingml/2006/main">
              <a:ext uri="{FF2B5EF4-FFF2-40B4-BE49-F238E27FC236}">
                <a16:creationId xmlns:a16="http://schemas.microsoft.com/office/drawing/2014/main" id="{D74A2ABE-2C09-459E-ABB6-2A451A26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0545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58" name="table-head-txt-5">
            <a:extLst xmlns:a="http://schemas.openxmlformats.org/drawingml/2006/main">
              <a:ext uri="{FF2B5EF4-FFF2-40B4-BE49-F238E27FC236}">
                <a16:creationId xmlns:a16="http://schemas.microsoft.com/office/drawing/2014/main" id="{A05C170D-9A8A-41C6-81F8-9345E22C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53402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64A75"/>
                </a:solidFill>
              </a:defRPr>
            </a:pPr>
            <a:r>
              <a:rPr sz="675" b="1">
                <a:solidFill>
                  <a:srgbClr val="264A75"/>
                </a:solidFill>
              </a:rPr>
              <a:t>MAY</a:t>
            </a:r>
          </a:p>
        </p:txBody>
      </p:sp>
      <p:sp>
        <p:nvSpPr>
          <p:cNvPr id="59" name="table-proc-5">
            <a:extLst xmlns:a="http://schemas.openxmlformats.org/drawingml/2006/main">
              <a:ext uri="{FF2B5EF4-FFF2-40B4-BE49-F238E27FC236}">
                <a16:creationId xmlns:a16="http://schemas.microsoft.com/office/drawing/2014/main" id="{BF069F27-6001-4D5D-9E0C-15753C6D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86425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60" name="table-proc-txt-5">
            <a:extLst xmlns:a="http://schemas.openxmlformats.org/drawingml/2006/main">
              <a:ext uri="{FF2B5EF4-FFF2-40B4-BE49-F238E27FC236}">
                <a16:creationId xmlns:a16="http://schemas.microsoft.com/office/drawing/2014/main" id="{E7505220-224D-41F2-99D5-481CA76D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7150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479D1"/>
                </a:solidFill>
              </a:defRPr>
            </a:pPr>
            <a:r>
              <a:rPr sz="675" b="0">
                <a:solidFill>
                  <a:srgbClr val="1479D1"/>
                </a:solidFill>
              </a:rPr>
              <a:t>820,762</a:t>
            </a:r>
          </a:p>
        </p:txBody>
      </p:sp>
      <p:sp>
        <p:nvSpPr>
          <p:cNvPr id="61" name="table-rel-5">
            <a:extLst xmlns:a="http://schemas.openxmlformats.org/drawingml/2006/main">
              <a:ext uri="{FF2B5EF4-FFF2-40B4-BE49-F238E27FC236}">
                <a16:creationId xmlns:a16="http://schemas.microsoft.com/office/drawing/2014/main" id="{FBFA688F-A1C2-4A5D-B48E-03819151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6740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62" name="table-rel-txt-5">
            <a:extLst xmlns:a="http://schemas.openxmlformats.org/drawingml/2006/main">
              <a:ext uri="{FF2B5EF4-FFF2-40B4-BE49-F238E27FC236}">
                <a16:creationId xmlns:a16="http://schemas.microsoft.com/office/drawing/2014/main" id="{52775DD0-30E8-4423-AEFD-1C175C09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8959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D3DB7"/>
                </a:solidFill>
              </a:defRPr>
            </a:pPr>
            <a:r>
              <a:rPr sz="675" b="0">
                <a:solidFill>
                  <a:srgbClr val="7D3DB7"/>
                </a:solidFill>
              </a:rPr>
              <a:t>286,684</a:t>
            </a:r>
          </a:p>
        </p:txBody>
      </p:sp>
      <p:sp>
        <p:nvSpPr>
          <p:cNvPr id="63" name="table-head-6">
            <a:extLst xmlns:a="http://schemas.openxmlformats.org/drawingml/2006/main">
              <a:ext uri="{FF2B5EF4-FFF2-40B4-BE49-F238E27FC236}">
                <a16:creationId xmlns:a16="http://schemas.microsoft.com/office/drawing/2014/main" id="{1363F6B0-2E8F-4630-8E7F-592F9AB1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0545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64" name="table-head-txt-6">
            <a:extLst xmlns:a="http://schemas.openxmlformats.org/drawingml/2006/main">
              <a:ext uri="{FF2B5EF4-FFF2-40B4-BE49-F238E27FC236}">
                <a16:creationId xmlns:a16="http://schemas.microsoft.com/office/drawing/2014/main" id="{C0BD13BE-87E3-4525-A27E-55512721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53402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64A75"/>
                </a:solidFill>
              </a:defRPr>
            </a:pPr>
            <a:r>
              <a:rPr sz="675" b="1">
                <a:solidFill>
                  <a:srgbClr val="264A75"/>
                </a:solidFill>
              </a:rPr>
              <a:t>JUN</a:t>
            </a:r>
          </a:p>
        </p:txBody>
      </p:sp>
      <p:sp>
        <p:nvSpPr>
          <p:cNvPr id="65" name="table-proc-6">
            <a:extLst xmlns:a="http://schemas.openxmlformats.org/drawingml/2006/main">
              <a:ext uri="{FF2B5EF4-FFF2-40B4-BE49-F238E27FC236}">
                <a16:creationId xmlns:a16="http://schemas.microsoft.com/office/drawing/2014/main" id="{5147087A-46FA-4B20-AF9C-20F5FB17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86425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66" name="table-proc-txt-6">
            <a:extLst xmlns:a="http://schemas.openxmlformats.org/drawingml/2006/main">
              <a:ext uri="{FF2B5EF4-FFF2-40B4-BE49-F238E27FC236}">
                <a16:creationId xmlns:a16="http://schemas.microsoft.com/office/drawing/2014/main" id="{50FB850E-132C-4D02-A711-263DEF88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7150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479D1"/>
                </a:solidFill>
              </a:defRPr>
            </a:pPr>
            <a:r>
              <a:rPr sz="675" b="0">
                <a:solidFill>
                  <a:srgbClr val="1479D1"/>
                </a:solidFill>
              </a:rPr>
              <a:t>1,066,597</a:t>
            </a:r>
          </a:p>
        </p:txBody>
      </p:sp>
      <p:sp>
        <p:nvSpPr>
          <p:cNvPr id="67" name="table-rel-6">
            <a:extLst xmlns:a="http://schemas.openxmlformats.org/drawingml/2006/main">
              <a:ext uri="{FF2B5EF4-FFF2-40B4-BE49-F238E27FC236}">
                <a16:creationId xmlns:a16="http://schemas.microsoft.com/office/drawing/2014/main" id="{514FCECE-FB94-43EA-BD1D-E8190BF7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67400"/>
            <a:ext cx="1047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68" name="table-rel-txt-6">
            <a:extLst xmlns:a="http://schemas.openxmlformats.org/drawingml/2006/main">
              <a:ext uri="{FF2B5EF4-FFF2-40B4-BE49-F238E27FC236}">
                <a16:creationId xmlns:a16="http://schemas.microsoft.com/office/drawing/2014/main" id="{F7A095DF-DFDC-4A9C-AD8A-373DC260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8959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D3DB7"/>
                </a:solidFill>
              </a:defRPr>
            </a:pPr>
            <a:r>
              <a:rPr sz="675" b="0">
                <a:solidFill>
                  <a:srgbClr val="7D3DB7"/>
                </a:solidFill>
              </a:rPr>
              <a:t>361,929</a:t>
            </a:r>
          </a:p>
        </p:txBody>
      </p:sp>
      <p:sp>
        <p:nvSpPr>
          <p:cNvPr id="69" name="table-head-7">
            <a:extLst xmlns:a="http://schemas.openxmlformats.org/drawingml/2006/main">
              <a:ext uri="{FF2B5EF4-FFF2-40B4-BE49-F238E27FC236}">
                <a16:creationId xmlns:a16="http://schemas.microsoft.com/office/drawing/2014/main" id="{622A68C8-7948-458E-B024-31704502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05450"/>
            <a:ext cx="1085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70" name="table-head-txt-7">
            <a:extLst xmlns:a="http://schemas.openxmlformats.org/drawingml/2006/main">
              <a:ext uri="{FF2B5EF4-FFF2-40B4-BE49-F238E27FC236}">
                <a16:creationId xmlns:a16="http://schemas.microsoft.com/office/drawing/2014/main" id="{E12DCB19-AD19-4148-9E19-F4622859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534025"/>
            <a:ext cx="1028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64A75"/>
                </a:solidFill>
              </a:defRPr>
            </a:pPr>
            <a:r>
              <a:rPr sz="675" b="1">
                <a:solidFill>
                  <a:srgbClr val="264A75"/>
                </a:solidFill>
              </a:rPr>
              <a:t>JUL</a:t>
            </a:r>
          </a:p>
        </p:txBody>
      </p:sp>
      <p:sp>
        <p:nvSpPr>
          <p:cNvPr id="71" name="table-proc-7">
            <a:extLst xmlns:a="http://schemas.openxmlformats.org/drawingml/2006/main">
              <a:ext uri="{FF2B5EF4-FFF2-40B4-BE49-F238E27FC236}">
                <a16:creationId xmlns:a16="http://schemas.microsoft.com/office/drawing/2014/main" id="{4990FECE-0E08-4041-8397-FBEC4BD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86425"/>
            <a:ext cx="1085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72" name="table-proc-txt-7">
            <a:extLst xmlns:a="http://schemas.openxmlformats.org/drawingml/2006/main">
              <a:ext uri="{FF2B5EF4-FFF2-40B4-BE49-F238E27FC236}">
                <a16:creationId xmlns:a16="http://schemas.microsoft.com/office/drawing/2014/main" id="{C028238F-0B28-4CFA-885B-F91CC909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715000"/>
            <a:ext cx="1028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479D1"/>
                </a:solidFill>
              </a:defRPr>
            </a:pPr>
            <a:r>
              <a:rPr sz="675" b="0">
                <a:solidFill>
                  <a:srgbClr val="1479D1"/>
                </a:solidFill>
              </a:rPr>
              <a:t>1,210,325</a:t>
            </a:r>
          </a:p>
        </p:txBody>
      </p:sp>
      <p:sp>
        <p:nvSpPr>
          <p:cNvPr id="73" name="table-rel-7">
            <a:extLst xmlns:a="http://schemas.openxmlformats.org/drawingml/2006/main">
              <a:ext uri="{FF2B5EF4-FFF2-40B4-BE49-F238E27FC236}">
                <a16:creationId xmlns:a16="http://schemas.microsoft.com/office/drawing/2014/main" id="{15449CBD-E8C4-4B2C-BCEC-F535F377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867400"/>
            <a:ext cx="1085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74" name="table-rel-txt-7">
            <a:extLst xmlns:a="http://schemas.openxmlformats.org/drawingml/2006/main">
              <a:ext uri="{FF2B5EF4-FFF2-40B4-BE49-F238E27FC236}">
                <a16:creationId xmlns:a16="http://schemas.microsoft.com/office/drawing/2014/main" id="{82579E3C-D9A7-421F-917A-2C699867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895975"/>
            <a:ext cx="1028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D3DB7"/>
                </a:solidFill>
              </a:defRPr>
            </a:pPr>
            <a:r>
              <a:rPr sz="675" b="0">
                <a:solidFill>
                  <a:srgbClr val="7D3DB7"/>
                </a:solidFill>
              </a:rPr>
              <a:t>330,728</a:t>
            </a:r>
          </a:p>
        </p:txBody>
      </p:sp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662a179dc4027"/>
          <a:srcRect xmlns:a="http://schemas.openxmlformats.org/drawingml/2006/main" l="18846" t="0" r="18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3543300"/>
            <a:ext cx="1028700" cy="2476500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</p:spTree>
    <p:extLst>
      <p:ext uri="{BB962C8B-B14F-4D97-AF65-F5344CB8AC3E}">
        <p14:creationId xmlns:p14="http://schemas.microsoft.com/office/powerpoint/2010/main" val="623311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2026-08-25T19:03:05.3930000Z</dcterms:created>
  <dcterms:modified xsi:type="dcterms:W3CDTF">2026-08-25T19:03:05.3930000Z</dcterms:modified>
</coreProperties>
</file>