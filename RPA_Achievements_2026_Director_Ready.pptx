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e87f2a925a4340" /><Relationship Type="http://schemas.openxmlformats.org/officeDocument/2006/relationships/extended-properties" Target="/docProps/app.xml" Id="R09dd73c1d8374f77" /><Relationship Type="http://schemas.openxmlformats.org/officeDocument/2006/relationships/officeDocument" Target="/ppt/presentation.xml" Id="Re416fd72732343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79f73ae77462c"/>
  </p:sldMasterIdLst>
  <p:notesMasterIdLst>
    <p:notesMasterId xmlns:r="http://schemas.openxmlformats.org/officeDocument/2006/relationships" r:id="Ra03b51d2b7c0470b"/>
  </p:notesMasterIdLst>
  <p:sldIdLst>
    <p:sldId xmlns:r="http://schemas.openxmlformats.org/officeDocument/2006/relationships" id="256" r:id="Re3e3ec1077d2461e"/>
    <p:sldId xmlns:r="http://schemas.openxmlformats.org/officeDocument/2006/relationships" id="257" r:id="Ra068a218d85b46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e2656d13f14f92" /><Relationship Type="http://schemas.openxmlformats.org/officeDocument/2006/relationships/slideMaster" Target="/ppt/slideMasters/slideMaster1.xml" Id="R20379f73ae77462c" /><Relationship Type="http://schemas.openxmlformats.org/officeDocument/2006/relationships/notesMaster" Target="/ppt/notesMasters/notesMaster1.xml" Id="Ra03b51d2b7c0470b" /><Relationship Type="http://schemas.openxmlformats.org/officeDocument/2006/relationships/presProps" Target="/ppt/presProps.xml" Id="Rc5deca609bad4445" /><Relationship Type="http://schemas.openxmlformats.org/officeDocument/2006/relationships/tableStyles" Target="/ppt/tableStyles.xml" Id="R02b53bcb3ed04efa" /><Relationship Type="http://schemas.openxmlformats.org/officeDocument/2006/relationships/slide" Target="/ppt/slides/slide1.xml" Id="Re3e3ec1077d2461e" /><Relationship Type="http://schemas.openxmlformats.org/officeDocument/2006/relationships/slide" Target="/ppt/slides/slide2.xml" Id="Ra068a218d85b46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3fd658a624a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e27fe3d654ce9" /><Relationship Type="http://schemas.openxmlformats.org/officeDocument/2006/relationships/notesMaster" Target="/ppt/notesMasters/notesMaster1.xml" Id="R008a23256cf3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fc2ded6e14f0a" /><Relationship Type="http://schemas.openxmlformats.org/officeDocument/2006/relationships/notesMaster" Target="/ppt/notesMasters/notesMaster1.xml" Id="R1bf73d741169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AI-generated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Released-to-processed ratio calculated as 2,335,880 / 6,626,093.</a:t>
            </a:r>
          </a:p>
          <a:p xmlns:a="http://schemas.openxmlformats.org/drawingml/2006/main">
            <a:r>
              <a:t>- July peak is derived from the supplied monthly data.</a:t>
            </a:r>
          </a:p>
          <a:p xmlns:a="http://schemas.openxmlformats.org/drawingml/2006/main">
            <a:r>
              <a:t>- AI-generated automation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2b36a321c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f0d1aefb446b6" /><Relationship Type="http://schemas.openxmlformats.org/officeDocument/2006/relationships/slideLayout" Target="/ppt/slideLayouts/slideLayout1.xml" Id="Ra295c6059a59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5c6059a59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bae9050f146a3" /><Relationship Type="http://schemas.openxmlformats.org/officeDocument/2006/relationships/image" Target="/ppt/media/image.png" Id="R9cfeb1fe7d82496a" /><Relationship Type="http://schemas.openxmlformats.org/officeDocument/2006/relationships/notesSlide" Target="/ppt/notesSlides/notesSlide1.xml" Id="R38db7bbd71b14e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ecb32c0094a16" /><Relationship Type="http://schemas.openxmlformats.org/officeDocument/2006/relationships/chart" Target="/ppt/slides/charts/chart1.xml" Id="R443829f6fcde4e01" /><Relationship Type="http://schemas.openxmlformats.org/officeDocument/2006/relationships/image" Target="/ppt/media/image2.png" Id="Raa2543fb0fb84f3d" /><Relationship Type="http://schemas.openxmlformats.org/officeDocument/2006/relationships/notesSlide" Target="/ppt/notesSlides/notesSlide2.xml" Id="R6833fe6df3324bb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1479D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847181</c:v>
              </c:pt>
              <c:pt idx="1">
                <c:v>852326</c:v>
              </c:pt>
              <c:pt idx="2">
                <c:v>796388</c:v>
              </c:pt>
              <c:pt idx="3">
                <c:v>1032514</c:v>
              </c:pt>
              <c:pt idx="4">
                <c:v>820762</c:v>
              </c:pt>
              <c:pt idx="5">
                <c:v>1066597</c:v>
              </c:pt>
              <c:pt idx="6">
                <c:v>1210325</c:v>
              </c:pt>
            </c:numLit>
          </c:val>
        </c:ser>
        <c:ser>
          <c:idx val="1"/>
          <c:order val="1"/>
          <c:tx>
            <c:v>Released</c:v>
          </c:tx>
          <c:spPr>
            <a:solidFill xmlns:a="http://schemas.openxmlformats.org/drawingml/2006/main">
              <a:srgbClr val="8B4BC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326500</c:v>
              </c:pt>
              <c:pt idx="1">
                <c:v>357142</c:v>
              </c:pt>
              <c:pt idx="2">
                <c:v>320911</c:v>
              </c:pt>
              <c:pt idx="3">
                <c:v>351986</c:v>
              </c:pt>
              <c:pt idx="4">
                <c:v>286684</c:v>
              </c:pt>
              <c:pt idx="5">
                <c:v>361929</c:v>
              </c:pt>
              <c:pt idx="6">
                <c:v>330728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F3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blue-1">
            <a:extLst xmlns:a="http://schemas.openxmlformats.org/drawingml/2006/main">
              <a:ext uri="{FF2B5EF4-FFF2-40B4-BE49-F238E27FC236}">
                <a16:creationId xmlns:a16="http://schemas.microsoft.com/office/drawing/2014/main" id="{8FAA0D35-780E-439D-9085-FFC2EC5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1">
            <a:extLst xmlns:a="http://schemas.openxmlformats.org/drawingml/2006/main">
              <a:ext uri="{FF2B5EF4-FFF2-40B4-BE49-F238E27FC236}">
                <a16:creationId xmlns:a16="http://schemas.microsoft.com/office/drawing/2014/main" id="{BD7E3070-8EFF-43B5-808A-426A440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100C7810-1FE8-4290-9BD2-664F79C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RPA automation is operating at enterprise scale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9B908646-4AE5-4E59-AC2F-7C0994AF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Current achievement footprint across Medicaid operations</a:t>
            </a:r>
          </a:p>
        </p:txBody>
      </p:sp>
      <p:sp>
        <p:nvSpPr>
          <p:cNvPr id="5" name="ddat-1">
            <a:extLst xmlns:a="http://schemas.openxmlformats.org/drawingml/2006/main">
              <a:ext uri="{FF2B5EF4-FFF2-40B4-BE49-F238E27FC236}">
                <a16:creationId xmlns:a16="http://schemas.microsoft.com/office/drawing/2014/main" id="{F468A374-2B9C-4ECD-B2C6-10305149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EDB3F1D-463D-47BB-AE90-4FFA838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7F0F6D0C-99EA-483B-A951-2AD8443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AC1808D4-AE27-43AF-96E0-7D240191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71ECBB2-ADB2-4567-B578-DA1EB385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1</a:t>
            </a:r>
          </a:p>
        </p:txBody>
      </p:sp>
      <p:sp>
        <p:nvSpPr>
          <p:cNvPr id="10" name="s1-kpi-surface">
            <a:extLst xmlns:a="http://schemas.openxmlformats.org/drawingml/2006/main">
              <a:ext uri="{FF2B5EF4-FFF2-40B4-BE49-F238E27FC236}">
                <a16:creationId xmlns:a16="http://schemas.microsoft.com/office/drawing/2014/main" id="{C1CDF3AF-41C8-4D01-9DB3-49D57EE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BEF"/>
            </a:solidFill>
            <a:prstDash val="solid"/>
          </a:ln>
        </p:spPr>
      </p:sp>
      <p:sp>
        <p:nvSpPr>
          <p:cNvPr id="11" name="s1-processes-line">
            <a:extLst xmlns:a="http://schemas.openxmlformats.org/drawingml/2006/main">
              <a:ext uri="{FF2B5EF4-FFF2-40B4-BE49-F238E27FC236}">
                <a16:creationId xmlns:a16="http://schemas.microsoft.com/office/drawing/2014/main" id="{66606A49-998D-4A64-9AB0-0A195DE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processes-num">
            <a:extLst xmlns:a="http://schemas.openxmlformats.org/drawingml/2006/main">
              <a:ext uri="{FF2B5EF4-FFF2-40B4-BE49-F238E27FC236}">
                <a16:creationId xmlns:a16="http://schemas.microsoft.com/office/drawing/2014/main" id="{AE804172-2FCE-43A1-8C0A-6C1A715C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100+</a:t>
            </a:r>
          </a:p>
        </p:txBody>
      </p:sp>
      <p:sp>
        <p:nvSpPr>
          <p:cNvPr id="13" name="s1-processes-lab">
            <a:extLst xmlns:a="http://schemas.openxmlformats.org/drawingml/2006/main">
              <a:ext uri="{FF2B5EF4-FFF2-40B4-BE49-F238E27FC236}">
                <a16:creationId xmlns:a16="http://schemas.microsoft.com/office/drawing/2014/main" id="{1793C6B0-AA4C-47B6-8062-9466160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Processes currently handled</a:t>
            </a:r>
          </a:p>
        </p:txBody>
      </p:sp>
      <p:sp>
        <p:nvSpPr>
          <p:cNvPr id="14" name="s1-bots-line">
            <a:extLst xmlns:a="http://schemas.openxmlformats.org/drawingml/2006/main">
              <a:ext uri="{FF2B5EF4-FFF2-40B4-BE49-F238E27FC236}">
                <a16:creationId xmlns:a16="http://schemas.microsoft.com/office/drawing/2014/main" id="{5DBA80D0-FAEA-42E0-A684-5444B46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bots-num">
            <a:extLst xmlns:a="http://schemas.openxmlformats.org/drawingml/2006/main">
              <a:ext uri="{FF2B5EF4-FFF2-40B4-BE49-F238E27FC236}">
                <a16:creationId xmlns:a16="http://schemas.microsoft.com/office/drawing/2014/main" id="{610C6F8F-18C7-4CC4-A547-D3E006E0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3CC4"/>
                </a:solidFill>
              </a:defRPr>
            </a:pPr>
            <a:r>
              <a:rPr sz="3000" b="1">
                <a:solidFill>
                  <a:srgbClr val="5B3CC4"/>
                </a:solidFill>
              </a:rPr>
              <a:t>762</a:t>
            </a:r>
          </a:p>
        </p:txBody>
      </p:sp>
      <p:sp>
        <p:nvSpPr>
          <p:cNvPr id="16" name="s1-bots-lab">
            <a:extLst xmlns:a="http://schemas.openxmlformats.org/drawingml/2006/main">
              <a:ext uri="{FF2B5EF4-FFF2-40B4-BE49-F238E27FC236}">
                <a16:creationId xmlns:a16="http://schemas.microsoft.com/office/drawing/2014/main" id="{D70EE5F2-2F40-4A14-9437-FDEE87B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Bots deployed across all lines of business</a:t>
            </a:r>
          </a:p>
        </p:txBody>
      </p:sp>
      <p:sp>
        <p:nvSpPr>
          <p:cNvPr id="17" name="s1-footprint">
            <a:extLst xmlns:a="http://schemas.openxmlformats.org/drawingml/2006/main">
              <a:ext uri="{FF2B5EF4-FFF2-40B4-BE49-F238E27FC236}">
                <a16:creationId xmlns:a16="http://schemas.microsoft.com/office/drawing/2014/main" id="{BB8324FC-6B2A-42A0-9418-50783D8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SCALE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+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BREADTH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b1fe7d82496a"/>
          <a:stretch xmlns:a="http://schemas.openxmlformats.org/drawingml/2006/main"/>
        </p:blipFill>
        <p:spPr>
          <a:xfrm xmlns:a="http://schemas.openxmlformats.org/drawingml/2006/main">
            <a:off x="9372048" y="1104900"/>
            <a:ext cx="1286979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s1-coverage-title">
            <a:extLst xmlns:a="http://schemas.openxmlformats.org/drawingml/2006/main">
              <a:ext uri="{FF2B5EF4-FFF2-40B4-BE49-F238E27FC236}">
                <a16:creationId xmlns:a16="http://schemas.microsoft.com/office/drawing/2014/main" id="{564D972A-8D32-40B2-AAB5-A0B2D9DF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Automation coverage</a:t>
            </a:r>
          </a:p>
        </p:txBody>
      </p:sp>
      <p:sp>
        <p:nvSpPr>
          <p:cNvPr id="20" name="s1-col1-top">
            <a:extLst xmlns:a="http://schemas.openxmlformats.org/drawingml/2006/main">
              <a:ext uri="{FF2B5EF4-FFF2-40B4-BE49-F238E27FC236}">
                <a16:creationId xmlns:a16="http://schemas.microsoft.com/office/drawing/2014/main" id="{1A43E999-2A2A-44C1-B03A-4EEDA15A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l1">
            <a:extLst xmlns:a="http://schemas.openxmlformats.org/drawingml/2006/main">
              <a:ext uri="{FF2B5EF4-FFF2-40B4-BE49-F238E27FC236}">
                <a16:creationId xmlns:a16="http://schemas.microsoft.com/office/drawing/2014/main" id="{7D34721D-95E3-4497-97EC-D21731D0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2" name="s1-col1-icon">
            <a:extLst xmlns:a="http://schemas.openxmlformats.org/drawingml/2006/main">
              <a:ext uri="{FF2B5EF4-FFF2-40B4-BE49-F238E27FC236}">
                <a16:creationId xmlns:a16="http://schemas.microsoft.com/office/drawing/2014/main" id="{ED3336C0-528A-4EC7-B3AA-481D40B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83E8"/>
                </a:solidFill>
              </a:defRPr>
            </a:pPr>
            <a:r>
              <a:rPr sz="2550" b="1">
                <a:solidFill>
                  <a:srgbClr val="1683E8"/>
                </a:solidFill>
              </a:rPr>
              <a:t>⇄</a:t>
            </a:r>
          </a:p>
        </p:txBody>
      </p:sp>
      <p:sp>
        <p:nvSpPr>
          <p:cNvPr id="23" name="s1-col1-head">
            <a:extLst xmlns:a="http://schemas.openxmlformats.org/drawingml/2006/main">
              <a:ext uri="{FF2B5EF4-FFF2-40B4-BE49-F238E27FC236}">
                <a16:creationId xmlns:a16="http://schemas.microsoft.com/office/drawing/2014/main" id="{A8A5E745-67EB-4C51-9842-0F78791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Digital integration</a:t>
            </a:r>
          </a:p>
        </p:txBody>
      </p:sp>
      <p:sp>
        <p:nvSpPr>
          <p:cNvPr id="24" name="s1-col1-copy">
            <a:extLst xmlns:a="http://schemas.openxmlformats.org/drawingml/2006/main">
              <a:ext uri="{FF2B5EF4-FFF2-40B4-BE49-F238E27FC236}">
                <a16:creationId xmlns:a16="http://schemas.microsoft.com/office/drawing/2014/main" id="{A7EDFC0A-8761-4FFA-932E-497CD63B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Database and API automation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ServiceNow integration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Web scraping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Windows automation</a:t>
            </a:r>
          </a:p>
        </p:txBody>
      </p:sp>
      <p:sp>
        <p:nvSpPr>
          <p:cNvPr id="25" name="s1-col2-top">
            <a:extLst xmlns:a="http://schemas.openxmlformats.org/drawingml/2006/main">
              <a:ext uri="{FF2B5EF4-FFF2-40B4-BE49-F238E27FC236}">
                <a16:creationId xmlns:a16="http://schemas.microsoft.com/office/drawing/2014/main" id="{FE679241-AD22-49E6-ACE5-54D2FACF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col2">
            <a:extLst xmlns:a="http://schemas.openxmlformats.org/drawingml/2006/main">
              <a:ext uri="{FF2B5EF4-FFF2-40B4-BE49-F238E27FC236}">
                <a16:creationId xmlns:a16="http://schemas.microsoft.com/office/drawing/2014/main" id="{1B9439AE-30C3-4434-B378-9728CAD3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7" name="s1-col2-icon">
            <a:extLst xmlns:a="http://schemas.openxmlformats.org/drawingml/2006/main">
              <a:ext uri="{FF2B5EF4-FFF2-40B4-BE49-F238E27FC236}">
                <a16:creationId xmlns:a16="http://schemas.microsoft.com/office/drawing/2014/main" id="{5A4E0176-72F0-4419-B5C4-6F7BFD7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3A65"/>
                </a:solidFill>
              </a:defRPr>
            </a:pPr>
            <a:r>
              <a:rPr sz="2550" b="1">
                <a:solidFill>
                  <a:srgbClr val="B43A65"/>
                </a:solidFill>
              </a:rPr>
              <a:t>▤</a:t>
            </a:r>
          </a:p>
        </p:txBody>
      </p:sp>
      <p:sp>
        <p:nvSpPr>
          <p:cNvPr id="28" name="s1-col2-head">
            <a:extLst xmlns:a="http://schemas.openxmlformats.org/drawingml/2006/main">
              <a:ext uri="{FF2B5EF4-FFF2-40B4-BE49-F238E27FC236}">
                <a16:creationId xmlns:a16="http://schemas.microsoft.com/office/drawing/2014/main" id="{9191C6E6-FAE2-46A4-8A46-237952F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Document intelligence</a:t>
            </a:r>
          </a:p>
        </p:txBody>
      </p:sp>
      <p:sp>
        <p:nvSpPr>
          <p:cNvPr id="29" name="s1-col2-copy">
            <a:extLst xmlns:a="http://schemas.openxmlformats.org/drawingml/2006/main">
              <a:ext uri="{FF2B5EF4-FFF2-40B4-BE49-F238E27FC236}">
                <a16:creationId xmlns:a16="http://schemas.microsoft.com/office/drawing/2014/main" id="{9656D4CB-D95A-4CE6-9936-8650C763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100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Document understanding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Structured PDF extraction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Unstructured PDF extraction</a:t>
            </a:r>
          </a:p>
          <a:p xmlns:a="http://schemas.openxmlformats.org/drawingml/2006/main">
            <a:pPr>
              <a:defRPr sz="1350">
                <a:solidFill>
                  <a:srgbClr val="415B7D"/>
                </a:solidFill>
              </a:defRPr>
            </a:pPr>
            <a:r>
              <a:rPr sz="1350">
                <a:solidFill>
                  <a:srgbClr val="415B7D"/>
                </a:solidFill>
              </a:rPr>
              <a:t>Validation-ready outputs</a:t>
            </a:r>
          </a:p>
        </p:txBody>
      </p:sp>
      <p:sp>
        <p:nvSpPr>
          <p:cNvPr id="30" name="s1-col3-top">
            <a:extLst xmlns:a="http://schemas.openxmlformats.org/drawingml/2006/main">
              <a:ext uri="{FF2B5EF4-FFF2-40B4-BE49-F238E27FC236}">
                <a16:creationId xmlns:a16="http://schemas.microsoft.com/office/drawing/2014/main" id="{EBD90AD4-C765-4CBE-8586-2B45E45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col3">
            <a:extLst xmlns:a="http://schemas.openxmlformats.org/drawingml/2006/main">
              <a:ext uri="{FF2B5EF4-FFF2-40B4-BE49-F238E27FC236}">
                <a16:creationId xmlns:a16="http://schemas.microsoft.com/office/drawing/2014/main" id="{0B71F5BC-15DC-439B-A3E9-ED8DC93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32" name="s1-col3-icon">
            <a:extLst xmlns:a="http://schemas.openxmlformats.org/drawingml/2006/main">
              <a:ext uri="{FF2B5EF4-FFF2-40B4-BE49-F238E27FC236}">
                <a16:creationId xmlns:a16="http://schemas.microsoft.com/office/drawing/2014/main" id="{35F9EE2C-6853-4C9E-B785-7F2A43BD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38C8"/>
                </a:solidFill>
              </a:defRPr>
            </a:pPr>
            <a:r>
              <a:rPr sz="2550" b="1">
                <a:solidFill>
                  <a:srgbClr val="5D38C8"/>
                </a:solidFill>
              </a:rPr>
              <a:t>✓</a:t>
            </a:r>
          </a:p>
        </p:txBody>
      </p:sp>
      <p:sp>
        <p:nvSpPr>
          <p:cNvPr id="33" name="s1-col3-head">
            <a:extLst xmlns:a="http://schemas.openxmlformats.org/drawingml/2006/main">
              <a:ext uri="{FF2B5EF4-FFF2-40B4-BE49-F238E27FC236}">
                <a16:creationId xmlns:a16="http://schemas.microsoft.com/office/drawing/2014/main" id="{FF317970-9C73-4048-BF8C-A4AD7FD7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480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Medicaid operations</a:t>
            </a:r>
          </a:p>
        </p:txBody>
      </p:sp>
      <p:sp>
        <p:nvSpPr>
          <p:cNvPr id="34" name="s1-col3-copy">
            <a:extLst xmlns:a="http://schemas.openxmlformats.org/drawingml/2006/main">
              <a:ext uri="{FF2B5EF4-FFF2-40B4-BE49-F238E27FC236}">
                <a16:creationId xmlns:a16="http://schemas.microsoft.com/office/drawing/2014/main" id="{46FA97BA-80C4-443B-9C52-A3288F9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15B7D"/>
                </a:solidFill>
              </a:defRPr>
            </a:pPr>
            <a:r>
              <a:rPr sz="1275">
                <a:solidFill>
                  <a:srgbClr val="415B7D"/>
                </a:solidFill>
              </a:rPr>
              <a:t>Claims and authorization review</a:t>
            </a:r>
          </a:p>
          <a:p xmlns:a="http://schemas.openxmlformats.org/drawingml/2006/main">
            <a:pPr>
              <a:defRPr sz="1275">
                <a:solidFill>
                  <a:srgbClr val="415B7D"/>
                </a:solidFill>
              </a:defRPr>
            </a:pPr>
            <a:r>
              <a:rPr sz="1275">
                <a:solidFill>
                  <a:srgbClr val="415B7D"/>
                </a:solidFill>
              </a:rPr>
              <a:t>3M pricing and high-dollar claims</a:t>
            </a:r>
          </a:p>
          <a:p xmlns:a="http://schemas.openxmlformats.org/drawingml/2006/main">
            <a:pPr>
              <a:defRPr sz="1275">
                <a:solidFill>
                  <a:srgbClr val="415B7D"/>
                </a:solidFill>
              </a:defRPr>
            </a:pPr>
            <a:r>
              <a:rPr sz="1275">
                <a:solidFill>
                  <a:srgbClr val="415B7D"/>
                </a:solidFill>
              </a:rPr>
              <a:t>ACE rework, payment and EOB/COB review</a:t>
            </a:r>
          </a:p>
          <a:p xmlns:a="http://schemas.openxmlformats.org/drawingml/2006/main">
            <a:pPr>
              <a:defRPr sz="1275">
                <a:solidFill>
                  <a:srgbClr val="415B7D"/>
                </a:solidFill>
              </a:defRPr>
            </a:pPr>
            <a:r>
              <a:rPr sz="1275">
                <a:solidFill>
                  <a:srgbClr val="415B7D"/>
                </a:solidFill>
              </a:rPr>
              <a:t>QNXT performance monitoring</a:t>
            </a:r>
          </a:p>
        </p:txBody>
      </p:sp>
      <p:sp>
        <p:nvSpPr>
          <p:cNvPr id="35" name="s1-takeaway">
            <a:extLst xmlns:a="http://schemas.openxmlformats.org/drawingml/2006/main">
              <a:ext uri="{FF2B5EF4-FFF2-40B4-BE49-F238E27FC236}">
                <a16:creationId xmlns:a16="http://schemas.microsoft.com/office/drawing/2014/main" id="{452F4AC1-A638-49D4-A96B-0900D603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C8E2F8"/>
            </a:solidFill>
            <a:prstDash val="solid"/>
          </a:ln>
        </p:spPr>
      </p:sp>
      <p:sp>
        <p:nvSpPr>
          <p:cNvPr id="36" name="s1-takeaway-text">
            <a:extLst xmlns:a="http://schemas.openxmlformats.org/drawingml/2006/main">
              <a:ext uri="{FF2B5EF4-FFF2-40B4-BE49-F238E27FC236}">
                <a16:creationId xmlns:a16="http://schemas.microsoft.com/office/drawing/2014/main" id="{053DCD6B-6712-4911-94A2-BAD6EF3B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769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5C9D"/>
                </a:solidFill>
              </a:defRPr>
            </a:pPr>
            <a:r>
              <a:rPr sz="1200" b="1">
                <a:solidFill>
                  <a:srgbClr val="135C9D"/>
                </a:solidFill>
              </a:rPr>
              <a:t>Director takeaway: the RPA portfolio spans both core Medicaid workflows and the technology services that enable them.</a:t>
            </a:r>
          </a:p>
        </p:txBody>
      </p:sp>
    </p:spTree>
    <p:extLst>
      <p:ext uri="{BB962C8B-B14F-4D97-AF65-F5344CB8AC3E}">
        <p14:creationId xmlns:p14="http://schemas.microsoft.com/office/powerpoint/2010/main" val="752803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blue-2">
            <a:extLst xmlns:a="http://schemas.openxmlformats.org/drawingml/2006/main">
              <a:ext uri="{FF2B5EF4-FFF2-40B4-BE49-F238E27FC236}">
                <a16:creationId xmlns:a16="http://schemas.microsoft.com/office/drawing/2014/main" id="{EAF698D1-AF18-4761-8E33-6151E3F3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2">
            <a:extLst xmlns:a="http://schemas.openxmlformats.org/drawingml/2006/main">
              <a:ext uri="{FF2B5EF4-FFF2-40B4-BE49-F238E27FC236}">
                <a16:creationId xmlns:a16="http://schemas.microsoft.com/office/drawing/2014/main" id="{73122901-07E1-48A8-83B1-D534D14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59908092-13EE-4A94-9233-C514E1F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2026 automation impact is measurable and material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A1D246B5-0680-4266-9C7C-F9D4B87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January–July performance across the RPA portfolio</a:t>
            </a:r>
          </a:p>
        </p:txBody>
      </p:sp>
      <p:sp>
        <p:nvSpPr>
          <p:cNvPr id="5" name="ddat-2">
            <a:extLst xmlns:a="http://schemas.openxmlformats.org/drawingml/2006/main">
              <a:ext uri="{FF2B5EF4-FFF2-40B4-BE49-F238E27FC236}">
                <a16:creationId xmlns:a16="http://schemas.microsoft.com/office/drawing/2014/main" id="{06F1AFB0-4350-4687-A850-20B0B22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1AB4EAB-2481-4028-A3F8-6BC29762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3EBC1D63-01E1-4E90-8E71-60BC8E7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176F8DA2-CD3F-4224-B069-8F16B7C6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030DB97-F824-40C8-B53C-5D7F479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2</a:t>
            </a:r>
          </a:p>
        </p:txBody>
      </p:sp>
      <p:sp>
        <p:nvSpPr>
          <p:cNvPr id="10" name="s2-hours">
            <a:extLst xmlns:a="http://schemas.openxmlformats.org/drawingml/2006/main">
              <a:ext uri="{FF2B5EF4-FFF2-40B4-BE49-F238E27FC236}">
                <a16:creationId xmlns:a16="http://schemas.microsoft.com/office/drawing/2014/main" id="{0CBB5E0A-452B-488D-B9AB-9443D48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9525">
            <a:solidFill>
              <a:srgbClr val="103D89"/>
            </a:solidFill>
            <a:prstDash val="solid"/>
          </a:ln>
        </p:spPr>
      </p:sp>
      <p:sp>
        <p:nvSpPr>
          <p:cNvPr id="11" name="s2-hours-num">
            <a:extLst xmlns:a="http://schemas.openxmlformats.org/drawingml/2006/main">
              <a:ext uri="{FF2B5EF4-FFF2-40B4-BE49-F238E27FC236}">
                <a16:creationId xmlns:a16="http://schemas.microsoft.com/office/drawing/2014/main" id="{BBF9CF9B-01AC-4D22-A763-D285683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75"/>
            <a:ext cx="200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560K</a:t>
            </a:r>
          </a:p>
        </p:txBody>
      </p:sp>
      <p:sp>
        <p:nvSpPr>
          <p:cNvPr id="12" name="s2-hours-label">
            <a:extLst xmlns:a="http://schemas.openxmlformats.org/drawingml/2006/main">
              <a:ext uri="{FF2B5EF4-FFF2-40B4-BE49-F238E27FC236}">
                <a16:creationId xmlns:a16="http://schemas.microsoft.com/office/drawing/2014/main" id="{A0D12B7F-6AFD-4642-8196-6FE2223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EAFF"/>
                </a:solidFill>
              </a:defRPr>
            </a:pPr>
            <a:r>
              <a:rPr sz="1500" b="1">
                <a:solidFill>
                  <a:srgbClr val="BFEAFF"/>
                </a:solidFill>
              </a:rPr>
              <a:t>hours saved in 2026</a:t>
            </a:r>
          </a:p>
        </p:txBody>
      </p:sp>
      <p:sp>
        <p:nvSpPr>
          <p:cNvPr id="13" name="s2-hours-meaning">
            <a:extLst xmlns:a="http://schemas.openxmlformats.org/drawingml/2006/main">
              <a:ext uri="{FF2B5EF4-FFF2-40B4-BE49-F238E27FC236}">
                <a16:creationId xmlns:a16="http://schemas.microsoft.com/office/drawing/2014/main" id="{FB8B32AE-38DA-42E0-898D-9BFFEAC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9FF"/>
                </a:solidFill>
              </a:defRPr>
            </a:pPr>
            <a:r>
              <a:rPr sz="1050">
                <a:solidFill>
                  <a:srgbClr val="D9E9FF"/>
                </a:solidFill>
              </a:rPr>
              <a:t>Capacity returned to the business</a:t>
            </a:r>
          </a:p>
        </p:txBody>
      </p:sp>
      <p:sp>
        <p:nvSpPr>
          <p:cNvPr id="14" name="s2-processed-line">
            <a:extLst xmlns:a="http://schemas.openxmlformats.org/drawingml/2006/main">
              <a:ext uri="{FF2B5EF4-FFF2-40B4-BE49-F238E27FC236}">
                <a16:creationId xmlns:a16="http://schemas.microsoft.com/office/drawing/2014/main" id="{CDBAB1D0-D64D-40C3-9D6E-C245F5B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processed-num">
            <a:extLst xmlns:a="http://schemas.openxmlformats.org/drawingml/2006/main">
              <a:ext uri="{FF2B5EF4-FFF2-40B4-BE49-F238E27FC236}">
                <a16:creationId xmlns:a16="http://schemas.microsoft.com/office/drawing/2014/main" id="{54DE6040-B05B-4532-BA7E-43FE6F7F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6.63M</a:t>
            </a:r>
          </a:p>
        </p:txBody>
      </p:sp>
      <p:sp>
        <p:nvSpPr>
          <p:cNvPr id="16" name="s2-processed-lab">
            <a:extLst xmlns:a="http://schemas.openxmlformats.org/drawingml/2006/main">
              <a:ext uri="{FF2B5EF4-FFF2-40B4-BE49-F238E27FC236}">
                <a16:creationId xmlns:a16="http://schemas.microsoft.com/office/drawing/2014/main" id="{31B93F58-FF37-47B1-B3B7-E03067D0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 transactions processed</a:t>
            </a:r>
          </a:p>
        </p:txBody>
      </p:sp>
      <p:sp>
        <p:nvSpPr>
          <p:cNvPr id="17" name="s2-released-line">
            <a:extLst xmlns:a="http://schemas.openxmlformats.org/drawingml/2006/main">
              <a:ext uri="{FF2B5EF4-FFF2-40B4-BE49-F238E27FC236}">
                <a16:creationId xmlns:a16="http://schemas.microsoft.com/office/drawing/2014/main" id="{C3590349-079F-47E9-AFD1-51E0763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released-num">
            <a:extLst xmlns:a="http://schemas.openxmlformats.org/drawingml/2006/main">
              <a:ext uri="{FF2B5EF4-FFF2-40B4-BE49-F238E27FC236}">
                <a16:creationId xmlns:a16="http://schemas.microsoft.com/office/drawing/2014/main" id="{8057AE22-CA2A-42FE-82F8-ACB28727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38C8"/>
                </a:solidFill>
              </a:defRPr>
            </a:pPr>
            <a:r>
              <a:rPr sz="3000" b="1">
                <a:solidFill>
                  <a:srgbClr val="5D38C8"/>
                </a:solidFill>
              </a:rPr>
              <a:t>2.34M</a:t>
            </a:r>
          </a:p>
        </p:txBody>
      </p:sp>
      <p:sp>
        <p:nvSpPr>
          <p:cNvPr id="19" name="s2-released-lab">
            <a:extLst xmlns:a="http://schemas.openxmlformats.org/drawingml/2006/main">
              <a:ext uri="{FF2B5EF4-FFF2-40B4-BE49-F238E27FC236}">
                <a16:creationId xmlns:a16="http://schemas.microsoft.com/office/drawing/2014/main" id="{D28AE111-052D-4DB7-87DB-612BB5D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Claims released by bots</a:t>
            </a:r>
          </a:p>
        </p:txBody>
      </p:sp>
      <p:sp>
        <p:nvSpPr>
          <p:cNvPr id="20" name="s2-ratio-line">
            <a:extLst xmlns:a="http://schemas.openxmlformats.org/drawingml/2006/main">
              <a:ext uri="{FF2B5EF4-FFF2-40B4-BE49-F238E27FC236}">
                <a16:creationId xmlns:a16="http://schemas.microsoft.com/office/drawing/2014/main" id="{541A3A7C-9315-424F-BDA1-EB0215C4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ratio-num">
            <a:extLst xmlns:a="http://schemas.openxmlformats.org/drawingml/2006/main">
              <a:ext uri="{FF2B5EF4-FFF2-40B4-BE49-F238E27FC236}">
                <a16:creationId xmlns:a16="http://schemas.microsoft.com/office/drawing/2014/main" id="{21293416-57A3-426D-BE61-087D4AD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AA7C7"/>
                </a:solidFill>
              </a:defRPr>
            </a:pPr>
            <a:r>
              <a:rPr sz="3000" b="1">
                <a:solidFill>
                  <a:srgbClr val="1AA7C7"/>
                </a:solidFill>
              </a:rPr>
              <a:t>35.3%</a:t>
            </a:r>
          </a:p>
        </p:txBody>
      </p:sp>
      <p:sp>
        <p:nvSpPr>
          <p:cNvPr id="22" name="s2-ratio-lab">
            <a:extLst xmlns:a="http://schemas.openxmlformats.org/drawingml/2006/main">
              <a:ext uri="{FF2B5EF4-FFF2-40B4-BE49-F238E27FC236}">
                <a16:creationId xmlns:a16="http://schemas.microsoft.com/office/drawing/2014/main" id="{60ADF3C6-7B77-4D22-9383-FABA3DA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Released-to-processed ratio</a:t>
            </a:r>
          </a:p>
        </p:txBody>
      </p:sp>
      <p:sp>
        <p:nvSpPr>
          <p:cNvPr id="23" name="s2-chart-title">
            <a:extLst xmlns:a="http://schemas.openxmlformats.org/drawingml/2006/main">
              <a:ext uri="{FF2B5EF4-FFF2-40B4-BE49-F238E27FC236}">
                <a16:creationId xmlns:a16="http://schemas.microsoft.com/office/drawing/2014/main" id="{553B7548-AE50-4CE0-8437-ECC1FF5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Monthly claim volume</a:t>
            </a:r>
          </a:p>
        </p:txBody>
      </p:sp>
      <p:sp>
        <p:nvSpPr>
          <p:cNvPr id="24" name="s2-peak">
            <a:extLst xmlns:a="http://schemas.openxmlformats.org/drawingml/2006/main">
              <a:ext uri="{FF2B5EF4-FFF2-40B4-BE49-F238E27FC236}">
                <a16:creationId xmlns:a16="http://schemas.microsoft.com/office/drawing/2014/main" id="{2DFC6646-36BA-4B0D-962D-61C615B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79D1"/>
                </a:solidFill>
              </a:defRPr>
            </a:pPr>
            <a:r>
              <a:rPr sz="1125" b="1">
                <a:solidFill>
                  <a:srgbClr val="1479D1"/>
                </a:solidFill>
              </a:rPr>
              <a:t>Peak processed volume: July  |  1.21M</a:t>
            </a:r>
          </a:p>
        </p:txBody>
      </p:sp>
      <p:sp>
        <p:nvSpPr>
          <p:cNvPr id="25" name="s2-chart-bg">
            <a:extLst xmlns:a="http://schemas.openxmlformats.org/drawingml/2006/main">
              <a:ext uri="{FF2B5EF4-FFF2-40B4-BE49-F238E27FC236}">
                <a16:creationId xmlns:a16="http://schemas.microsoft.com/office/drawing/2014/main" id="{51B812DF-548A-4F13-908F-56A5880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62025" y="3609975"/>
          <a:ext xmlns:a="http://schemas.openxmlformats.org/drawingml/2006/main" cx="89725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3829f6fcde4e01"/>
          </a:graphicData>
        </a:graphic>
      </p:graphicFrame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543fb0fb84f3d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3543300"/>
            <a:ext cx="1028700" cy="24765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</p:spTree>
    <p:extLst>
      <p:ext uri="{BB962C8B-B14F-4D97-AF65-F5344CB8AC3E}">
        <p14:creationId xmlns:p14="http://schemas.microsoft.com/office/powerpoint/2010/main" val="881582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2026-08-25T18:45:11.8090000Z</dcterms:created>
  <dcterms:modified xsi:type="dcterms:W3CDTF">2026-08-25T18:45:11.8090000Z</dcterms:modified>
</coreProperties>
</file>