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f1834a98004094" /><Relationship Type="http://schemas.openxmlformats.org/officeDocument/2006/relationships/extended-properties" Target="/docProps/app.xml" Id="R5a9d8e9fe0f74c1c" /><Relationship Type="http://schemas.openxmlformats.org/officeDocument/2006/relationships/officeDocument" Target="/ppt/presentation.xml" Id="Rba1217f864b9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b5daccf77348ce"/>
  </p:sldMasterIdLst>
  <p:notesMasterIdLst>
    <p:notesMasterId xmlns:r="http://schemas.openxmlformats.org/officeDocument/2006/relationships" r:id="R731f2739d1dc42cb"/>
  </p:notesMasterIdLst>
  <p:sldIdLst>
    <p:sldId xmlns:r="http://schemas.openxmlformats.org/officeDocument/2006/relationships" id="256" r:id="R1e6407c0b6d54c4d"/>
    <p:sldId xmlns:r="http://schemas.openxmlformats.org/officeDocument/2006/relationships" id="257" r:id="Rf95c0526406d46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be4d9d40514ffc" /><Relationship Type="http://schemas.openxmlformats.org/officeDocument/2006/relationships/slideMaster" Target="/ppt/slideMasters/slideMaster1.xml" Id="Rdfb5daccf77348ce" /><Relationship Type="http://schemas.openxmlformats.org/officeDocument/2006/relationships/notesMaster" Target="/ppt/notesMasters/notesMaster1.xml" Id="R731f2739d1dc42cb" /><Relationship Type="http://schemas.openxmlformats.org/officeDocument/2006/relationships/presProps" Target="/ppt/presProps.xml" Id="Ra77bdb277c854209" /><Relationship Type="http://schemas.openxmlformats.org/officeDocument/2006/relationships/tableStyles" Target="/ppt/tableStyles.xml" Id="R8c407251bfd1450b" /><Relationship Type="http://schemas.openxmlformats.org/officeDocument/2006/relationships/slide" Target="/ppt/slides/slide1.xml" Id="R1e6407c0b6d54c4d" /><Relationship Type="http://schemas.openxmlformats.org/officeDocument/2006/relationships/slide" Target="/ppt/slides/slide2.xml" Id="Rf95c0526406d46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3622d0563549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e780a9bec4548" /><Relationship Type="http://schemas.openxmlformats.org/officeDocument/2006/relationships/notesMaster" Target="/ppt/notesMasters/notesMaster1.xml" Id="R4425aa74a696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dc18c4e0c645d1" /><Relationship Type="http://schemas.openxmlformats.org/officeDocument/2006/relationships/notesMaster" Target="/ppt/notesMasters/notesMaster1.xml" Id="Re6b015d3e57040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CSRA Automation Version 3.0 screenshots. Columns B, C and D. Each process ID appears once per module, as requested.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CSRA Automation Version 3.0 screenshots. Columns B, I, J, K and L. Values were transcribed exactly as displayed. The displayed Data Load effort and cost were preserved without recalculation.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76d1755bc41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d0df85e7b944d3" /><Relationship Type="http://schemas.openxmlformats.org/officeDocument/2006/relationships/slideLayout" Target="/ppt/slideLayouts/slideLayout1.xml" Id="R82af86f549c347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af86f549c347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2cf83fb354a90" /><Relationship Type="http://schemas.openxmlformats.org/officeDocument/2006/relationships/image" Target="/ppt/media/image.png" Id="Re27467f55c364f6f" /><Relationship Type="http://schemas.openxmlformats.org/officeDocument/2006/relationships/image" Target="/ppt/media/image2.png" Id="R81fcb61ffd5a4655" /><Relationship Type="http://schemas.openxmlformats.org/officeDocument/2006/relationships/image" Target="/ppt/media/image3.png" Id="Re30ac9ef22dd49ca" /><Relationship Type="http://schemas.openxmlformats.org/officeDocument/2006/relationships/image" Target="/ppt/media/image4.png" Id="R9fe6a59a77004d3d" /><Relationship Type="http://schemas.openxmlformats.org/officeDocument/2006/relationships/image" Target="/ppt/media/image5.png" Id="Rf3f595a7a7014650" /><Relationship Type="http://schemas.openxmlformats.org/officeDocument/2006/relationships/notesSlide" Target="/ppt/notesSlides/notesSlide1.xml" Id="R5e0a3f0ab82140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b5f8297de497e" /><Relationship Type="http://schemas.openxmlformats.org/officeDocument/2006/relationships/image" Target="/ppt/media/image6.png" Id="R9b2a8d8bd2c349c9" /><Relationship Type="http://schemas.openxmlformats.org/officeDocument/2006/relationships/image" Target="/ppt/media/image7.png" Id="Ra7f023a8ad4d4075" /><Relationship Type="http://schemas.openxmlformats.org/officeDocument/2006/relationships/image" Target="/ppt/media/image8.png" Id="R018a83d2fff648f6" /><Relationship Type="http://schemas.openxmlformats.org/officeDocument/2006/relationships/image" Target="/ppt/media/image9.png" Id="R1421bfc517994cd0" /><Relationship Type="http://schemas.openxmlformats.org/officeDocument/2006/relationships/image" Target="/ppt/media/image10.png" Id="R9f5bddce088f4a42" /><Relationship Type="http://schemas.openxmlformats.org/officeDocument/2006/relationships/notesSlide" Target="/ppt/notesSlides/notesSlide2.xml" Id="R179dd8ecf5de49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top-band">
            <a:extLst xmlns:a="http://schemas.openxmlformats.org/drawingml/2006/main">
              <a:ext uri="{FF2B5EF4-FFF2-40B4-BE49-F238E27FC236}">
                <a16:creationId xmlns:a16="http://schemas.microsoft.com/office/drawing/2014/main" id="{C00DF886-8C83-47CE-BA82-83889839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8471D50C-39E8-4132-87BE-5D9D80A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DAB921-48FF-477E-93F0-8BE72BB3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Automation Modules and Tasks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9CE4A44-801A-4EA0-B8D1-FB69571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Version 3.0 delivery scope by module and process</a:t>
            </a:r>
          </a:p>
        </p:txBody>
      </p:sp>
      <p:sp>
        <p:nvSpPr>
          <p:cNvPr id="5" name="version">
            <a:extLst xmlns:a="http://schemas.openxmlformats.org/drawingml/2006/main">
              <a:ext uri="{FF2B5EF4-FFF2-40B4-BE49-F238E27FC236}">
                <a16:creationId xmlns:a16="http://schemas.microsoft.com/office/drawing/2014/main" id="{954BC2CB-4350-41F9-90EA-8F999417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VERSION 3.0</a:t>
            </a:r>
          </a:p>
        </p:txBody>
      </p:sp>
      <p:sp>
        <p:nvSpPr>
          <p:cNvPr id="6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7B99F72-B51B-4F4D-926F-69C3CF7B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9705B59-9A53-44F4-A8CC-6D1BA84D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CSRA Automation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0AF2F523-666C-4EFE-B8AA-F3CC9F2F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13F476FE-4A32-4398-9651-18F4AE4E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36385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0" name="cap-0">
            <a:extLst xmlns:a="http://schemas.openxmlformats.org/drawingml/2006/main">
              <a:ext uri="{FF2B5EF4-FFF2-40B4-BE49-F238E27FC236}">
                <a16:creationId xmlns:a16="http://schemas.microsoft.com/office/drawing/2014/main" id="{E5120964-3D59-4F68-AE6D-395A9688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381125" cy="242887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1" name="step-0">
            <a:extLst xmlns:a="http://schemas.openxmlformats.org/drawingml/2006/main">
              <a:ext uri="{FF2B5EF4-FFF2-40B4-BE49-F238E27FC236}">
                <a16:creationId xmlns:a16="http://schemas.microsoft.com/office/drawing/2014/main" id="{64E5DDDD-8AD6-4FD0-A71E-40AB0D29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467f55c364f6f"/>
          <a:stretch xmlns:a="http://schemas.openxmlformats.org/drawingml/2006/main"/>
        </p:blipFill>
        <p:spPr>
          <a:xfrm xmlns:a="http://schemas.openxmlformats.org/drawingml/2006/main">
            <a:off x="882550" y="1314450"/>
            <a:ext cx="425649" cy="704850"/>
          </a:xfrm>
          <a:prstGeom xmlns:a="http://schemas.openxmlformats.org/drawingml/2006/main" prst="rect">
            <a:avLst/>
          </a:prstGeom>
        </p:spPr>
      </p:pic>
      <p:sp>
        <p:nvSpPr>
          <p:cNvPr id="13" name="module-0">
            <a:extLst xmlns:a="http://schemas.openxmlformats.org/drawingml/2006/main">
              <a:ext uri="{FF2B5EF4-FFF2-40B4-BE49-F238E27FC236}">
                <a16:creationId xmlns:a16="http://schemas.microsoft.com/office/drawing/2014/main" id="{82D63296-974C-4FF7-B2B7-73F14566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14" name="proc-label-0">
            <a:extLst xmlns:a="http://schemas.openxmlformats.org/drawingml/2006/main">
              <a:ext uri="{FF2B5EF4-FFF2-40B4-BE49-F238E27FC236}">
                <a16:creationId xmlns:a16="http://schemas.microsoft.com/office/drawing/2014/main" id="{036E9A48-AFA3-410D-B689-6DE90FF7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5" name="proc-0">
            <a:extLst xmlns:a="http://schemas.openxmlformats.org/drawingml/2006/main">
              <a:ext uri="{FF2B5EF4-FFF2-40B4-BE49-F238E27FC236}">
                <a16:creationId xmlns:a16="http://schemas.microsoft.com/office/drawing/2014/main" id="{6A1FA8D2-42EA-4EF4-B3FB-2C09ADE7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412</a:t>
            </a:r>
          </a:p>
        </p:txBody>
      </p:sp>
      <p:sp>
        <p:nvSpPr>
          <p:cNvPr id="16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021CEED8-8BBB-46E7-9635-88D8D191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00150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7" name="task-line-0-0">
            <a:extLst xmlns:a="http://schemas.openxmlformats.org/drawingml/2006/main">
              <a:ext uri="{FF2B5EF4-FFF2-40B4-BE49-F238E27FC236}">
                <a16:creationId xmlns:a16="http://schemas.microsoft.com/office/drawing/2014/main" id="{1B03E7DD-CC81-4482-8D4F-AA87B41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8" name="task-0-0">
            <a:extLst xmlns:a="http://schemas.openxmlformats.org/drawingml/2006/main">
              <a:ext uri="{FF2B5EF4-FFF2-40B4-BE49-F238E27FC236}">
                <a16:creationId xmlns:a16="http://schemas.microsoft.com/office/drawing/2014/main" id="{53239D59-592F-4233-AFB1-1CC0E161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66850"/>
            <a:ext cx="1724025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Discovery</a:t>
            </a:r>
          </a:p>
        </p:txBody>
      </p:sp>
      <p:sp>
        <p:nvSpPr>
          <p:cNvPr id="19" name="task-line-0-1">
            <a:extLst xmlns:a="http://schemas.openxmlformats.org/drawingml/2006/main">
              <a:ext uri="{FF2B5EF4-FFF2-40B4-BE49-F238E27FC236}">
                <a16:creationId xmlns:a16="http://schemas.microsoft.com/office/drawing/2014/main" id="{235D4CE9-D38C-4A9C-AF5F-E5218D10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278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0" name="task-0-1">
            <a:extLst xmlns:a="http://schemas.openxmlformats.org/drawingml/2006/main">
              <a:ext uri="{FF2B5EF4-FFF2-40B4-BE49-F238E27FC236}">
                <a16:creationId xmlns:a16="http://schemas.microsoft.com/office/drawing/2014/main" id="{45838511-A639-49D8-84E4-FAAFAC73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51660"/>
            <a:ext cx="1724025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Navigate to Download Location</a:t>
            </a:r>
          </a:p>
        </p:txBody>
      </p:sp>
      <p:sp>
        <p:nvSpPr>
          <p:cNvPr id="21" name="task-line-0-2">
            <a:extLst xmlns:a="http://schemas.openxmlformats.org/drawingml/2006/main">
              <a:ext uri="{FF2B5EF4-FFF2-40B4-BE49-F238E27FC236}">
                <a16:creationId xmlns:a16="http://schemas.microsoft.com/office/drawing/2014/main" id="{303F461F-36E4-4AB2-B745-B69E2D28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126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2" name="task-0-2">
            <a:extLst xmlns:a="http://schemas.openxmlformats.org/drawingml/2006/main">
              <a:ext uri="{FF2B5EF4-FFF2-40B4-BE49-F238E27FC236}">
                <a16:creationId xmlns:a16="http://schemas.microsoft.com/office/drawing/2014/main" id="{D0574448-561D-454E-B6A7-A8CA0C1C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36470"/>
            <a:ext cx="1724025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Availability Validation</a:t>
            </a:r>
          </a:p>
        </p:txBody>
      </p:sp>
      <p:sp>
        <p:nvSpPr>
          <p:cNvPr id="23" name="task-line-0-3">
            <a:extLst xmlns:a="http://schemas.openxmlformats.org/drawingml/2006/main">
              <a:ext uri="{FF2B5EF4-FFF2-40B4-BE49-F238E27FC236}">
                <a16:creationId xmlns:a16="http://schemas.microsoft.com/office/drawing/2014/main" id="{55996E6D-4C29-4557-8A2F-824F5C85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974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4" name="task-0-3">
            <a:extLst xmlns:a="http://schemas.openxmlformats.org/drawingml/2006/main">
              <a:ext uri="{FF2B5EF4-FFF2-40B4-BE49-F238E27FC236}">
                <a16:creationId xmlns:a16="http://schemas.microsoft.com/office/drawing/2014/main" id="{A9074722-898D-4588-A67F-6CAFBB0E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1280"/>
            <a:ext cx="1724025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25" name="task-line-0-4">
            <a:extLst xmlns:a="http://schemas.openxmlformats.org/drawingml/2006/main">
              <a:ext uri="{FF2B5EF4-FFF2-40B4-BE49-F238E27FC236}">
                <a16:creationId xmlns:a16="http://schemas.microsoft.com/office/drawing/2014/main" id="{349D45C4-BD1F-4ECD-B334-45D56F90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822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6" name="task-0-4">
            <a:extLst xmlns:a="http://schemas.openxmlformats.org/drawingml/2006/main">
              <a:ext uri="{FF2B5EF4-FFF2-40B4-BE49-F238E27FC236}">
                <a16:creationId xmlns:a16="http://schemas.microsoft.com/office/drawing/2014/main" id="{59D40AB5-37B7-45EE-A556-BABFAA9C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6090"/>
            <a:ext cx="1724025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Post Validation</a:t>
            </a:r>
          </a:p>
        </p:txBody>
      </p:sp>
      <p:sp>
        <p:nvSpPr>
          <p:cNvPr id="27" name="card-1">
            <a:extLst xmlns:a="http://schemas.openxmlformats.org/drawingml/2006/main">
              <a:ext uri="{FF2B5EF4-FFF2-40B4-BE49-F238E27FC236}">
                <a16:creationId xmlns:a16="http://schemas.microsoft.com/office/drawing/2014/main" id="{24E2D072-015F-4046-B325-6FFDA698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028700"/>
            <a:ext cx="36385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8" name="cap-1">
            <a:extLst xmlns:a="http://schemas.openxmlformats.org/drawingml/2006/main">
              <a:ext uri="{FF2B5EF4-FFF2-40B4-BE49-F238E27FC236}">
                <a16:creationId xmlns:a16="http://schemas.microsoft.com/office/drawing/2014/main" id="{F00F3270-ACDB-48B9-AF3E-70E3A8EB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028700"/>
            <a:ext cx="1381125" cy="242887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29" name="step-1">
            <a:extLst xmlns:a="http://schemas.openxmlformats.org/drawingml/2006/main">
              <a:ext uri="{FF2B5EF4-FFF2-40B4-BE49-F238E27FC236}">
                <a16:creationId xmlns:a16="http://schemas.microsoft.com/office/drawing/2014/main" id="{B7D23347-07C7-4A81-92AE-13D3C95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1239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cb61ffd5a4655"/>
          <a:stretch xmlns:a="http://schemas.openxmlformats.org/drawingml/2006/main"/>
        </p:blipFill>
        <p:spPr>
          <a:xfrm xmlns:a="http://schemas.openxmlformats.org/drawingml/2006/main">
            <a:off x="4650236" y="1314450"/>
            <a:ext cx="434078" cy="704850"/>
          </a:xfrm>
          <a:prstGeom xmlns:a="http://schemas.openxmlformats.org/drawingml/2006/main" prst="rect">
            <a:avLst/>
          </a:prstGeom>
        </p:spPr>
      </p:pic>
      <p:sp>
        <p:nvSpPr>
          <p:cNvPr id="31" name="module-1">
            <a:extLst xmlns:a="http://schemas.openxmlformats.org/drawingml/2006/main">
              <a:ext uri="{FF2B5EF4-FFF2-40B4-BE49-F238E27FC236}">
                <a16:creationId xmlns:a16="http://schemas.microsoft.com/office/drawing/2014/main" id="{9A4A6B2A-FBFE-41E8-92CF-5E22AEF7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669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Extraction</a:t>
            </a:r>
          </a:p>
        </p:txBody>
      </p:sp>
      <p:sp>
        <p:nvSpPr>
          <p:cNvPr id="32" name="proc-label-1">
            <a:extLst xmlns:a="http://schemas.openxmlformats.org/drawingml/2006/main">
              <a:ext uri="{FF2B5EF4-FFF2-40B4-BE49-F238E27FC236}">
                <a16:creationId xmlns:a16="http://schemas.microsoft.com/office/drawing/2014/main" id="{481E1DDB-1DEC-4E9A-8ACF-36248C82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6702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33" name="proc-1">
            <a:extLst xmlns:a="http://schemas.openxmlformats.org/drawingml/2006/main">
              <a:ext uri="{FF2B5EF4-FFF2-40B4-BE49-F238E27FC236}">
                <a16:creationId xmlns:a16="http://schemas.microsoft.com/office/drawing/2014/main" id="{46C2A1E6-6E22-4ECD-8BAE-CB916221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575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34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61BD14CB-2D82-40A0-BFCC-4A163D0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200150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865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35" name="task-line-1-0">
            <a:extLst xmlns:a="http://schemas.openxmlformats.org/drawingml/2006/main">
              <a:ext uri="{FF2B5EF4-FFF2-40B4-BE49-F238E27FC236}">
                <a16:creationId xmlns:a16="http://schemas.microsoft.com/office/drawing/2014/main" id="{7341B80C-9666-4FDF-B73A-8534CE3C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36" name="task-1-0">
            <a:extLst xmlns:a="http://schemas.openxmlformats.org/drawingml/2006/main">
              <a:ext uri="{FF2B5EF4-FFF2-40B4-BE49-F238E27FC236}">
                <a16:creationId xmlns:a16="http://schemas.microsoft.com/office/drawing/2014/main" id="{4D0916CE-1B75-4A14-A640-3852427D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466850"/>
            <a:ext cx="172402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Relevant Data</a:t>
            </a:r>
          </a:p>
        </p:txBody>
      </p:sp>
      <p:sp>
        <p:nvSpPr>
          <p:cNvPr id="37" name="task-line-1-1">
            <a:extLst xmlns:a="http://schemas.openxmlformats.org/drawingml/2006/main">
              <a:ext uri="{FF2B5EF4-FFF2-40B4-BE49-F238E27FC236}">
                <a16:creationId xmlns:a16="http://schemas.microsoft.com/office/drawing/2014/main" id="{6165D54F-61F2-45C3-92F8-80249D88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240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38" name="task-1-1">
            <a:extLst xmlns:a="http://schemas.openxmlformats.org/drawingml/2006/main">
              <a:ext uri="{FF2B5EF4-FFF2-40B4-BE49-F238E27FC236}">
                <a16:creationId xmlns:a16="http://schemas.microsoft.com/office/drawing/2014/main" id="{37D7BC1E-0F78-4B64-8730-D787C3B0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47863"/>
            <a:ext cx="172402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Extract Required Data</a:t>
            </a:r>
          </a:p>
        </p:txBody>
      </p:sp>
      <p:sp>
        <p:nvSpPr>
          <p:cNvPr id="39" name="task-line-1-2">
            <a:extLst xmlns:a="http://schemas.openxmlformats.org/drawingml/2006/main">
              <a:ext uri="{FF2B5EF4-FFF2-40B4-BE49-F238E27FC236}">
                <a16:creationId xmlns:a16="http://schemas.microsoft.com/office/drawing/2014/main" id="{76F7DD2D-6702-49E7-8762-7E596C42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05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40" name="task-1-2">
            <a:extLst xmlns:a="http://schemas.openxmlformats.org/drawingml/2006/main">
              <a:ext uri="{FF2B5EF4-FFF2-40B4-BE49-F238E27FC236}">
                <a16:creationId xmlns:a16="http://schemas.microsoft.com/office/drawing/2014/main" id="{5F25C1B7-CA8C-4F94-9AFB-222D971E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28875"/>
            <a:ext cx="172402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Transform &amp; Standardize Data</a:t>
            </a:r>
          </a:p>
        </p:txBody>
      </p:sp>
      <p:sp>
        <p:nvSpPr>
          <p:cNvPr id="41" name="task-line-1-3">
            <a:extLst xmlns:a="http://schemas.openxmlformats.org/drawingml/2006/main">
              <a:ext uri="{FF2B5EF4-FFF2-40B4-BE49-F238E27FC236}">
                <a16:creationId xmlns:a16="http://schemas.microsoft.com/office/drawing/2014/main" id="{00CDE516-4568-4045-AA66-74C93FBD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860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42" name="task-1-3">
            <a:extLst xmlns:a="http://schemas.openxmlformats.org/drawingml/2006/main">
              <a:ext uri="{FF2B5EF4-FFF2-40B4-BE49-F238E27FC236}">
                <a16:creationId xmlns:a16="http://schemas.microsoft.com/office/drawing/2014/main" id="{9DDB87FF-6687-49AB-9B55-CBA26AA6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09888"/>
            <a:ext cx="172402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Data Validation</a:t>
            </a:r>
          </a:p>
        </p:txBody>
      </p:sp>
      <p:sp>
        <p:nvSpPr>
          <p:cNvPr id="43" name="card-2">
            <a:extLst xmlns:a="http://schemas.openxmlformats.org/drawingml/2006/main">
              <a:ext uri="{FF2B5EF4-FFF2-40B4-BE49-F238E27FC236}">
                <a16:creationId xmlns:a16="http://schemas.microsoft.com/office/drawing/2014/main" id="{B69690A7-C417-4CD5-8A42-F1937623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28700"/>
            <a:ext cx="36385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4" name="cap-2">
            <a:extLst xmlns:a="http://schemas.openxmlformats.org/drawingml/2006/main">
              <a:ext uri="{FF2B5EF4-FFF2-40B4-BE49-F238E27FC236}">
                <a16:creationId xmlns:a16="http://schemas.microsoft.com/office/drawing/2014/main" id="{3137CE8F-5AC0-4322-84E5-E27145C5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28700"/>
            <a:ext cx="1381125" cy="242887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45" name="step-2">
            <a:extLst xmlns:a="http://schemas.openxmlformats.org/drawingml/2006/main">
              <a:ext uri="{FF2B5EF4-FFF2-40B4-BE49-F238E27FC236}">
                <a16:creationId xmlns:a16="http://schemas.microsoft.com/office/drawing/2014/main" id="{6B60C85C-1DFD-44F0-8542-5EAC7FEF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1239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ac9ef22dd49ca"/>
          <a:stretch xmlns:a="http://schemas.openxmlformats.org/drawingml/2006/main"/>
        </p:blipFill>
        <p:spPr>
          <a:xfrm xmlns:a="http://schemas.openxmlformats.org/drawingml/2006/main">
            <a:off x="8417945" y="1314450"/>
            <a:ext cx="442461" cy="704850"/>
          </a:xfrm>
          <a:prstGeom xmlns:a="http://schemas.openxmlformats.org/drawingml/2006/main" prst="rect">
            <a:avLst/>
          </a:prstGeom>
        </p:spPr>
      </p:pic>
      <p:sp>
        <p:nvSpPr>
          <p:cNvPr id="47" name="module-2">
            <a:extLst xmlns:a="http://schemas.openxmlformats.org/drawingml/2006/main">
              <a:ext uri="{FF2B5EF4-FFF2-40B4-BE49-F238E27FC236}">
                <a16:creationId xmlns:a16="http://schemas.microsoft.com/office/drawing/2014/main" id="{832A745D-F4F4-4E80-96A4-256B9DAD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669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5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Interpretation</a:t>
            </a:r>
          </a:p>
        </p:txBody>
      </p:sp>
      <p:sp>
        <p:nvSpPr>
          <p:cNvPr id="48" name="proc-label-2">
            <a:extLst xmlns:a="http://schemas.openxmlformats.org/drawingml/2006/main">
              <a:ext uri="{FF2B5EF4-FFF2-40B4-BE49-F238E27FC236}">
                <a16:creationId xmlns:a16="http://schemas.microsoft.com/office/drawing/2014/main" id="{AF519BC2-3CA3-42FD-A15C-E7AC849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49" name="proc-2">
            <a:extLst xmlns:a="http://schemas.openxmlformats.org/drawingml/2006/main">
              <a:ext uri="{FF2B5EF4-FFF2-40B4-BE49-F238E27FC236}">
                <a16:creationId xmlns:a16="http://schemas.microsoft.com/office/drawing/2014/main" id="{DA783DD5-4A49-4C9A-B120-4DCCC05B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575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5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E886F428-DE1E-4BE0-9E3C-8D6D31AF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200150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48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048C2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51" name="task-line-2-0">
            <a:extLst xmlns:a="http://schemas.openxmlformats.org/drawingml/2006/main">
              <a:ext uri="{FF2B5EF4-FFF2-40B4-BE49-F238E27FC236}">
                <a16:creationId xmlns:a16="http://schemas.microsoft.com/office/drawing/2014/main" id="{EC932613-3BA2-4791-9420-4D1CFB60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52" name="task-2-0">
            <a:extLst xmlns:a="http://schemas.openxmlformats.org/drawingml/2006/main">
              <a:ext uri="{FF2B5EF4-FFF2-40B4-BE49-F238E27FC236}">
                <a16:creationId xmlns:a16="http://schemas.microsoft.com/office/drawing/2014/main" id="{016FC966-39BC-4CC8-A240-5E835743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466850"/>
            <a:ext cx="1724025" cy="26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Data Parsing</a:t>
            </a:r>
          </a:p>
        </p:txBody>
      </p:sp>
      <p:sp>
        <p:nvSpPr>
          <p:cNvPr id="53" name="task-line-2-1">
            <a:extLst xmlns:a="http://schemas.openxmlformats.org/drawingml/2006/main">
              <a:ext uri="{FF2B5EF4-FFF2-40B4-BE49-F238E27FC236}">
                <a16:creationId xmlns:a16="http://schemas.microsoft.com/office/drawing/2014/main" id="{72787E3F-DF3C-4839-B8C6-3C9E5F0C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8179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54" name="task-2-1">
            <a:extLst xmlns:a="http://schemas.openxmlformats.org/drawingml/2006/main">
              <a:ext uri="{FF2B5EF4-FFF2-40B4-BE49-F238E27FC236}">
                <a16:creationId xmlns:a16="http://schemas.microsoft.com/office/drawing/2014/main" id="{3AAC4EFF-CAE0-4B6D-981E-EEF70A7C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41714"/>
            <a:ext cx="1724025" cy="26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9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Understand Data Context</a:t>
            </a:r>
          </a:p>
        </p:txBody>
      </p:sp>
      <p:sp>
        <p:nvSpPr>
          <p:cNvPr id="55" name="task-line-2-2">
            <a:extLst xmlns:a="http://schemas.openxmlformats.org/drawingml/2006/main">
              <a:ext uri="{FF2B5EF4-FFF2-40B4-BE49-F238E27FC236}">
                <a16:creationId xmlns:a16="http://schemas.microsoft.com/office/drawing/2014/main" id="{AAFE3A9C-CE30-44E4-8C1C-794837B4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9277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56" name="task-2-2">
            <a:extLst xmlns:a="http://schemas.openxmlformats.org/drawingml/2006/main">
              <a:ext uri="{FF2B5EF4-FFF2-40B4-BE49-F238E27FC236}">
                <a16:creationId xmlns:a16="http://schemas.microsoft.com/office/drawing/2014/main" id="{C61A6878-B7EC-4C8A-9385-9D76FBC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16579"/>
            <a:ext cx="1724025" cy="26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Analyze Data Patterns</a:t>
            </a:r>
          </a:p>
        </p:txBody>
      </p:sp>
      <p:sp>
        <p:nvSpPr>
          <p:cNvPr id="57" name="task-line-2-3">
            <a:extLst xmlns:a="http://schemas.openxmlformats.org/drawingml/2006/main">
              <a:ext uri="{FF2B5EF4-FFF2-40B4-BE49-F238E27FC236}">
                <a16:creationId xmlns:a16="http://schemas.microsoft.com/office/drawing/2014/main" id="{72646952-C016-4926-878D-82E850C2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676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58" name="task-2-3">
            <a:extLst xmlns:a="http://schemas.openxmlformats.org/drawingml/2006/main">
              <a:ext uri="{FF2B5EF4-FFF2-40B4-BE49-F238E27FC236}">
                <a16:creationId xmlns:a16="http://schemas.microsoft.com/office/drawing/2014/main" id="{C6E25808-99B0-4905-A2AF-6763EBCA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291443"/>
            <a:ext cx="1724025" cy="26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9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Apply Business Rules from SOP</a:t>
            </a:r>
          </a:p>
        </p:txBody>
      </p:sp>
      <p:sp>
        <p:nvSpPr>
          <p:cNvPr id="59" name="task-line-2-4">
            <a:extLst xmlns:a="http://schemas.openxmlformats.org/drawingml/2006/main">
              <a:ext uri="{FF2B5EF4-FFF2-40B4-BE49-F238E27FC236}">
                <a16:creationId xmlns:a16="http://schemas.microsoft.com/office/drawing/2014/main" id="{FE52B2A8-9BE2-4734-852E-72D6ECED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425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0" name="task-2-4">
            <a:extLst xmlns:a="http://schemas.openxmlformats.org/drawingml/2006/main">
              <a:ext uri="{FF2B5EF4-FFF2-40B4-BE49-F238E27FC236}">
                <a16:creationId xmlns:a16="http://schemas.microsoft.com/office/drawing/2014/main" id="{876C58DD-5F86-4F00-8354-00F422C4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66307"/>
            <a:ext cx="1724025" cy="26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5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Derive Insights from New File</a:t>
            </a:r>
          </a:p>
        </p:txBody>
      </p:sp>
      <p:sp>
        <p:nvSpPr>
          <p:cNvPr id="61" name="task-line-2-5">
            <a:extLst xmlns:a="http://schemas.openxmlformats.org/drawingml/2006/main">
              <a:ext uri="{FF2B5EF4-FFF2-40B4-BE49-F238E27FC236}">
                <a16:creationId xmlns:a16="http://schemas.microsoft.com/office/drawing/2014/main" id="{8FD2F070-3810-491A-A039-3F2077C2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173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2" name="task-2-5">
            <a:extLst xmlns:a="http://schemas.openxmlformats.org/drawingml/2006/main">
              <a:ext uri="{FF2B5EF4-FFF2-40B4-BE49-F238E27FC236}">
                <a16:creationId xmlns:a16="http://schemas.microsoft.com/office/drawing/2014/main" id="{B09C8661-F216-44E3-B907-CE5E7375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41171"/>
            <a:ext cx="1724025" cy="26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Validate Findings and Make Decisions</a:t>
            </a:r>
          </a:p>
        </p:txBody>
      </p:sp>
      <p:sp>
        <p:nvSpPr>
          <p:cNvPr id="63" name="task-line-2-6">
            <a:extLst xmlns:a="http://schemas.openxmlformats.org/drawingml/2006/main">
              <a:ext uri="{FF2B5EF4-FFF2-40B4-BE49-F238E27FC236}">
                <a16:creationId xmlns:a16="http://schemas.microsoft.com/office/drawing/2014/main" id="{E5BED395-018E-4589-8717-ED7CD204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9223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4" name="task-2-6">
            <a:extLst xmlns:a="http://schemas.openxmlformats.org/drawingml/2006/main">
              <a:ext uri="{FF2B5EF4-FFF2-40B4-BE49-F238E27FC236}">
                <a16:creationId xmlns:a16="http://schemas.microsoft.com/office/drawing/2014/main" id="{471FBF23-D45F-4538-8899-613174DF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16036"/>
            <a:ext cx="1724025" cy="26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9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Modify Existing SOP Rules</a:t>
            </a:r>
          </a:p>
        </p:txBody>
      </p:sp>
      <p:sp>
        <p:nvSpPr>
          <p:cNvPr id="65" name="card-3">
            <a:extLst xmlns:a="http://schemas.openxmlformats.org/drawingml/2006/main">
              <a:ext uri="{FF2B5EF4-FFF2-40B4-BE49-F238E27FC236}">
                <a16:creationId xmlns:a16="http://schemas.microsoft.com/office/drawing/2014/main" id="{BF197BEB-5E70-490E-AF82-5E5A3E84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90925"/>
            <a:ext cx="5486400" cy="2447925"/>
          </a:xfrm>
          <a:prstGeom xmlns:a="http://schemas.openxmlformats.org/drawingml/2006/main" prst="roundRect">
            <a:avLst>
              <a:gd name="adj" fmla="val 31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6" name="cap-3">
            <a:extLst xmlns:a="http://schemas.openxmlformats.org/drawingml/2006/main">
              <a:ext uri="{FF2B5EF4-FFF2-40B4-BE49-F238E27FC236}">
                <a16:creationId xmlns:a16="http://schemas.microsoft.com/office/drawing/2014/main" id="{EF775842-7E61-47C1-A4E9-485F247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90925"/>
            <a:ext cx="1381125" cy="24479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67" name="step-3">
            <a:extLst xmlns:a="http://schemas.openxmlformats.org/drawingml/2006/main">
              <a:ext uri="{FF2B5EF4-FFF2-40B4-BE49-F238E27FC236}">
                <a16:creationId xmlns:a16="http://schemas.microsoft.com/office/drawing/2014/main" id="{FCF63221-4F41-4F6F-88F6-DB72D80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6a59a77004d3d"/>
          <a:stretch xmlns:a="http://schemas.openxmlformats.org/drawingml/2006/main"/>
        </p:blipFill>
        <p:spPr>
          <a:xfrm xmlns:a="http://schemas.openxmlformats.org/drawingml/2006/main">
            <a:off x="865371" y="3876675"/>
            <a:ext cx="460007" cy="704850"/>
          </a:xfrm>
          <a:prstGeom xmlns:a="http://schemas.openxmlformats.org/drawingml/2006/main" prst="rect">
            <a:avLst/>
          </a:prstGeom>
        </p:spPr>
      </p:pic>
      <p:sp>
        <p:nvSpPr>
          <p:cNvPr id="69" name="module-3">
            <a:extLst xmlns:a="http://schemas.openxmlformats.org/drawingml/2006/main">
              <a:ext uri="{FF2B5EF4-FFF2-40B4-BE49-F238E27FC236}">
                <a16:creationId xmlns:a16="http://schemas.microsoft.com/office/drawing/2014/main" id="{C1CC416E-99D3-426A-B4C5-617E2F6B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Comparison</a:t>
            </a:r>
          </a:p>
        </p:txBody>
      </p:sp>
      <p:sp>
        <p:nvSpPr>
          <p:cNvPr id="70" name="proc-label-3">
            <a:extLst xmlns:a="http://schemas.openxmlformats.org/drawingml/2006/main">
              <a:ext uri="{FF2B5EF4-FFF2-40B4-BE49-F238E27FC236}">
                <a16:creationId xmlns:a16="http://schemas.microsoft.com/office/drawing/2014/main" id="{161F4B7C-710F-4BFC-9378-41F0A1F4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71" name="proc-3">
            <a:extLst xmlns:a="http://schemas.openxmlformats.org/drawingml/2006/main">
              <a:ext uri="{FF2B5EF4-FFF2-40B4-BE49-F238E27FC236}">
                <a16:creationId xmlns:a16="http://schemas.microsoft.com/office/drawing/2014/main" id="{F0CC46BD-4068-43D9-A831-98B2FA49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72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688190B0-43B4-4545-861B-9CDF4835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62375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73" name="task-line-3-0">
            <a:extLst xmlns:a="http://schemas.openxmlformats.org/drawingml/2006/main">
              <a:ext uri="{FF2B5EF4-FFF2-40B4-BE49-F238E27FC236}">
                <a16:creationId xmlns:a16="http://schemas.microsoft.com/office/drawing/2014/main" id="{7C2C676F-3541-437E-98EA-9ECE03C2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105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74" name="task-3-0">
            <a:extLst xmlns:a="http://schemas.openxmlformats.org/drawingml/2006/main">
              <a:ext uri="{FF2B5EF4-FFF2-40B4-BE49-F238E27FC236}">
                <a16:creationId xmlns:a16="http://schemas.microsoft.com/office/drawing/2014/main" id="{0E3BF730-0C30-4976-91B9-A57FFBCE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29075"/>
            <a:ext cx="357187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DB Schema Setup</a:t>
            </a:r>
          </a:p>
        </p:txBody>
      </p:sp>
      <p:sp>
        <p:nvSpPr>
          <p:cNvPr id="75" name="task-line-3-1">
            <a:extLst xmlns:a="http://schemas.openxmlformats.org/drawingml/2006/main">
              <a:ext uri="{FF2B5EF4-FFF2-40B4-BE49-F238E27FC236}">
                <a16:creationId xmlns:a16="http://schemas.microsoft.com/office/drawing/2014/main" id="{68220F57-3EC7-43E2-97E2-8202EA04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481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76" name="task-3-1">
            <a:extLst xmlns:a="http://schemas.openxmlformats.org/drawingml/2006/main">
              <a:ext uri="{FF2B5EF4-FFF2-40B4-BE49-F238E27FC236}">
                <a16:creationId xmlns:a16="http://schemas.microsoft.com/office/drawing/2014/main" id="{F4AB36CA-B179-4B62-AD83-E21A51E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71963"/>
            <a:ext cx="357187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Data Sources</a:t>
            </a:r>
          </a:p>
        </p:txBody>
      </p:sp>
      <p:sp>
        <p:nvSpPr>
          <p:cNvPr id="77" name="task-line-3-2">
            <a:extLst xmlns:a="http://schemas.openxmlformats.org/drawingml/2006/main">
              <a:ext uri="{FF2B5EF4-FFF2-40B4-BE49-F238E27FC236}">
                <a16:creationId xmlns:a16="http://schemas.microsoft.com/office/drawing/2014/main" id="{F11AA08D-D1C3-42BD-A93B-3E41D161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78" name="task-3-2">
            <a:extLst xmlns:a="http://schemas.openxmlformats.org/drawingml/2006/main">
              <a:ext uri="{FF2B5EF4-FFF2-40B4-BE49-F238E27FC236}">
                <a16:creationId xmlns:a16="http://schemas.microsoft.com/office/drawing/2014/main" id="{91AD19EF-079F-471A-B674-4C8BA69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14850"/>
            <a:ext cx="357187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Define Comparison Criteria</a:t>
            </a:r>
          </a:p>
        </p:txBody>
      </p:sp>
      <p:sp>
        <p:nvSpPr>
          <p:cNvPr id="79" name="task-line-3-3">
            <a:extLst xmlns:a="http://schemas.openxmlformats.org/drawingml/2006/main">
              <a:ext uri="{FF2B5EF4-FFF2-40B4-BE49-F238E27FC236}">
                <a16:creationId xmlns:a16="http://schemas.microsoft.com/office/drawing/2014/main" id="{15CC0A65-C83C-41B1-9028-0573F6C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339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0" name="task-3-3">
            <a:extLst xmlns:a="http://schemas.openxmlformats.org/drawingml/2006/main">
              <a:ext uri="{FF2B5EF4-FFF2-40B4-BE49-F238E27FC236}">
                <a16:creationId xmlns:a16="http://schemas.microsoft.com/office/drawing/2014/main" id="{3A5364EF-D76F-4A26-AF9B-8C1C3AE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57738"/>
            <a:ext cx="357187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Perform Data Matching</a:t>
            </a:r>
          </a:p>
        </p:txBody>
      </p:sp>
      <p:sp>
        <p:nvSpPr>
          <p:cNvPr id="81" name="task-line-3-4">
            <a:extLst xmlns:a="http://schemas.openxmlformats.org/drawingml/2006/main">
              <a:ext uri="{FF2B5EF4-FFF2-40B4-BE49-F238E27FC236}">
                <a16:creationId xmlns:a16="http://schemas.microsoft.com/office/drawing/2014/main" id="{3D27FED1-515D-442B-82D4-418FC71D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7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2" name="task-3-4">
            <a:extLst xmlns:a="http://schemas.openxmlformats.org/drawingml/2006/main">
              <a:ext uri="{FF2B5EF4-FFF2-40B4-BE49-F238E27FC236}">
                <a16:creationId xmlns:a16="http://schemas.microsoft.com/office/drawing/2014/main" id="{9852BE88-08D4-4FD3-BE49-5E5D3BB5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00625"/>
            <a:ext cx="357187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Analyze Variances and Make Decisions</a:t>
            </a:r>
          </a:p>
        </p:txBody>
      </p:sp>
      <p:sp>
        <p:nvSpPr>
          <p:cNvPr id="83" name="task-line-3-5">
            <a:extLst xmlns:a="http://schemas.openxmlformats.org/drawingml/2006/main">
              <a:ext uri="{FF2B5EF4-FFF2-40B4-BE49-F238E27FC236}">
                <a16:creationId xmlns:a16="http://schemas.microsoft.com/office/drawing/2014/main" id="{90203A3D-C83F-4442-8FD0-06DA4438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197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4" name="task-3-5">
            <a:extLst xmlns:a="http://schemas.openxmlformats.org/drawingml/2006/main">
              <a:ext uri="{FF2B5EF4-FFF2-40B4-BE49-F238E27FC236}">
                <a16:creationId xmlns:a16="http://schemas.microsoft.com/office/drawing/2014/main" id="{D01A6663-3106-4ADC-94CE-6CEEA2AA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43513"/>
            <a:ext cx="357187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Exceptions</a:t>
            </a:r>
          </a:p>
        </p:txBody>
      </p:sp>
      <p:sp>
        <p:nvSpPr>
          <p:cNvPr id="85" name="task-line-3-6">
            <a:extLst xmlns:a="http://schemas.openxmlformats.org/drawingml/2006/main">
              <a:ext uri="{FF2B5EF4-FFF2-40B4-BE49-F238E27FC236}">
                <a16:creationId xmlns:a16="http://schemas.microsoft.com/office/drawing/2014/main" id="{2B6EDCB4-DEE1-40DA-9D9E-7ADD97A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62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6" name="task-3-6">
            <a:extLst xmlns:a="http://schemas.openxmlformats.org/drawingml/2006/main">
              <a:ext uri="{FF2B5EF4-FFF2-40B4-BE49-F238E27FC236}">
                <a16:creationId xmlns:a16="http://schemas.microsoft.com/office/drawing/2014/main" id="{082733FB-B9AB-4506-BDF6-2AA3DF3B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86400"/>
            <a:ext cx="357187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Validate Final Results</a:t>
            </a:r>
          </a:p>
        </p:txBody>
      </p:sp>
      <p:sp>
        <p:nvSpPr>
          <p:cNvPr id="87" name="task-line-3-7">
            <a:extLst xmlns:a="http://schemas.openxmlformats.org/drawingml/2006/main">
              <a:ext uri="{FF2B5EF4-FFF2-40B4-BE49-F238E27FC236}">
                <a16:creationId xmlns:a16="http://schemas.microsoft.com/office/drawing/2014/main" id="{1AF18BBB-96F2-4495-8B56-EF2E4FBD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054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8" name="task-3-7">
            <a:extLst xmlns:a="http://schemas.openxmlformats.org/drawingml/2006/main">
              <a:ext uri="{FF2B5EF4-FFF2-40B4-BE49-F238E27FC236}">
                <a16:creationId xmlns:a16="http://schemas.microsoft.com/office/drawing/2014/main" id="{EEA5A937-8822-44BC-B6FD-440E8EA1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29288"/>
            <a:ext cx="357187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Review / Approve (Human in the Loop)</a:t>
            </a:r>
          </a:p>
        </p:txBody>
      </p:sp>
      <p:sp>
        <p:nvSpPr>
          <p:cNvPr id="89" name="card-4">
            <a:extLst xmlns:a="http://schemas.openxmlformats.org/drawingml/2006/main">
              <a:ext uri="{FF2B5EF4-FFF2-40B4-BE49-F238E27FC236}">
                <a16:creationId xmlns:a16="http://schemas.microsoft.com/office/drawing/2014/main" id="{7F36FAA0-EC62-4DCA-A6E0-CB3CFAD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90925"/>
            <a:ext cx="5486400" cy="2447925"/>
          </a:xfrm>
          <a:prstGeom xmlns:a="http://schemas.openxmlformats.org/drawingml/2006/main" prst="roundRect">
            <a:avLst>
              <a:gd name="adj" fmla="val 31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90" name="cap-4">
            <a:extLst xmlns:a="http://schemas.openxmlformats.org/drawingml/2006/main">
              <a:ext uri="{FF2B5EF4-FFF2-40B4-BE49-F238E27FC236}">
                <a16:creationId xmlns:a16="http://schemas.microsoft.com/office/drawing/2014/main" id="{60C1D662-9F90-420A-8CE7-C2692086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90925"/>
            <a:ext cx="1381125" cy="24479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91" name="step-4">
            <a:extLst xmlns:a="http://schemas.openxmlformats.org/drawingml/2006/main">
              <a:ext uri="{FF2B5EF4-FFF2-40B4-BE49-F238E27FC236}">
                <a16:creationId xmlns:a16="http://schemas.microsoft.com/office/drawing/2014/main" id="{9CD257C6-73CB-4D88-8653-F05F62A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86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595a7a7014650"/>
          <a:stretch xmlns:a="http://schemas.openxmlformats.org/drawingml/2006/main"/>
        </p:blipFill>
        <p:spPr>
          <a:xfrm xmlns:a="http://schemas.openxmlformats.org/drawingml/2006/main">
            <a:off x="6480922" y="3876675"/>
            <a:ext cx="468406" cy="704850"/>
          </a:xfrm>
          <a:prstGeom xmlns:a="http://schemas.openxmlformats.org/drawingml/2006/main" prst="rect">
            <a:avLst/>
          </a:prstGeom>
        </p:spPr>
      </p:pic>
      <p:sp>
        <p:nvSpPr>
          <p:cNvPr id="93" name="module-4">
            <a:extLst xmlns:a="http://schemas.openxmlformats.org/drawingml/2006/main">
              <a:ext uri="{FF2B5EF4-FFF2-40B4-BE49-F238E27FC236}">
                <a16:creationId xmlns:a16="http://schemas.microsoft.com/office/drawing/2014/main" id="{ECD185D5-27BF-4AC8-8870-A04DFC2A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94" name="proc-label-4">
            <a:extLst xmlns:a="http://schemas.openxmlformats.org/drawingml/2006/main">
              <a:ext uri="{FF2B5EF4-FFF2-40B4-BE49-F238E27FC236}">
                <a16:creationId xmlns:a16="http://schemas.microsoft.com/office/drawing/2014/main" id="{B6496C19-59A2-4A05-9E1B-25AC44C8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483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95" name="proc-4">
            <a:extLst xmlns:a="http://schemas.openxmlformats.org/drawingml/2006/main">
              <a:ext uri="{FF2B5EF4-FFF2-40B4-BE49-F238E27FC236}">
                <a16:creationId xmlns:a16="http://schemas.microsoft.com/office/drawing/2014/main" id="{C06B5878-F0BE-4F20-B104-ACE04C95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409</a:t>
            </a:r>
          </a:p>
        </p:txBody>
      </p:sp>
      <p:sp>
        <p:nvSpPr>
          <p:cNvPr id="9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BE9C1259-16AE-4FAB-8371-5B9ED513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62375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38A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38A1C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97" name="task-line-4-0">
            <a:extLst xmlns:a="http://schemas.openxmlformats.org/drawingml/2006/main">
              <a:ext uri="{FF2B5EF4-FFF2-40B4-BE49-F238E27FC236}">
                <a16:creationId xmlns:a16="http://schemas.microsoft.com/office/drawing/2014/main" id="{073B34B6-C328-4039-94A9-E53A256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05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98" name="task-4-0">
            <a:extLst xmlns:a="http://schemas.openxmlformats.org/drawingml/2006/main">
              <a:ext uri="{FF2B5EF4-FFF2-40B4-BE49-F238E27FC236}">
                <a16:creationId xmlns:a16="http://schemas.microsoft.com/office/drawing/2014/main" id="{BE148C76-BD93-4CA4-BB02-48C4A953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Establish Source-to-Target Connection</a:t>
            </a:r>
          </a:p>
        </p:txBody>
      </p:sp>
      <p:sp>
        <p:nvSpPr>
          <p:cNvPr id="99" name="task-line-4-1">
            <a:extLst xmlns:a="http://schemas.openxmlformats.org/drawingml/2006/main">
              <a:ext uri="{FF2B5EF4-FFF2-40B4-BE49-F238E27FC236}">
                <a16:creationId xmlns:a16="http://schemas.microsoft.com/office/drawing/2014/main" id="{EA1D2092-F08F-4E34-8DA7-3914DFC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2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0" name="task-4-1">
            <a:extLst xmlns:a="http://schemas.openxmlformats.org/drawingml/2006/main">
              <a:ext uri="{FF2B5EF4-FFF2-40B4-BE49-F238E27FC236}">
                <a16:creationId xmlns:a16="http://schemas.microsoft.com/office/drawing/2014/main" id="{79ACC5F2-BC29-4D38-807B-72B9B06A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52925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Map Data to Target Structure</a:t>
            </a:r>
          </a:p>
        </p:txBody>
      </p:sp>
      <p:sp>
        <p:nvSpPr>
          <p:cNvPr id="101" name="task-line-4-2">
            <a:extLst xmlns:a="http://schemas.openxmlformats.org/drawingml/2006/main">
              <a:ext uri="{FF2B5EF4-FFF2-40B4-BE49-F238E27FC236}">
                <a16:creationId xmlns:a16="http://schemas.microsoft.com/office/drawing/2014/main" id="{A22190D2-81AB-4934-B779-F49859C1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2" name="task-4-2">
            <a:extLst xmlns:a="http://schemas.openxmlformats.org/drawingml/2006/main">
              <a:ext uri="{FF2B5EF4-FFF2-40B4-BE49-F238E27FC236}">
                <a16:creationId xmlns:a16="http://schemas.microsoft.com/office/drawing/2014/main" id="{BBA38AB9-63CF-49F1-9FAF-712ECC0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76775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Load Data into Target Repository</a:t>
            </a:r>
          </a:p>
        </p:txBody>
      </p:sp>
      <p:sp>
        <p:nvSpPr>
          <p:cNvPr id="103" name="task-line-4-3">
            <a:extLst xmlns:a="http://schemas.openxmlformats.org/drawingml/2006/main">
              <a:ext uri="{FF2B5EF4-FFF2-40B4-BE49-F238E27FC236}">
                <a16:creationId xmlns:a16="http://schemas.microsoft.com/office/drawing/2014/main" id="{A682A33C-406A-4238-B9E5-5B2E8679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7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4" name="task-4-3">
            <a:extLst xmlns:a="http://schemas.openxmlformats.org/drawingml/2006/main">
              <a:ext uri="{FF2B5EF4-FFF2-40B4-BE49-F238E27FC236}">
                <a16:creationId xmlns:a16="http://schemas.microsoft.com/office/drawing/2014/main" id="{4CB5C3F3-A170-4B01-91F3-DA415B2A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00625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Verify Load Completion</a:t>
            </a:r>
          </a:p>
        </p:txBody>
      </p:sp>
      <p:sp>
        <p:nvSpPr>
          <p:cNvPr id="105" name="task-line-4-4">
            <a:extLst xmlns:a="http://schemas.openxmlformats.org/drawingml/2006/main">
              <a:ext uri="{FF2B5EF4-FFF2-40B4-BE49-F238E27FC236}">
                <a16:creationId xmlns:a16="http://schemas.microsoft.com/office/drawing/2014/main" id="{65A3104A-C32D-4BA3-BC70-3B87220C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400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6" name="task-4-4">
            <a:extLst xmlns:a="http://schemas.openxmlformats.org/drawingml/2006/main">
              <a:ext uri="{FF2B5EF4-FFF2-40B4-BE49-F238E27FC236}">
                <a16:creationId xmlns:a16="http://schemas.microsoft.com/office/drawing/2014/main" id="{8A128C80-C9D5-494D-AB9F-F00ACF45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324475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Reconcile Data Counts</a:t>
            </a:r>
          </a:p>
        </p:txBody>
      </p:sp>
      <p:sp>
        <p:nvSpPr>
          <p:cNvPr id="107" name="task-line-4-5">
            <a:extLst xmlns:a="http://schemas.openxmlformats.org/drawingml/2006/main">
              <a:ext uri="{FF2B5EF4-FFF2-40B4-BE49-F238E27FC236}">
                <a16:creationId xmlns:a16="http://schemas.microsoft.com/office/drawing/2014/main" id="{C7ACA453-DAF3-4FB8-AA2D-8CCF8A4E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24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8" name="task-4-5">
            <a:extLst xmlns:a="http://schemas.openxmlformats.org/drawingml/2006/main">
              <a:ext uri="{FF2B5EF4-FFF2-40B4-BE49-F238E27FC236}">
                <a16:creationId xmlns:a16="http://schemas.microsoft.com/office/drawing/2014/main" id="{96A110A8-96B7-4412-8C76-EA99D096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648325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Report Final Load Results</a:t>
            </a:r>
          </a:p>
        </p:txBody>
      </p:sp>
    </p:spTree>
    <p:extLst>
      <p:ext uri="{BB962C8B-B14F-4D97-AF65-F5344CB8AC3E}">
        <p14:creationId xmlns:p14="http://schemas.microsoft.com/office/powerpoint/2010/main" val="1681089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top-band">
            <a:extLst xmlns:a="http://schemas.openxmlformats.org/drawingml/2006/main">
              <a:ext uri="{FF2B5EF4-FFF2-40B4-BE49-F238E27FC236}">
                <a16:creationId xmlns:a16="http://schemas.microsoft.com/office/drawing/2014/main" id="{ECA76ACE-4A59-432B-BFD4-626301B1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BD80E244-2313-4883-B5AD-531FB67C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34BA38-9146-4667-80DB-0469CBE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Module Effort and Cost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722A74E-7FED-4199-9645-51E8DF6D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Version 3.0 comparison using Columns B, I, J, K and L</a:t>
            </a:r>
          </a:p>
        </p:txBody>
      </p:sp>
      <p:sp>
        <p:nvSpPr>
          <p:cNvPr id="5" name="version">
            <a:extLst xmlns:a="http://schemas.openxmlformats.org/drawingml/2006/main">
              <a:ext uri="{FF2B5EF4-FFF2-40B4-BE49-F238E27FC236}">
                <a16:creationId xmlns:a16="http://schemas.microsoft.com/office/drawing/2014/main" id="{12ACFE3E-0FF2-477E-B361-A48BCF0C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VERSION 3.0</a:t>
            </a:r>
          </a:p>
        </p:txBody>
      </p:sp>
      <p:sp>
        <p:nvSpPr>
          <p:cNvPr id="6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CA6A2C8-39D3-4E61-8F01-14C518DB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65B4D65-94F4-4E16-995B-8C4281F7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CSRA Automation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84EA44C9-81B8-408E-996A-62F299C9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1633EC71-ADFB-4CF6-BD3B-74FAC4F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0" name="metric-cap-0">
            <a:extLst xmlns:a="http://schemas.openxmlformats.org/drawingml/2006/main">
              <a:ext uri="{FF2B5EF4-FFF2-40B4-BE49-F238E27FC236}">
                <a16:creationId xmlns:a16="http://schemas.microsoft.com/office/drawing/2014/main" id="{9D14BB63-76DC-4F04-A221-4E60D310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a8d8bd2c349c9"/>
          <a:stretch xmlns:a="http://schemas.openxmlformats.org/drawingml/2006/main"/>
        </p:blipFill>
        <p:spPr>
          <a:xfrm xmlns:a="http://schemas.openxmlformats.org/drawingml/2006/main">
            <a:off x="684689" y="1362075"/>
            <a:ext cx="345121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8BF26CEE-E885-4794-985E-068F6ADF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13" name="label-0-0">
            <a:extLst xmlns:a="http://schemas.openxmlformats.org/drawingml/2006/main">
              <a:ext uri="{FF2B5EF4-FFF2-40B4-BE49-F238E27FC236}">
                <a16:creationId xmlns:a16="http://schemas.microsoft.com/office/drawing/2014/main" id="{883FB1BD-A885-45FE-B7B5-A063A1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14" name="value-bg-0-0">
            <a:extLst xmlns:a="http://schemas.openxmlformats.org/drawingml/2006/main">
              <a:ext uri="{FF2B5EF4-FFF2-40B4-BE49-F238E27FC236}">
                <a16:creationId xmlns:a16="http://schemas.microsoft.com/office/drawing/2014/main" id="{D30EBF0B-A5AB-4700-AE9B-89374F2C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5" name="value-0-0">
            <a:extLst xmlns:a="http://schemas.openxmlformats.org/drawingml/2006/main">
              <a:ext uri="{FF2B5EF4-FFF2-40B4-BE49-F238E27FC236}">
                <a16:creationId xmlns:a16="http://schemas.microsoft.com/office/drawing/2014/main" id="{C9F9C6D4-5809-4BBF-A29D-57B5D6B3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4,247</a:t>
            </a:r>
          </a:p>
        </p:txBody>
      </p:sp>
      <p:sp>
        <p:nvSpPr>
          <p:cNvPr id="16" name="label-0-1">
            <a:extLst xmlns:a="http://schemas.openxmlformats.org/drawingml/2006/main">
              <a:ext uri="{FF2B5EF4-FFF2-40B4-BE49-F238E27FC236}">
                <a16:creationId xmlns:a16="http://schemas.microsoft.com/office/drawing/2014/main" id="{7C177D18-C5CA-4081-8545-CF2D0878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17" name="value-bg-0-1">
            <a:extLst xmlns:a="http://schemas.openxmlformats.org/drawingml/2006/main">
              <a:ext uri="{FF2B5EF4-FFF2-40B4-BE49-F238E27FC236}">
                <a16:creationId xmlns:a16="http://schemas.microsoft.com/office/drawing/2014/main" id="{1FA37DE2-C5E4-494C-A9D7-F8883C68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8" name="value-0-1">
            <a:extLst xmlns:a="http://schemas.openxmlformats.org/drawingml/2006/main">
              <a:ext uri="{FF2B5EF4-FFF2-40B4-BE49-F238E27FC236}">
                <a16:creationId xmlns:a16="http://schemas.microsoft.com/office/drawing/2014/main" id="{982AFE62-AA92-4446-9ED8-94FD352A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19" name="label-0-2">
            <a:extLst xmlns:a="http://schemas.openxmlformats.org/drawingml/2006/main">
              <a:ext uri="{FF2B5EF4-FFF2-40B4-BE49-F238E27FC236}">
                <a16:creationId xmlns:a16="http://schemas.microsoft.com/office/drawing/2014/main" id="{00138829-BED9-4028-B607-276FE066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20" name="value-bg-0-2">
            <a:extLst xmlns:a="http://schemas.openxmlformats.org/drawingml/2006/main">
              <a:ext uri="{FF2B5EF4-FFF2-40B4-BE49-F238E27FC236}">
                <a16:creationId xmlns:a16="http://schemas.microsoft.com/office/drawing/2014/main" id="{5B3D9361-A8FD-4AC7-B4F8-E986EDF7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1" name="value-0-2">
            <a:extLst xmlns:a="http://schemas.openxmlformats.org/drawingml/2006/main">
              <a:ext uri="{FF2B5EF4-FFF2-40B4-BE49-F238E27FC236}">
                <a16:creationId xmlns:a16="http://schemas.microsoft.com/office/drawing/2014/main" id="{A9A24F96-8D42-4133-BE27-FFCD6A9C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63,705</a:t>
            </a:r>
          </a:p>
        </p:txBody>
      </p:sp>
      <p:sp>
        <p:nvSpPr>
          <p:cNvPr id="22" name="label-0-3">
            <a:extLst xmlns:a="http://schemas.openxmlformats.org/drawingml/2006/main">
              <a:ext uri="{FF2B5EF4-FFF2-40B4-BE49-F238E27FC236}">
                <a16:creationId xmlns:a16="http://schemas.microsoft.com/office/drawing/2014/main" id="{D8F40392-40C8-4CA7-AEED-99681689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3" name="value-bg-0-3">
            <a:extLst xmlns:a="http://schemas.openxmlformats.org/drawingml/2006/main">
              <a:ext uri="{FF2B5EF4-FFF2-40B4-BE49-F238E27FC236}">
                <a16:creationId xmlns:a16="http://schemas.microsoft.com/office/drawing/2014/main" id="{0EFA0A11-703E-4A03-BF8A-6CAE5726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769AA"/>
            </a:solidFill>
            <a:prstDash val="solid"/>
          </a:ln>
        </p:spPr>
      </p:sp>
      <p:sp>
        <p:nvSpPr>
          <p:cNvPr id="24" name="value-0-3">
            <a:extLst xmlns:a="http://schemas.openxmlformats.org/drawingml/2006/main">
              <a:ext uri="{FF2B5EF4-FFF2-40B4-BE49-F238E27FC236}">
                <a16:creationId xmlns:a16="http://schemas.microsoft.com/office/drawing/2014/main" id="{B6C523DE-D54B-4950-949F-46F96CC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$4,140,825</a:t>
            </a:r>
          </a:p>
        </p:txBody>
      </p:sp>
      <p:sp>
        <p:nvSpPr>
          <p:cNvPr id="25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7D4A1C99-0887-4956-B3BB-FF27E234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6" name="metric-cap-1">
            <a:extLst xmlns:a="http://schemas.openxmlformats.org/drawingml/2006/main">
              <a:ext uri="{FF2B5EF4-FFF2-40B4-BE49-F238E27FC236}">
                <a16:creationId xmlns:a16="http://schemas.microsoft.com/office/drawing/2014/main" id="{5B61BE60-3215-484E-B199-870A120F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023a8ad4d4075"/>
          <a:stretch xmlns:a="http://schemas.openxmlformats.org/drawingml/2006/main"/>
        </p:blipFill>
        <p:spPr>
          <a:xfrm xmlns:a="http://schemas.openxmlformats.org/drawingml/2006/main">
            <a:off x="2948222" y="1362075"/>
            <a:ext cx="351955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5F2C610-1EB7-4C4A-9BB7-63E64653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Extraction</a:t>
            </a:r>
          </a:p>
        </p:txBody>
      </p:sp>
      <p:sp>
        <p:nvSpPr>
          <p:cNvPr id="29" name="label-1-0">
            <a:extLst xmlns:a="http://schemas.openxmlformats.org/drawingml/2006/main">
              <a:ext uri="{FF2B5EF4-FFF2-40B4-BE49-F238E27FC236}">
                <a16:creationId xmlns:a16="http://schemas.microsoft.com/office/drawing/2014/main" id="{6E3C5FD7-78F2-43A4-8BA8-4522076B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30" name="value-bg-1-0">
            <a:extLst xmlns:a="http://schemas.openxmlformats.org/drawingml/2006/main">
              <a:ext uri="{FF2B5EF4-FFF2-40B4-BE49-F238E27FC236}">
                <a16:creationId xmlns:a16="http://schemas.microsoft.com/office/drawing/2014/main" id="{E85506FE-2C49-4336-BD51-53827F33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1" name="value-1-0">
            <a:extLst xmlns:a="http://schemas.openxmlformats.org/drawingml/2006/main">
              <a:ext uri="{FF2B5EF4-FFF2-40B4-BE49-F238E27FC236}">
                <a16:creationId xmlns:a16="http://schemas.microsoft.com/office/drawing/2014/main" id="{F3E1151F-E356-4C7C-8382-15AEE850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32" name="label-1-1">
            <a:extLst xmlns:a="http://schemas.openxmlformats.org/drawingml/2006/main">
              <a:ext uri="{FF2B5EF4-FFF2-40B4-BE49-F238E27FC236}">
                <a16:creationId xmlns:a16="http://schemas.microsoft.com/office/drawing/2014/main" id="{65B9949C-64EE-47A3-8BD5-1E3E8BD6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33" name="value-bg-1-1">
            <a:extLst xmlns:a="http://schemas.openxmlformats.org/drawingml/2006/main">
              <a:ext uri="{FF2B5EF4-FFF2-40B4-BE49-F238E27FC236}">
                <a16:creationId xmlns:a16="http://schemas.microsoft.com/office/drawing/2014/main" id="{C3BBFA9F-4295-4A22-8552-CA02C4DC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4" name="value-1-1">
            <a:extLst xmlns:a="http://schemas.openxmlformats.org/drawingml/2006/main">
              <a:ext uri="{FF2B5EF4-FFF2-40B4-BE49-F238E27FC236}">
                <a16:creationId xmlns:a16="http://schemas.microsoft.com/office/drawing/2014/main" id="{E1B9B415-9706-416A-BA28-1F0CA4D9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35" name="label-1-2">
            <a:extLst xmlns:a="http://schemas.openxmlformats.org/drawingml/2006/main">
              <a:ext uri="{FF2B5EF4-FFF2-40B4-BE49-F238E27FC236}">
                <a16:creationId xmlns:a16="http://schemas.microsoft.com/office/drawing/2014/main" id="{4C954D3C-23EB-41CF-8930-0DEB465C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36" name="value-bg-1-2">
            <a:extLst xmlns:a="http://schemas.openxmlformats.org/drawingml/2006/main">
              <a:ext uri="{FF2B5EF4-FFF2-40B4-BE49-F238E27FC236}">
                <a16:creationId xmlns:a16="http://schemas.microsoft.com/office/drawing/2014/main" id="{2AABF105-D617-45A1-A12D-17EE5D48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7" name="value-1-2">
            <a:extLst xmlns:a="http://schemas.openxmlformats.org/drawingml/2006/main">
              <a:ext uri="{FF2B5EF4-FFF2-40B4-BE49-F238E27FC236}">
                <a16:creationId xmlns:a16="http://schemas.microsoft.com/office/drawing/2014/main" id="{C7E51E15-CB95-4261-B860-AF8EB955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14,950</a:t>
            </a:r>
          </a:p>
        </p:txBody>
      </p:sp>
      <p:sp>
        <p:nvSpPr>
          <p:cNvPr id="38" name="label-1-3">
            <a:extLst xmlns:a="http://schemas.openxmlformats.org/drawingml/2006/main">
              <a:ext uri="{FF2B5EF4-FFF2-40B4-BE49-F238E27FC236}">
                <a16:creationId xmlns:a16="http://schemas.microsoft.com/office/drawing/2014/main" id="{5D36B4B3-A86C-471E-9021-2A8C4DEB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39" name="value-bg-1-3">
            <a:extLst xmlns:a="http://schemas.openxmlformats.org/drawingml/2006/main">
              <a:ext uri="{FF2B5EF4-FFF2-40B4-BE49-F238E27FC236}">
                <a16:creationId xmlns:a16="http://schemas.microsoft.com/office/drawing/2014/main" id="{B7457929-3B31-4F22-AB89-82B9F41C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4865F"/>
            </a:solidFill>
            <a:prstDash val="solid"/>
          </a:ln>
        </p:spPr>
      </p:sp>
      <p:sp>
        <p:nvSpPr>
          <p:cNvPr id="40" name="value-1-3">
            <a:extLst xmlns:a="http://schemas.openxmlformats.org/drawingml/2006/main">
              <a:ext uri="{FF2B5EF4-FFF2-40B4-BE49-F238E27FC236}">
                <a16:creationId xmlns:a16="http://schemas.microsoft.com/office/drawing/2014/main" id="{90114214-4B17-4612-9D10-160D0535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65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865F"/>
                </a:solidFill>
                <a:latin typeface="Aptos"/>
                <a:ea typeface="Aptos"/>
                <a:cs typeface="Aptos"/>
              </a:rPr>
              <a:t>$971,750</a:t>
            </a:r>
          </a:p>
        </p:txBody>
      </p:sp>
      <p:sp>
        <p:nvSpPr>
          <p:cNvPr id="4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1ED91FAA-1CE2-4259-8D37-FF8A7F81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2" name="metric-cap-2">
            <a:extLst xmlns:a="http://schemas.openxmlformats.org/drawingml/2006/main">
              <a:ext uri="{FF2B5EF4-FFF2-40B4-BE49-F238E27FC236}">
                <a16:creationId xmlns:a16="http://schemas.microsoft.com/office/drawing/2014/main" id="{15EC8BF4-A85D-490A-9124-92FD0BF9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a83d2fff648f6"/>
          <a:stretch xmlns:a="http://schemas.openxmlformats.org/drawingml/2006/main"/>
        </p:blipFill>
        <p:spPr>
          <a:xfrm xmlns:a="http://schemas.openxmlformats.org/drawingml/2006/main">
            <a:off x="5211774" y="1362075"/>
            <a:ext cx="358752" cy="571500"/>
          </a:xfrm>
          <a:prstGeom xmlns:a="http://schemas.openxmlformats.org/drawingml/2006/main" prst="rect">
            <a:avLst/>
          </a:prstGeom>
        </p:spPr>
      </p:pic>
      <p:sp>
        <p:nvSpPr>
          <p:cNvPr id="44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29240F88-2576-48BD-BA23-1D93A46D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Interpretation</a:t>
            </a:r>
          </a:p>
        </p:txBody>
      </p:sp>
      <p:sp>
        <p:nvSpPr>
          <p:cNvPr id="45" name="label-2-0">
            <a:extLst xmlns:a="http://schemas.openxmlformats.org/drawingml/2006/main">
              <a:ext uri="{FF2B5EF4-FFF2-40B4-BE49-F238E27FC236}">
                <a16:creationId xmlns:a16="http://schemas.microsoft.com/office/drawing/2014/main" id="{8299E877-788D-4C5A-BF57-993D50DC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46" name="value-bg-2-0">
            <a:extLst xmlns:a="http://schemas.openxmlformats.org/drawingml/2006/main">
              <a:ext uri="{FF2B5EF4-FFF2-40B4-BE49-F238E27FC236}">
                <a16:creationId xmlns:a16="http://schemas.microsoft.com/office/drawing/2014/main" id="{05EDB3AC-5240-419F-B408-52CC7020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7" name="value-2-0">
            <a:extLst xmlns:a="http://schemas.openxmlformats.org/drawingml/2006/main">
              <a:ext uri="{FF2B5EF4-FFF2-40B4-BE49-F238E27FC236}">
                <a16:creationId xmlns:a16="http://schemas.microsoft.com/office/drawing/2014/main" id="{B42DD2C7-54CD-4B74-A628-DC390E6D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48" name="label-2-1">
            <a:extLst xmlns:a="http://schemas.openxmlformats.org/drawingml/2006/main">
              <a:ext uri="{FF2B5EF4-FFF2-40B4-BE49-F238E27FC236}">
                <a16:creationId xmlns:a16="http://schemas.microsoft.com/office/drawing/2014/main" id="{92FED885-99B2-4EFD-BFAF-BBC3380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49" name="value-bg-2-1">
            <a:extLst xmlns:a="http://schemas.openxmlformats.org/drawingml/2006/main">
              <a:ext uri="{FF2B5EF4-FFF2-40B4-BE49-F238E27FC236}">
                <a16:creationId xmlns:a16="http://schemas.microsoft.com/office/drawing/2014/main" id="{084E93D4-36A4-4985-ACAC-6A43FF3C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0" name="value-2-1">
            <a:extLst xmlns:a="http://schemas.openxmlformats.org/drawingml/2006/main">
              <a:ext uri="{FF2B5EF4-FFF2-40B4-BE49-F238E27FC236}">
                <a16:creationId xmlns:a16="http://schemas.microsoft.com/office/drawing/2014/main" id="{325ABE53-5636-487D-A990-8BBB0952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51" name="label-2-2">
            <a:extLst xmlns:a="http://schemas.openxmlformats.org/drawingml/2006/main">
              <a:ext uri="{FF2B5EF4-FFF2-40B4-BE49-F238E27FC236}">
                <a16:creationId xmlns:a16="http://schemas.microsoft.com/office/drawing/2014/main" id="{C39D2FEC-4D37-4368-A937-5A735B9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52" name="value-bg-2-2">
            <a:extLst xmlns:a="http://schemas.openxmlformats.org/drawingml/2006/main">
              <a:ext uri="{FF2B5EF4-FFF2-40B4-BE49-F238E27FC236}">
                <a16:creationId xmlns:a16="http://schemas.microsoft.com/office/drawing/2014/main" id="{34469C8C-D026-4E72-8CF4-CC33614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3" name="value-2-2">
            <a:extLst xmlns:a="http://schemas.openxmlformats.org/drawingml/2006/main">
              <a:ext uri="{FF2B5EF4-FFF2-40B4-BE49-F238E27FC236}">
                <a16:creationId xmlns:a16="http://schemas.microsoft.com/office/drawing/2014/main" id="{A0E06B68-C6E1-4960-B706-4B27939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22,425</a:t>
            </a:r>
          </a:p>
        </p:txBody>
      </p:sp>
      <p:sp>
        <p:nvSpPr>
          <p:cNvPr id="54" name="label-2-3">
            <a:extLst xmlns:a="http://schemas.openxmlformats.org/drawingml/2006/main">
              <a:ext uri="{FF2B5EF4-FFF2-40B4-BE49-F238E27FC236}">
                <a16:creationId xmlns:a16="http://schemas.microsoft.com/office/drawing/2014/main" id="{6D3BC5DB-3BA0-4D9C-9BA6-F823BC2F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55" name="value-bg-2-3">
            <a:extLst xmlns:a="http://schemas.openxmlformats.org/drawingml/2006/main">
              <a:ext uri="{FF2B5EF4-FFF2-40B4-BE49-F238E27FC236}">
                <a16:creationId xmlns:a16="http://schemas.microsoft.com/office/drawing/2014/main" id="{C338A0FB-031F-4F1C-AF28-8ADC49F6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7048C2"/>
            </a:solidFill>
            <a:prstDash val="solid"/>
          </a:ln>
        </p:spPr>
      </p:sp>
      <p:sp>
        <p:nvSpPr>
          <p:cNvPr id="56" name="value-2-3">
            <a:extLst xmlns:a="http://schemas.openxmlformats.org/drawingml/2006/main">
              <a:ext uri="{FF2B5EF4-FFF2-40B4-BE49-F238E27FC236}">
                <a16:creationId xmlns:a16="http://schemas.microsoft.com/office/drawing/2014/main" id="{4018F861-290B-4B75-ADED-25EBF5C9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048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48C2"/>
                </a:solidFill>
                <a:latin typeface="Aptos"/>
                <a:ea typeface="Aptos"/>
                <a:cs typeface="Aptos"/>
              </a:rPr>
              <a:t>$1,457,625</a:t>
            </a:r>
          </a:p>
        </p:txBody>
      </p:sp>
      <p:sp>
        <p:nvSpPr>
          <p:cNvPr id="57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90D14BAA-26A5-4887-A570-FF001DF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8" name="metric-cap-3">
            <a:extLst xmlns:a="http://schemas.openxmlformats.org/drawingml/2006/main">
              <a:ext uri="{FF2B5EF4-FFF2-40B4-BE49-F238E27FC236}">
                <a16:creationId xmlns:a16="http://schemas.microsoft.com/office/drawing/2014/main" id="{F37C6905-3564-4028-821C-53ABACE4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1bfc517994cd0"/>
          <a:stretch xmlns:a="http://schemas.openxmlformats.org/drawingml/2006/main"/>
        </p:blipFill>
        <p:spPr>
          <a:xfrm xmlns:a="http://schemas.openxmlformats.org/drawingml/2006/main">
            <a:off x="7471611" y="1362075"/>
            <a:ext cx="372979" cy="571500"/>
          </a:xfrm>
          <a:prstGeom xmlns:a="http://schemas.openxmlformats.org/drawingml/2006/main" prst="rect">
            <a:avLst/>
          </a:prstGeom>
        </p:spPr>
      </p:pic>
      <p:sp>
        <p:nvSpPr>
          <p:cNvPr id="60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5C2D0EA9-DB20-49E9-B402-B36043A1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Comparison</a:t>
            </a:r>
          </a:p>
        </p:txBody>
      </p:sp>
      <p:sp>
        <p:nvSpPr>
          <p:cNvPr id="61" name="label-3-0">
            <a:extLst xmlns:a="http://schemas.openxmlformats.org/drawingml/2006/main">
              <a:ext uri="{FF2B5EF4-FFF2-40B4-BE49-F238E27FC236}">
                <a16:creationId xmlns:a16="http://schemas.microsoft.com/office/drawing/2014/main" id="{F4D8D036-0158-4A60-A89E-A7C9EC29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62" name="value-bg-3-0">
            <a:extLst xmlns:a="http://schemas.openxmlformats.org/drawingml/2006/main">
              <a:ext uri="{FF2B5EF4-FFF2-40B4-BE49-F238E27FC236}">
                <a16:creationId xmlns:a16="http://schemas.microsoft.com/office/drawing/2014/main" id="{5F7A3B82-4368-49FA-99A3-5828796A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3" name="value-3-0">
            <a:extLst xmlns:a="http://schemas.openxmlformats.org/drawingml/2006/main">
              <a:ext uri="{FF2B5EF4-FFF2-40B4-BE49-F238E27FC236}">
                <a16:creationId xmlns:a16="http://schemas.microsoft.com/office/drawing/2014/main" id="{55D70F83-828F-4F62-B60B-7F0EF5DA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64" name="label-3-1">
            <a:extLst xmlns:a="http://schemas.openxmlformats.org/drawingml/2006/main">
              <a:ext uri="{FF2B5EF4-FFF2-40B4-BE49-F238E27FC236}">
                <a16:creationId xmlns:a16="http://schemas.microsoft.com/office/drawing/2014/main" id="{8EDD6B9D-C996-465A-A152-A787A03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65" name="value-bg-3-1">
            <a:extLst xmlns:a="http://schemas.openxmlformats.org/drawingml/2006/main">
              <a:ext uri="{FF2B5EF4-FFF2-40B4-BE49-F238E27FC236}">
                <a16:creationId xmlns:a16="http://schemas.microsoft.com/office/drawing/2014/main" id="{B65249A0-3602-4603-AA03-9C282789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6" name="value-3-1">
            <a:extLst xmlns:a="http://schemas.openxmlformats.org/drawingml/2006/main">
              <a:ext uri="{FF2B5EF4-FFF2-40B4-BE49-F238E27FC236}">
                <a16:creationId xmlns:a16="http://schemas.microsoft.com/office/drawing/2014/main" id="{064498B7-5BA1-4127-BD60-60A97E42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67" name="label-3-2">
            <a:extLst xmlns:a="http://schemas.openxmlformats.org/drawingml/2006/main">
              <a:ext uri="{FF2B5EF4-FFF2-40B4-BE49-F238E27FC236}">
                <a16:creationId xmlns:a16="http://schemas.microsoft.com/office/drawing/2014/main" id="{8436C603-81EF-4AC2-A909-E7F59519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68" name="value-bg-3-2">
            <a:extLst xmlns:a="http://schemas.openxmlformats.org/drawingml/2006/main">
              <a:ext uri="{FF2B5EF4-FFF2-40B4-BE49-F238E27FC236}">
                <a16:creationId xmlns:a16="http://schemas.microsoft.com/office/drawing/2014/main" id="{B2421D0C-ABDC-4617-9836-08F94077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9" name="value-3-2">
            <a:extLst xmlns:a="http://schemas.openxmlformats.org/drawingml/2006/main">
              <a:ext uri="{FF2B5EF4-FFF2-40B4-BE49-F238E27FC236}">
                <a16:creationId xmlns:a16="http://schemas.microsoft.com/office/drawing/2014/main" id="{18BE938D-29F0-4566-BCB9-5D60E3D9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37,375</a:t>
            </a:r>
          </a:p>
        </p:txBody>
      </p:sp>
      <p:sp>
        <p:nvSpPr>
          <p:cNvPr id="70" name="label-3-3">
            <a:extLst xmlns:a="http://schemas.openxmlformats.org/drawingml/2006/main">
              <a:ext uri="{FF2B5EF4-FFF2-40B4-BE49-F238E27FC236}">
                <a16:creationId xmlns:a16="http://schemas.microsoft.com/office/drawing/2014/main" id="{8748DBD9-D75D-4616-B7FB-2885E82C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71" name="value-bg-3-3">
            <a:extLst xmlns:a="http://schemas.openxmlformats.org/drawingml/2006/main">
              <a:ext uri="{FF2B5EF4-FFF2-40B4-BE49-F238E27FC236}">
                <a16:creationId xmlns:a16="http://schemas.microsoft.com/office/drawing/2014/main" id="{B7548D06-7422-4F08-879E-ACAA75ED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EA7CF"/>
            </a:solidFill>
            <a:prstDash val="solid"/>
          </a:ln>
        </p:spPr>
      </p:sp>
      <p:sp>
        <p:nvSpPr>
          <p:cNvPr id="72" name="value-3-3">
            <a:extLst xmlns:a="http://schemas.openxmlformats.org/drawingml/2006/main">
              <a:ext uri="{FF2B5EF4-FFF2-40B4-BE49-F238E27FC236}">
                <a16:creationId xmlns:a16="http://schemas.microsoft.com/office/drawing/2014/main" id="{F3CDD12A-B61D-4795-A4A6-20663F1F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$2,429,375</a:t>
            </a:r>
          </a:p>
        </p:txBody>
      </p:sp>
      <p:sp>
        <p:nvSpPr>
          <p:cNvPr id="73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C464A39F-230D-45CB-9878-269BA983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4" name="metric-cap-4">
            <a:extLst xmlns:a="http://schemas.openxmlformats.org/drawingml/2006/main">
              <a:ext uri="{FF2B5EF4-FFF2-40B4-BE49-F238E27FC236}">
                <a16:creationId xmlns:a16="http://schemas.microsoft.com/office/drawing/2014/main" id="{A3094FE3-5118-4798-8765-C3D8DEBB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bddce088f4a42"/>
          <a:stretch xmlns:a="http://schemas.openxmlformats.org/drawingml/2006/main"/>
        </p:blipFill>
        <p:spPr>
          <a:xfrm xmlns:a="http://schemas.openxmlformats.org/drawingml/2006/main">
            <a:off x="9735156" y="1362075"/>
            <a:ext cx="379789" cy="571500"/>
          </a:xfrm>
          <a:prstGeom xmlns:a="http://schemas.openxmlformats.org/drawingml/2006/main" prst="rect">
            <a:avLst/>
          </a:prstGeom>
        </p:spPr>
      </p:pic>
      <p:sp>
        <p:nvSpPr>
          <p:cNvPr id="76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2F35EE69-D5E1-4D72-A320-129EE97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77" name="label-4-0">
            <a:extLst xmlns:a="http://schemas.openxmlformats.org/drawingml/2006/main">
              <a:ext uri="{FF2B5EF4-FFF2-40B4-BE49-F238E27FC236}">
                <a16:creationId xmlns:a16="http://schemas.microsoft.com/office/drawing/2014/main" id="{5541B40D-0677-4E5A-B895-9B0D8736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78" name="value-bg-4-0">
            <a:extLst xmlns:a="http://schemas.openxmlformats.org/drawingml/2006/main">
              <a:ext uri="{FF2B5EF4-FFF2-40B4-BE49-F238E27FC236}">
                <a16:creationId xmlns:a16="http://schemas.microsoft.com/office/drawing/2014/main" id="{1C4DC254-AF84-4C18-80D7-7AAF0BFA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9" name="value-4-0">
            <a:extLst xmlns:a="http://schemas.openxmlformats.org/drawingml/2006/main">
              <a:ext uri="{FF2B5EF4-FFF2-40B4-BE49-F238E27FC236}">
                <a16:creationId xmlns:a16="http://schemas.microsoft.com/office/drawing/2014/main" id="{8D856539-A17C-4723-9231-CAE7E2ED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80" name="label-4-1">
            <a:extLst xmlns:a="http://schemas.openxmlformats.org/drawingml/2006/main">
              <a:ext uri="{FF2B5EF4-FFF2-40B4-BE49-F238E27FC236}">
                <a16:creationId xmlns:a16="http://schemas.microsoft.com/office/drawing/2014/main" id="{80B89552-C1D8-421D-8095-714973B6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81" name="value-bg-4-1">
            <a:extLst xmlns:a="http://schemas.openxmlformats.org/drawingml/2006/main">
              <a:ext uri="{FF2B5EF4-FFF2-40B4-BE49-F238E27FC236}">
                <a16:creationId xmlns:a16="http://schemas.microsoft.com/office/drawing/2014/main" id="{D94FA74A-1650-4C9D-92E3-8DE1CB7E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82" name="value-4-1">
            <a:extLst xmlns:a="http://schemas.openxmlformats.org/drawingml/2006/main">
              <a:ext uri="{FF2B5EF4-FFF2-40B4-BE49-F238E27FC236}">
                <a16:creationId xmlns:a16="http://schemas.microsoft.com/office/drawing/2014/main" id="{25F6D1C9-6AE2-4AFB-B766-17F063C6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83" name="label-4-2">
            <a:extLst xmlns:a="http://schemas.openxmlformats.org/drawingml/2006/main">
              <a:ext uri="{FF2B5EF4-FFF2-40B4-BE49-F238E27FC236}">
                <a16:creationId xmlns:a16="http://schemas.microsoft.com/office/drawing/2014/main" id="{BBE87B09-BF81-4D65-A30C-34DE84BE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84" name="value-bg-4-2">
            <a:extLst xmlns:a="http://schemas.openxmlformats.org/drawingml/2006/main">
              <a:ext uri="{FF2B5EF4-FFF2-40B4-BE49-F238E27FC236}">
                <a16:creationId xmlns:a16="http://schemas.microsoft.com/office/drawing/2014/main" id="{7D5697E8-5F96-433A-B7F4-624030C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85" name="value-4-2">
            <a:extLst xmlns:a="http://schemas.openxmlformats.org/drawingml/2006/main">
              <a:ext uri="{FF2B5EF4-FFF2-40B4-BE49-F238E27FC236}">
                <a16:creationId xmlns:a16="http://schemas.microsoft.com/office/drawing/2014/main" id="{4BCD1B2A-E781-4C5F-8460-0CFF9E2B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18,688</a:t>
            </a:r>
          </a:p>
        </p:txBody>
      </p:sp>
      <p:sp>
        <p:nvSpPr>
          <p:cNvPr id="86" name="label-4-3">
            <a:extLst xmlns:a="http://schemas.openxmlformats.org/drawingml/2006/main">
              <a:ext uri="{FF2B5EF4-FFF2-40B4-BE49-F238E27FC236}">
                <a16:creationId xmlns:a16="http://schemas.microsoft.com/office/drawing/2014/main" id="{B2D36307-6F6F-47ED-BF7D-D790EE8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87" name="value-bg-4-3">
            <a:extLst xmlns:a="http://schemas.openxmlformats.org/drawingml/2006/main">
              <a:ext uri="{FF2B5EF4-FFF2-40B4-BE49-F238E27FC236}">
                <a16:creationId xmlns:a16="http://schemas.microsoft.com/office/drawing/2014/main" id="{FFD449C6-FF46-4388-A9EB-71BDF3B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D38A1C"/>
            </a:solidFill>
            <a:prstDash val="solid"/>
          </a:ln>
        </p:spPr>
      </p:sp>
      <p:sp>
        <p:nvSpPr>
          <p:cNvPr id="88" name="value-4-3">
            <a:extLst xmlns:a="http://schemas.openxmlformats.org/drawingml/2006/main">
              <a:ext uri="{FF2B5EF4-FFF2-40B4-BE49-F238E27FC236}">
                <a16:creationId xmlns:a16="http://schemas.microsoft.com/office/drawing/2014/main" id="{A1824789-A828-4901-A9F9-5E8F8734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38A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8A1C"/>
                </a:solidFill>
                <a:latin typeface="Aptos"/>
                <a:ea typeface="Aptos"/>
                <a:cs typeface="Aptos"/>
              </a:rPr>
              <a:t>$1,214,688</a:t>
            </a:r>
          </a:p>
        </p:txBody>
      </p:sp>
      <p:sp>
        <p:nvSpPr>
          <p:cNvPr id="8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288E2A89-8E9F-460C-9215-1C37E414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Values reproduced exactly from the supplied Version 3.0 screenshots.</a:t>
            </a:r>
          </a:p>
        </p:txBody>
      </p:sp>
    </p:spTree>
    <p:extLst>
      <p:ext uri="{BB962C8B-B14F-4D97-AF65-F5344CB8AC3E}">
        <p14:creationId xmlns:p14="http://schemas.microsoft.com/office/powerpoint/2010/main" val="397777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2026-09-10T12:58:24.7660000Z</dcterms:created>
  <dcterms:modified xsi:type="dcterms:W3CDTF">2026-09-10T12:58:24.7660000Z</dcterms:modified>
</coreProperties>
</file>