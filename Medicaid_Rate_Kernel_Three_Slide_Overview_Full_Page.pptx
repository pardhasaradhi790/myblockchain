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0adb56366d4508" /><Relationship Type="http://schemas.openxmlformats.org/officeDocument/2006/relationships/extended-properties" Target="/docProps/app.xml" Id="R93084d15a29c49a2" /><Relationship Type="http://schemas.openxmlformats.org/officeDocument/2006/relationships/officeDocument" Target="/ppt/presentation.xml" Id="Rc2937b8cab924c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71745ad7e942f6"/>
  </p:sldMasterIdLst>
  <p:notesMasterIdLst>
    <p:notesMasterId xmlns:r="http://schemas.openxmlformats.org/officeDocument/2006/relationships" r:id="R8b0dbb73e0d24319"/>
  </p:notesMasterIdLst>
  <p:sldIdLst>
    <p:sldId xmlns:r="http://schemas.openxmlformats.org/officeDocument/2006/relationships" id="256" r:id="Rb119b1dba89142a9"/>
    <p:sldId xmlns:r="http://schemas.openxmlformats.org/officeDocument/2006/relationships" id="257" r:id="R7fdd5ef4dd01455f"/>
    <p:sldId xmlns:r="http://schemas.openxmlformats.org/officeDocument/2006/relationships" id="258" r:id="R75c93b45bdbf46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6d5fb13d334901" /><Relationship Type="http://schemas.openxmlformats.org/officeDocument/2006/relationships/slideMaster" Target="/ppt/slideMasters/slideMaster1.xml" Id="R1a71745ad7e942f6" /><Relationship Type="http://schemas.openxmlformats.org/officeDocument/2006/relationships/notesMaster" Target="/ppt/notesMasters/notesMaster1.xml" Id="R8b0dbb73e0d24319" /><Relationship Type="http://schemas.openxmlformats.org/officeDocument/2006/relationships/presProps" Target="/ppt/presProps.xml" Id="Re60327636b084455" /><Relationship Type="http://schemas.openxmlformats.org/officeDocument/2006/relationships/tableStyles" Target="/ppt/tableStyles.xml" Id="R898ebe5221e942a3" /><Relationship Type="http://schemas.openxmlformats.org/officeDocument/2006/relationships/slide" Target="/ppt/slides/slide1.xml" Id="Rb119b1dba89142a9" /><Relationship Type="http://schemas.openxmlformats.org/officeDocument/2006/relationships/slide" Target="/ppt/slides/slide2.xml" Id="R7fdd5ef4dd01455f" /><Relationship Type="http://schemas.openxmlformats.org/officeDocument/2006/relationships/slide" Target="/ppt/slides/slide3.xml" Id="R75c93b45bdbf46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7346efc8e240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973598146a4cfe" /><Relationship Type="http://schemas.openxmlformats.org/officeDocument/2006/relationships/notesMaster" Target="/ppt/notesMasters/notesMaster1.xml" Id="Rc17600a3fe9547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a2fb0e694143f2" /><Relationship Type="http://schemas.openxmlformats.org/officeDocument/2006/relationships/notesMaster" Target="/ppt/notesMasters/notesMaster1.xml" Id="Rff4b4371cf1246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22431d74a8414b" /><Relationship Type="http://schemas.openxmlformats.org/officeDocument/2006/relationships/notesMaster" Target="/ppt/notesMasters/notesMaster1.xml" Id="R5078fed9cb9a45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bac5f48134f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d152cef1054175" /><Relationship Type="http://schemas.openxmlformats.org/officeDocument/2006/relationships/slideLayout" Target="/ppt/slideLayouts/slideLayout1.xml" Id="Rfd6b34aef16a43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6b34aef16a43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bd0ced82c4cf5" /><Relationship Type="http://schemas.openxmlformats.org/officeDocument/2006/relationships/image" Target="/ppt/media/image.png" Id="Rb320570dbeb64a26" /><Relationship Type="http://schemas.openxmlformats.org/officeDocument/2006/relationships/image" Target="/ppt/media/image2.png" Id="R9949583f110b4359" /><Relationship Type="http://schemas.openxmlformats.org/officeDocument/2006/relationships/image" Target="/ppt/media/image3.png" Id="Ra2a071616910485c" /><Relationship Type="http://schemas.openxmlformats.org/officeDocument/2006/relationships/image" Target="/ppt/media/image4.png" Id="R5382c14e723b4b11" /><Relationship Type="http://schemas.openxmlformats.org/officeDocument/2006/relationships/image" Target="/ppt/media/image5.png" Id="R15b8cf574c234538" /><Relationship Type="http://schemas.openxmlformats.org/officeDocument/2006/relationships/image" Target="/ppt/media/image6.png" Id="R698ef9b0497a405d" /><Relationship Type="http://schemas.openxmlformats.org/officeDocument/2006/relationships/notesSlide" Target="/ppt/notesSlides/notesSlide1.xml" Id="R7e96de40041b4a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dcbb7fe644a84" /><Relationship Type="http://schemas.openxmlformats.org/officeDocument/2006/relationships/image" Target="/ppt/media/image7.png" Id="R2d7d4dc4079a42aa" /><Relationship Type="http://schemas.openxmlformats.org/officeDocument/2006/relationships/image" Target="/ppt/media/image8.png" Id="Raa96bebec08d47ec" /><Relationship Type="http://schemas.openxmlformats.org/officeDocument/2006/relationships/image" Target="/ppt/media/image9.png" Id="Rd27ac74608d745d3" /><Relationship Type="http://schemas.openxmlformats.org/officeDocument/2006/relationships/image" Target="/ppt/media/image10.png" Id="R5fa1567289914fa3" /><Relationship Type="http://schemas.openxmlformats.org/officeDocument/2006/relationships/image" Target="/ppt/media/image11.png" Id="R0ba400967f6e4c6e" /><Relationship Type="http://schemas.openxmlformats.org/officeDocument/2006/relationships/image" Target="/ppt/media/image12.png" Id="Rd7a55dca47934b70" /><Relationship Type="http://schemas.openxmlformats.org/officeDocument/2006/relationships/notesSlide" Target="/ppt/notesSlides/notesSlide2.xml" Id="Rf34b5f2c830040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ef240bde142b8" /><Relationship Type="http://schemas.openxmlformats.org/officeDocument/2006/relationships/image" Target="/ppt/media/image13.png" Id="R5ae769cde2484012" /><Relationship Type="http://schemas.openxmlformats.org/officeDocument/2006/relationships/notesSlide" Target="/ppt/notesSlides/notesSlide3.xml" Id="R5937752309404a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top-band">
            <a:extLst xmlns:a="http://schemas.openxmlformats.org/drawingml/2006/main">
              <a:ext uri="{FF2B5EF4-FFF2-40B4-BE49-F238E27FC236}">
                <a16:creationId xmlns:a16="http://schemas.microsoft.com/office/drawing/2014/main" id="{A7017F4F-AE83-4E00-B050-EA9AF316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71A33"/>
            </a:solidFill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1DF0A8BC-A5E8-4038-B5DF-B5349654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CD964F-60BA-4C6D-AC87-5C252725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Medicaid Rate Kernel - Process Overview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C4B81AD-5CDC-4F21-8034-A369593D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9D8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8E8"/>
                </a:solidFill>
                <a:latin typeface="Aptos"/>
                <a:ea typeface="Aptos"/>
                <a:cs typeface="Aptos"/>
              </a:rPr>
              <a:t>Execution proceeds through five controlled stages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47E5353-2806-4547-9A66-C495ACB8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EA"/>
          </a:solidFill>
          <a:ln xmlns:a="http://schemas.openxmlformats.org/drawingml/2006/main" w="0">
            <a:solidFill>
              <a:srgbClr val="D3DFEA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E25C460-0295-4897-A609-AF5C616E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Medicaid Rate Kernel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1B91770A-DD4A-40B0-A51A-AB2EA3EF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0570dbeb64a26"/>
          <a:stretch xmlns:a="http://schemas.openxmlformats.org/drawingml/2006/main"/>
        </p:blipFill>
        <p:spPr>
          <a:xfrm xmlns:a="http://schemas.openxmlformats.org/drawingml/2006/main">
            <a:off x="10365105" y="6524625"/>
            <a:ext cx="1062990" cy="257175"/>
          </a:xfrm>
          <a:prstGeom xmlns:a="http://schemas.openxmlformats.org/drawingml/2006/main" prst="rect">
            <a:avLst/>
          </a:prstGeom>
        </p:spPr>
      </p:pic>
      <p:sp>
        <p:nvSpPr>
          <p:cNvPr id="9" name="execution-stage-0">
            <a:extLst xmlns:a="http://schemas.openxmlformats.org/drawingml/2006/main">
              <a:ext uri="{FF2B5EF4-FFF2-40B4-BE49-F238E27FC236}">
                <a16:creationId xmlns:a16="http://schemas.microsoft.com/office/drawing/2014/main" id="{17B1AA1A-4B68-4949-8C40-30A08075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81075"/>
            <a:ext cx="21869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10" name="execution-stage-label-0">
            <a:extLst xmlns:a="http://schemas.openxmlformats.org/drawingml/2006/main">
              <a:ext uri="{FF2B5EF4-FFF2-40B4-BE49-F238E27FC236}">
                <a16:creationId xmlns:a16="http://schemas.microsoft.com/office/drawing/2014/main" id="{5B51C101-4C38-46F7-98A3-F7CAF0C6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203454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  File Download</a:t>
            </a:r>
          </a:p>
        </p:txBody>
      </p:sp>
      <p:sp>
        <p:nvSpPr>
          <p:cNvPr id="11" name="execution-stage-1">
            <a:extLst xmlns:a="http://schemas.openxmlformats.org/drawingml/2006/main">
              <a:ext uri="{FF2B5EF4-FFF2-40B4-BE49-F238E27FC236}">
                <a16:creationId xmlns:a16="http://schemas.microsoft.com/office/drawing/2014/main" id="{3C56ED73-67A5-4716-B544-3FC9E1AC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915" y="981075"/>
            <a:ext cx="21869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12" name="execution-stage-label-1">
            <a:extLst xmlns:a="http://schemas.openxmlformats.org/drawingml/2006/main">
              <a:ext uri="{FF2B5EF4-FFF2-40B4-BE49-F238E27FC236}">
                <a16:creationId xmlns:a16="http://schemas.microsoft.com/office/drawing/2014/main" id="{3451CCA6-AE2A-4BA0-80F8-91864F23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115" y="1028700"/>
            <a:ext cx="203454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  File Extraction</a:t>
            </a:r>
          </a:p>
        </p:txBody>
      </p:sp>
      <p:sp>
        <p:nvSpPr>
          <p:cNvPr id="13" name="execution-stage-2">
            <a:extLst xmlns:a="http://schemas.openxmlformats.org/drawingml/2006/main">
              <a:ext uri="{FF2B5EF4-FFF2-40B4-BE49-F238E27FC236}">
                <a16:creationId xmlns:a16="http://schemas.microsoft.com/office/drawing/2014/main" id="{3F5C78FB-1E40-4F00-92D2-128F0A4D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530" y="981075"/>
            <a:ext cx="21869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14" name="execution-stage-label-2">
            <a:extLst xmlns:a="http://schemas.openxmlformats.org/drawingml/2006/main">
              <a:ext uri="{FF2B5EF4-FFF2-40B4-BE49-F238E27FC236}">
                <a16:creationId xmlns:a16="http://schemas.microsoft.com/office/drawing/2014/main" id="{6E487347-6A29-4947-A702-DA79112C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0" y="1028700"/>
            <a:ext cx="203454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  Data Interpretation</a:t>
            </a:r>
          </a:p>
        </p:txBody>
      </p:sp>
      <p:sp>
        <p:nvSpPr>
          <p:cNvPr id="15" name="execution-stage-3">
            <a:extLst xmlns:a="http://schemas.openxmlformats.org/drawingml/2006/main">
              <a:ext uri="{FF2B5EF4-FFF2-40B4-BE49-F238E27FC236}">
                <a16:creationId xmlns:a16="http://schemas.microsoft.com/office/drawing/2014/main" id="{A1EEB4C1-3144-4682-822A-1EA132C4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145" y="981075"/>
            <a:ext cx="21869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16" name="execution-stage-label-3">
            <a:extLst xmlns:a="http://schemas.openxmlformats.org/drawingml/2006/main">
              <a:ext uri="{FF2B5EF4-FFF2-40B4-BE49-F238E27FC236}">
                <a16:creationId xmlns:a16="http://schemas.microsoft.com/office/drawing/2014/main" id="{94CB1CE2-E8AF-4CC5-8D80-2DBA666E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1028700"/>
            <a:ext cx="203454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  Data Comparison</a:t>
            </a:r>
          </a:p>
        </p:txBody>
      </p:sp>
      <p:sp>
        <p:nvSpPr>
          <p:cNvPr id="17" name="execution-stage-4">
            <a:extLst xmlns:a="http://schemas.openxmlformats.org/drawingml/2006/main">
              <a:ext uri="{FF2B5EF4-FFF2-40B4-BE49-F238E27FC236}">
                <a16:creationId xmlns:a16="http://schemas.microsoft.com/office/drawing/2014/main" id="{C2D4F205-759A-4A66-8872-4685BA39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981075"/>
            <a:ext cx="21869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8" name="execution-stage-label-4">
            <a:extLst xmlns:a="http://schemas.openxmlformats.org/drawingml/2006/main">
              <a:ext uri="{FF2B5EF4-FFF2-40B4-BE49-F238E27FC236}">
                <a16:creationId xmlns:a16="http://schemas.microsoft.com/office/drawing/2014/main" id="{EF5F5EF3-ECB3-4552-A6F8-D4F718F5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028700"/>
            <a:ext cx="203454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  Data Load</a:t>
            </a:r>
          </a:p>
        </p:txBody>
      </p:sp>
      <p:sp>
        <p:nvSpPr>
          <p:cNvPr id="19" name="card-0">
            <a:extLst xmlns:a="http://schemas.openxmlformats.org/drawingml/2006/main">
              <a:ext uri="{FF2B5EF4-FFF2-40B4-BE49-F238E27FC236}">
                <a16:creationId xmlns:a16="http://schemas.microsoft.com/office/drawing/2014/main" id="{3AE821CF-7482-410A-B326-53B83CE8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6385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20" name="cap-0">
            <a:extLst xmlns:a="http://schemas.openxmlformats.org/drawingml/2006/main">
              <a:ext uri="{FF2B5EF4-FFF2-40B4-BE49-F238E27FC236}">
                <a16:creationId xmlns:a16="http://schemas.microsoft.com/office/drawing/2014/main" id="{D6D0A9B5-0CED-41F3-B049-6F9F0F58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1381125" cy="2143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1" name="step-0">
            <a:extLst xmlns:a="http://schemas.openxmlformats.org/drawingml/2006/main">
              <a:ext uri="{FF2B5EF4-FFF2-40B4-BE49-F238E27FC236}">
                <a16:creationId xmlns:a16="http://schemas.microsoft.com/office/drawing/2014/main" id="{6AB9D893-D081-4EB0-B16A-47FA6AD0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9583f110b4359"/>
          <a:stretch xmlns:a="http://schemas.openxmlformats.org/drawingml/2006/main"/>
        </p:blipFill>
        <p:spPr>
          <a:xfrm xmlns:a="http://schemas.openxmlformats.org/drawingml/2006/main">
            <a:off x="968275" y="1762125"/>
            <a:ext cx="425649" cy="704850"/>
          </a:xfrm>
          <a:prstGeom xmlns:a="http://schemas.openxmlformats.org/drawingml/2006/main" prst="rect">
            <a:avLst/>
          </a:prstGeom>
        </p:spPr>
      </p:pic>
      <p:sp>
        <p:nvSpPr>
          <p:cNvPr id="23" name="module-0">
            <a:extLst xmlns:a="http://schemas.openxmlformats.org/drawingml/2006/main">
              <a:ext uri="{FF2B5EF4-FFF2-40B4-BE49-F238E27FC236}">
                <a16:creationId xmlns:a16="http://schemas.microsoft.com/office/drawing/2014/main" id="{7AFE6D3D-5B36-4AE1-8286-77E20C9D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Download</a:t>
            </a:r>
          </a:p>
        </p:txBody>
      </p:sp>
      <p:sp>
        <p:nvSpPr>
          <p:cNvPr id="24" name="proc-label-0">
            <a:extLst xmlns:a="http://schemas.openxmlformats.org/drawingml/2006/main">
              <a:ext uri="{FF2B5EF4-FFF2-40B4-BE49-F238E27FC236}">
                <a16:creationId xmlns:a16="http://schemas.microsoft.com/office/drawing/2014/main" id="{70D370A4-84C4-466B-97A9-BF12A73B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ID #</a:t>
            </a:r>
          </a:p>
        </p:txBody>
      </p:sp>
      <p:sp>
        <p:nvSpPr>
          <p:cNvPr id="25" name="proc-0">
            <a:extLst xmlns:a="http://schemas.openxmlformats.org/drawingml/2006/main">
              <a:ext uri="{FF2B5EF4-FFF2-40B4-BE49-F238E27FC236}">
                <a16:creationId xmlns:a16="http://schemas.microsoft.com/office/drawing/2014/main" id="{4176449C-7397-47D0-AA2E-A013C07C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412</a:t>
            </a:r>
          </a:p>
        </p:txBody>
      </p:sp>
      <p:sp>
        <p:nvSpPr>
          <p:cNvPr id="26" name="task-label-0">
            <a:extLst xmlns:a="http://schemas.openxmlformats.org/drawingml/2006/main">
              <a:ext uri="{FF2B5EF4-FFF2-40B4-BE49-F238E27FC236}">
                <a16:creationId xmlns:a16="http://schemas.microsoft.com/office/drawing/2014/main" id="{1E15C3DB-0463-4ED2-AD2A-476C6190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47825"/>
            <a:ext cx="1895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27" name="task-line-0-0">
            <a:extLst xmlns:a="http://schemas.openxmlformats.org/drawingml/2006/main">
              <a:ext uri="{FF2B5EF4-FFF2-40B4-BE49-F238E27FC236}">
                <a16:creationId xmlns:a16="http://schemas.microsoft.com/office/drawing/2014/main" id="{5A1A6C7C-B57A-4AA4-AE65-526C8950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90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8" name="task-0-0">
            <a:extLst xmlns:a="http://schemas.openxmlformats.org/drawingml/2006/main">
              <a:ext uri="{FF2B5EF4-FFF2-40B4-BE49-F238E27FC236}">
                <a16:creationId xmlns:a16="http://schemas.microsoft.com/office/drawing/2014/main" id="{B5118FC6-7461-4EFF-86C8-3DB50195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14525"/>
            <a:ext cx="17240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Discovery</a:t>
            </a:r>
          </a:p>
        </p:txBody>
      </p:sp>
      <p:sp>
        <p:nvSpPr>
          <p:cNvPr id="29" name="task-line-0-1">
            <a:extLst xmlns:a="http://schemas.openxmlformats.org/drawingml/2006/main">
              <a:ext uri="{FF2B5EF4-FFF2-40B4-BE49-F238E27FC236}">
                <a16:creationId xmlns:a16="http://schemas.microsoft.com/office/drawing/2014/main" id="{CA032C6A-990E-4766-A04F-E64F38CA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3183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30" name="task-0-1">
            <a:extLst xmlns:a="http://schemas.openxmlformats.org/drawingml/2006/main">
              <a:ext uri="{FF2B5EF4-FFF2-40B4-BE49-F238E27FC236}">
                <a16:creationId xmlns:a16="http://schemas.microsoft.com/office/drawing/2014/main" id="{A5101396-1DC7-49B6-9BD7-DEC4D3E1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42185"/>
            <a:ext cx="17240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Navigate to Download Location</a:t>
            </a:r>
          </a:p>
        </p:txBody>
      </p:sp>
      <p:sp>
        <p:nvSpPr>
          <p:cNvPr id="31" name="task-line-0-2">
            <a:extLst xmlns:a="http://schemas.openxmlformats.org/drawingml/2006/main">
              <a:ext uri="{FF2B5EF4-FFF2-40B4-BE49-F238E27FC236}">
                <a16:creationId xmlns:a16="http://schemas.microsoft.com/office/drawing/2014/main" id="{E9FE69D5-F828-435C-A6D2-AA5B7246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460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32" name="task-0-2">
            <a:extLst xmlns:a="http://schemas.openxmlformats.org/drawingml/2006/main">
              <a:ext uri="{FF2B5EF4-FFF2-40B4-BE49-F238E27FC236}">
                <a16:creationId xmlns:a16="http://schemas.microsoft.com/office/drawing/2014/main" id="{5E0BA509-13F7-4DC0-8973-56231965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69845"/>
            <a:ext cx="17240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Availability Validation</a:t>
            </a:r>
          </a:p>
        </p:txBody>
      </p:sp>
      <p:sp>
        <p:nvSpPr>
          <p:cNvPr id="33" name="task-line-0-3">
            <a:extLst xmlns:a="http://schemas.openxmlformats.org/drawingml/2006/main">
              <a:ext uri="{FF2B5EF4-FFF2-40B4-BE49-F238E27FC236}">
                <a16:creationId xmlns:a16="http://schemas.microsoft.com/office/drawing/2014/main" id="{596CAF8A-8B3F-4413-B139-51FD6C37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9737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34" name="task-0-3">
            <a:extLst xmlns:a="http://schemas.openxmlformats.org/drawingml/2006/main">
              <a:ext uri="{FF2B5EF4-FFF2-40B4-BE49-F238E27FC236}">
                <a16:creationId xmlns:a16="http://schemas.microsoft.com/office/drawing/2014/main" id="{DEE72251-65C7-4AC9-BDCB-6A77293A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97505"/>
            <a:ext cx="17240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Download</a:t>
            </a:r>
          </a:p>
        </p:txBody>
      </p:sp>
      <p:sp>
        <p:nvSpPr>
          <p:cNvPr id="35" name="task-line-0-4">
            <a:extLst xmlns:a="http://schemas.openxmlformats.org/drawingml/2006/main">
              <a:ext uri="{FF2B5EF4-FFF2-40B4-BE49-F238E27FC236}">
                <a16:creationId xmlns:a16="http://schemas.microsoft.com/office/drawing/2014/main" id="{648CD316-F6D0-4FE1-9315-17B16F06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013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36" name="task-0-4">
            <a:extLst xmlns:a="http://schemas.openxmlformats.org/drawingml/2006/main">
              <a:ext uri="{FF2B5EF4-FFF2-40B4-BE49-F238E27FC236}">
                <a16:creationId xmlns:a16="http://schemas.microsoft.com/office/drawing/2014/main" id="{A7C2A760-DB9B-4369-AF6E-154518D1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25165"/>
            <a:ext cx="17240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Post Validation</a:t>
            </a:r>
          </a:p>
        </p:txBody>
      </p:sp>
      <p:sp>
        <p:nvSpPr>
          <p:cNvPr id="37" name="card-1">
            <a:extLst xmlns:a="http://schemas.openxmlformats.org/drawingml/2006/main">
              <a:ext uri="{FF2B5EF4-FFF2-40B4-BE49-F238E27FC236}">
                <a16:creationId xmlns:a16="http://schemas.microsoft.com/office/drawing/2014/main" id="{4D0FC849-7008-412B-B1FA-A45C94A9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6385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38" name="cap-1">
            <a:extLst xmlns:a="http://schemas.openxmlformats.org/drawingml/2006/main">
              <a:ext uri="{FF2B5EF4-FFF2-40B4-BE49-F238E27FC236}">
                <a16:creationId xmlns:a16="http://schemas.microsoft.com/office/drawing/2014/main" id="{49824F42-0E74-4664-A6C4-EC1BDFA2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1381125" cy="2143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39" name="step-1">
            <a:extLst xmlns:a="http://schemas.openxmlformats.org/drawingml/2006/main">
              <a:ext uri="{FF2B5EF4-FFF2-40B4-BE49-F238E27FC236}">
                <a16:creationId xmlns:a16="http://schemas.microsoft.com/office/drawing/2014/main" id="{64BD365A-E9AD-4974-B511-2C8DCDA8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5716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071616910485c"/>
          <a:stretch xmlns:a="http://schemas.openxmlformats.org/drawingml/2006/main"/>
        </p:blipFill>
        <p:spPr>
          <a:xfrm xmlns:a="http://schemas.openxmlformats.org/drawingml/2006/main">
            <a:off x="4735961" y="1762125"/>
            <a:ext cx="434078" cy="704850"/>
          </a:xfrm>
          <a:prstGeom xmlns:a="http://schemas.openxmlformats.org/drawingml/2006/main" prst="rect">
            <a:avLst/>
          </a:prstGeom>
        </p:spPr>
      </p:pic>
      <p:sp>
        <p:nvSpPr>
          <p:cNvPr id="41" name="module-1">
            <a:extLst xmlns:a="http://schemas.openxmlformats.org/drawingml/2006/main">
              <a:ext uri="{FF2B5EF4-FFF2-40B4-BE49-F238E27FC236}">
                <a16:creationId xmlns:a16="http://schemas.microsoft.com/office/drawing/2014/main" id="{F41DA8E9-0EE3-4E1C-8BBC-E91E48BE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4600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Extraction</a:t>
            </a:r>
          </a:p>
        </p:txBody>
      </p:sp>
      <p:sp>
        <p:nvSpPr>
          <p:cNvPr id="42" name="proc-label-1">
            <a:extLst xmlns:a="http://schemas.openxmlformats.org/drawingml/2006/main">
              <a:ext uri="{FF2B5EF4-FFF2-40B4-BE49-F238E27FC236}">
                <a16:creationId xmlns:a16="http://schemas.microsoft.com/office/drawing/2014/main" id="{C96191EB-B035-4D6F-AE54-7E655353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ID #</a:t>
            </a:r>
          </a:p>
        </p:txBody>
      </p:sp>
      <p:sp>
        <p:nvSpPr>
          <p:cNvPr id="43" name="proc-1">
            <a:extLst xmlns:a="http://schemas.openxmlformats.org/drawingml/2006/main">
              <a:ext uri="{FF2B5EF4-FFF2-40B4-BE49-F238E27FC236}">
                <a16:creationId xmlns:a16="http://schemas.microsoft.com/office/drawing/2014/main" id="{44B4D3E8-BD64-4F44-87FE-F13964B5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413</a:t>
            </a:r>
          </a:p>
        </p:txBody>
      </p:sp>
      <p:sp>
        <p:nvSpPr>
          <p:cNvPr id="44" name="task-label-1">
            <a:extLst xmlns:a="http://schemas.openxmlformats.org/drawingml/2006/main">
              <a:ext uri="{FF2B5EF4-FFF2-40B4-BE49-F238E27FC236}">
                <a16:creationId xmlns:a16="http://schemas.microsoft.com/office/drawing/2014/main" id="{38956AC2-2A78-4AF5-A74A-6EB06556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647825"/>
            <a:ext cx="1895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4865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865F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45" name="task-line-1-0">
            <a:extLst xmlns:a="http://schemas.openxmlformats.org/drawingml/2006/main">
              <a:ext uri="{FF2B5EF4-FFF2-40B4-BE49-F238E27FC236}">
                <a16:creationId xmlns:a16="http://schemas.microsoft.com/office/drawing/2014/main" id="{6503793A-2C7A-41E7-AEFB-8FAADEF1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990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46" name="task-1-0">
            <a:extLst xmlns:a="http://schemas.openxmlformats.org/drawingml/2006/main">
              <a:ext uri="{FF2B5EF4-FFF2-40B4-BE49-F238E27FC236}">
                <a16:creationId xmlns:a16="http://schemas.microsoft.com/office/drawing/2014/main" id="{CC8B8384-67F4-4777-9612-D75DFB18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14525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Identify Relevant Data</a:t>
            </a:r>
          </a:p>
        </p:txBody>
      </p:sp>
      <p:sp>
        <p:nvSpPr>
          <p:cNvPr id="47" name="task-line-1-1">
            <a:extLst xmlns:a="http://schemas.openxmlformats.org/drawingml/2006/main">
              <a:ext uri="{FF2B5EF4-FFF2-40B4-BE49-F238E27FC236}">
                <a16:creationId xmlns:a16="http://schemas.microsoft.com/office/drawing/2014/main" id="{CC0598BF-D2AB-457F-ABC2-6F74EAB9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48" name="task-1-1">
            <a:extLst xmlns:a="http://schemas.openxmlformats.org/drawingml/2006/main">
              <a:ext uri="{FF2B5EF4-FFF2-40B4-BE49-F238E27FC236}">
                <a16:creationId xmlns:a16="http://schemas.microsoft.com/office/drawing/2014/main" id="{EECA0F30-C911-4C41-9739-35B13D60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324100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Extract Required Data</a:t>
            </a:r>
          </a:p>
        </p:txBody>
      </p:sp>
      <p:sp>
        <p:nvSpPr>
          <p:cNvPr id="49" name="task-line-1-2">
            <a:extLst xmlns:a="http://schemas.openxmlformats.org/drawingml/2006/main">
              <a:ext uri="{FF2B5EF4-FFF2-40B4-BE49-F238E27FC236}">
                <a16:creationId xmlns:a16="http://schemas.microsoft.com/office/drawing/2014/main" id="{E30AD855-9821-4D0F-8DCB-BFAAA0A5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50" name="task-1-2">
            <a:extLst xmlns:a="http://schemas.openxmlformats.org/drawingml/2006/main">
              <a:ext uri="{FF2B5EF4-FFF2-40B4-BE49-F238E27FC236}">
                <a16:creationId xmlns:a16="http://schemas.microsoft.com/office/drawing/2014/main" id="{7F646C86-6439-4A9C-A86B-01B63084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733675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Transform &amp; Standardize Data</a:t>
            </a:r>
          </a:p>
        </p:txBody>
      </p:sp>
      <p:sp>
        <p:nvSpPr>
          <p:cNvPr id="51" name="task-line-1-3">
            <a:extLst xmlns:a="http://schemas.openxmlformats.org/drawingml/2006/main">
              <a:ext uri="{FF2B5EF4-FFF2-40B4-BE49-F238E27FC236}">
                <a16:creationId xmlns:a16="http://schemas.microsoft.com/office/drawing/2014/main" id="{AF891136-694E-4680-BD3F-0DDDAB57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52" name="task-1-3">
            <a:extLst xmlns:a="http://schemas.openxmlformats.org/drawingml/2006/main">
              <a:ext uri="{FF2B5EF4-FFF2-40B4-BE49-F238E27FC236}">
                <a16:creationId xmlns:a16="http://schemas.microsoft.com/office/drawing/2014/main" id="{80A6BD7F-1276-444E-9B24-A7F043FC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43250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Data Validation</a:t>
            </a:r>
          </a:p>
        </p:txBody>
      </p:sp>
      <p:sp>
        <p:nvSpPr>
          <p:cNvPr id="53" name="card-2">
            <a:extLst xmlns:a="http://schemas.openxmlformats.org/drawingml/2006/main">
              <a:ext uri="{FF2B5EF4-FFF2-40B4-BE49-F238E27FC236}">
                <a16:creationId xmlns:a16="http://schemas.microsoft.com/office/drawing/2014/main" id="{55BCF8C2-569A-4EAA-9711-0901F7C4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6385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54" name="cap-2">
            <a:extLst xmlns:a="http://schemas.openxmlformats.org/drawingml/2006/main">
              <a:ext uri="{FF2B5EF4-FFF2-40B4-BE49-F238E27FC236}">
                <a16:creationId xmlns:a16="http://schemas.microsoft.com/office/drawing/2014/main" id="{6E9FA3DA-E3BB-466D-9C4E-F286104D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1381125" cy="2143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55" name="step-2">
            <a:extLst xmlns:a="http://schemas.openxmlformats.org/drawingml/2006/main">
              <a:ext uri="{FF2B5EF4-FFF2-40B4-BE49-F238E27FC236}">
                <a16:creationId xmlns:a16="http://schemas.microsoft.com/office/drawing/2014/main" id="{446A735A-2123-427A-8E47-252BE007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5716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2c14e723b4b11"/>
          <a:stretch xmlns:a="http://schemas.openxmlformats.org/drawingml/2006/main"/>
        </p:blipFill>
        <p:spPr>
          <a:xfrm xmlns:a="http://schemas.openxmlformats.org/drawingml/2006/main">
            <a:off x="8503670" y="1762125"/>
            <a:ext cx="442461" cy="704850"/>
          </a:xfrm>
          <a:prstGeom xmlns:a="http://schemas.openxmlformats.org/drawingml/2006/main" prst="rect">
            <a:avLst/>
          </a:prstGeom>
        </p:spPr>
      </p:pic>
      <p:sp>
        <p:nvSpPr>
          <p:cNvPr id="57" name="module-2">
            <a:extLst xmlns:a="http://schemas.openxmlformats.org/drawingml/2006/main">
              <a:ext uri="{FF2B5EF4-FFF2-40B4-BE49-F238E27FC236}">
                <a16:creationId xmlns:a16="http://schemas.microsoft.com/office/drawing/2014/main" id="{E46BB25E-D66B-456B-9C1D-7282E689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14600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58" name="proc-label-2">
            <a:extLst xmlns:a="http://schemas.openxmlformats.org/drawingml/2006/main">
              <a:ext uri="{FF2B5EF4-FFF2-40B4-BE49-F238E27FC236}">
                <a16:creationId xmlns:a16="http://schemas.microsoft.com/office/drawing/2014/main" id="{E8613F83-4090-4EDB-8F88-DFCDE10C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ID #</a:t>
            </a:r>
          </a:p>
        </p:txBody>
      </p:sp>
      <p:sp>
        <p:nvSpPr>
          <p:cNvPr id="59" name="proc-2">
            <a:extLst xmlns:a="http://schemas.openxmlformats.org/drawingml/2006/main">
              <a:ext uri="{FF2B5EF4-FFF2-40B4-BE49-F238E27FC236}">
                <a16:creationId xmlns:a16="http://schemas.microsoft.com/office/drawing/2014/main" id="{2EA7E061-630A-41E0-B523-F1514C1E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413</a:t>
            </a:r>
          </a:p>
        </p:txBody>
      </p:sp>
      <p:sp>
        <p:nvSpPr>
          <p:cNvPr id="60" name="task-label-2">
            <a:extLst xmlns:a="http://schemas.openxmlformats.org/drawingml/2006/main">
              <a:ext uri="{FF2B5EF4-FFF2-40B4-BE49-F238E27FC236}">
                <a16:creationId xmlns:a16="http://schemas.microsoft.com/office/drawing/2014/main" id="{325642BE-B2D8-4E94-9752-D6FD7DB6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647825"/>
            <a:ext cx="1895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048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048C2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61" name="task-line-2-0">
            <a:extLst xmlns:a="http://schemas.openxmlformats.org/drawingml/2006/main">
              <a:ext uri="{FF2B5EF4-FFF2-40B4-BE49-F238E27FC236}">
                <a16:creationId xmlns:a16="http://schemas.microsoft.com/office/drawing/2014/main" id="{BCE17C5E-C6AE-4453-8299-7ED0E759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990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62" name="task-2-0">
            <a:extLst xmlns:a="http://schemas.openxmlformats.org/drawingml/2006/main">
              <a:ext uri="{FF2B5EF4-FFF2-40B4-BE49-F238E27FC236}">
                <a16:creationId xmlns:a16="http://schemas.microsoft.com/office/drawing/2014/main" id="{5679E965-4047-4749-9825-B683E6E4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914525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Data Parsing</a:t>
            </a:r>
          </a:p>
        </p:txBody>
      </p:sp>
      <p:sp>
        <p:nvSpPr>
          <p:cNvPr id="63" name="task-line-2-1">
            <a:extLst xmlns:a="http://schemas.openxmlformats.org/drawingml/2006/main">
              <a:ext uri="{FF2B5EF4-FFF2-40B4-BE49-F238E27FC236}">
                <a16:creationId xmlns:a16="http://schemas.microsoft.com/office/drawing/2014/main" id="{9D34D4F2-EEC3-41F1-99C2-FCD6E5E4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2247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64" name="task-2-1">
            <a:extLst xmlns:a="http://schemas.openxmlformats.org/drawingml/2006/main">
              <a:ext uri="{FF2B5EF4-FFF2-40B4-BE49-F238E27FC236}">
                <a16:creationId xmlns:a16="http://schemas.microsoft.com/office/drawing/2014/main" id="{9DDABA7B-31FD-4381-9317-D396B9E7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48568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Understand Data Context</a:t>
            </a:r>
          </a:p>
        </p:txBody>
      </p:sp>
      <p:sp>
        <p:nvSpPr>
          <p:cNvPr id="65" name="task-line-2-2">
            <a:extLst xmlns:a="http://schemas.openxmlformats.org/drawingml/2006/main">
              <a:ext uri="{FF2B5EF4-FFF2-40B4-BE49-F238E27FC236}">
                <a16:creationId xmlns:a16="http://schemas.microsoft.com/office/drawing/2014/main" id="{0C4E1A56-586E-44C5-9526-5D1348B4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5881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66" name="task-2-2">
            <a:extLst xmlns:a="http://schemas.openxmlformats.org/drawingml/2006/main">
              <a:ext uri="{FF2B5EF4-FFF2-40B4-BE49-F238E27FC236}">
                <a16:creationId xmlns:a16="http://schemas.microsoft.com/office/drawing/2014/main" id="{84B6C338-8AEE-44E8-9EFE-27A0D88C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2611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Analyze Data Patterns</a:t>
            </a:r>
          </a:p>
        </p:txBody>
      </p:sp>
      <p:sp>
        <p:nvSpPr>
          <p:cNvPr id="67" name="task-line-2-3">
            <a:extLst xmlns:a="http://schemas.openxmlformats.org/drawingml/2006/main">
              <a:ext uri="{FF2B5EF4-FFF2-40B4-BE49-F238E27FC236}">
                <a16:creationId xmlns:a16="http://schemas.microsoft.com/office/drawing/2014/main" id="{42CA9821-DE05-4CB6-BCDF-E27F1835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9285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68" name="task-2-3">
            <a:extLst xmlns:a="http://schemas.openxmlformats.org/drawingml/2006/main">
              <a:ext uri="{FF2B5EF4-FFF2-40B4-BE49-F238E27FC236}">
                <a16:creationId xmlns:a16="http://schemas.microsoft.com/office/drawing/2014/main" id="{4FF4815C-821F-43C4-818D-48000608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616654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Apply Business Rules from SOP</a:t>
            </a:r>
          </a:p>
        </p:txBody>
      </p:sp>
      <p:sp>
        <p:nvSpPr>
          <p:cNvPr id="69" name="task-line-2-4">
            <a:extLst xmlns:a="http://schemas.openxmlformats.org/drawingml/2006/main">
              <a:ext uri="{FF2B5EF4-FFF2-40B4-BE49-F238E27FC236}">
                <a16:creationId xmlns:a16="http://schemas.microsoft.com/office/drawing/2014/main" id="{C6655615-8383-40B3-B71E-79BFF075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2689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70" name="task-2-4">
            <a:extLst xmlns:a="http://schemas.openxmlformats.org/drawingml/2006/main">
              <a:ext uri="{FF2B5EF4-FFF2-40B4-BE49-F238E27FC236}">
                <a16:creationId xmlns:a16="http://schemas.microsoft.com/office/drawing/2014/main" id="{C4FEE1DB-7220-48E5-BEAC-CE7905B2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850696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Derive Insights from New File</a:t>
            </a:r>
          </a:p>
        </p:txBody>
      </p:sp>
      <p:sp>
        <p:nvSpPr>
          <p:cNvPr id="71" name="task-line-2-5">
            <a:extLst xmlns:a="http://schemas.openxmlformats.org/drawingml/2006/main">
              <a:ext uri="{FF2B5EF4-FFF2-40B4-BE49-F238E27FC236}">
                <a16:creationId xmlns:a16="http://schemas.microsoft.com/office/drawing/2014/main" id="{7B21E839-CB4B-4002-8A50-BC323001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16093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72" name="task-2-5">
            <a:extLst xmlns:a="http://schemas.openxmlformats.org/drawingml/2006/main">
              <a:ext uri="{FF2B5EF4-FFF2-40B4-BE49-F238E27FC236}">
                <a16:creationId xmlns:a16="http://schemas.microsoft.com/office/drawing/2014/main" id="{5B1CB2DA-0291-4B93-B838-CEABC952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084739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Validate Findings and Make Decisions</a:t>
            </a:r>
          </a:p>
        </p:txBody>
      </p:sp>
      <p:sp>
        <p:nvSpPr>
          <p:cNvPr id="73" name="task-line-2-6">
            <a:extLst xmlns:a="http://schemas.openxmlformats.org/drawingml/2006/main">
              <a:ext uri="{FF2B5EF4-FFF2-40B4-BE49-F238E27FC236}">
                <a16:creationId xmlns:a16="http://schemas.microsoft.com/office/drawing/2014/main" id="{6CA5614F-6775-444C-BF95-5B8B86F6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9498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74" name="task-2-6">
            <a:extLst xmlns:a="http://schemas.openxmlformats.org/drawingml/2006/main">
              <a:ext uri="{FF2B5EF4-FFF2-40B4-BE49-F238E27FC236}">
                <a16:creationId xmlns:a16="http://schemas.microsoft.com/office/drawing/2014/main" id="{40EB9FE1-D465-406D-849C-6DA5E0E2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318782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Modify Existing SOP Rules</a:t>
            </a:r>
          </a:p>
        </p:txBody>
      </p:sp>
      <p:sp>
        <p:nvSpPr>
          <p:cNvPr id="75" name="card-3">
            <a:extLst xmlns:a="http://schemas.openxmlformats.org/drawingml/2006/main">
              <a:ext uri="{FF2B5EF4-FFF2-40B4-BE49-F238E27FC236}">
                <a16:creationId xmlns:a16="http://schemas.microsoft.com/office/drawing/2014/main" id="{8F7FDCC0-8801-4B7F-838D-120B64C6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5486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76" name="cap-3">
            <a:extLst xmlns:a="http://schemas.openxmlformats.org/drawingml/2006/main">
              <a:ext uri="{FF2B5EF4-FFF2-40B4-BE49-F238E27FC236}">
                <a16:creationId xmlns:a16="http://schemas.microsoft.com/office/drawing/2014/main" id="{414DE4CB-AA64-4FDA-8E4F-0DABA563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1381125" cy="23336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77" name="step-3">
            <a:extLst xmlns:a="http://schemas.openxmlformats.org/drawingml/2006/main">
              <a:ext uri="{FF2B5EF4-FFF2-40B4-BE49-F238E27FC236}">
                <a16:creationId xmlns:a16="http://schemas.microsoft.com/office/drawing/2014/main" id="{89FD81E0-46B0-42DB-A2BC-DB051365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8cf574c234538"/>
          <a:stretch xmlns:a="http://schemas.openxmlformats.org/drawingml/2006/main"/>
        </p:blipFill>
        <p:spPr>
          <a:xfrm xmlns:a="http://schemas.openxmlformats.org/drawingml/2006/main">
            <a:off x="951096" y="4019550"/>
            <a:ext cx="460007" cy="704850"/>
          </a:xfrm>
          <a:prstGeom xmlns:a="http://schemas.openxmlformats.org/drawingml/2006/main" prst="rect">
            <a:avLst/>
          </a:prstGeom>
        </p:spPr>
      </p:pic>
      <p:sp>
        <p:nvSpPr>
          <p:cNvPr id="79" name="module-3">
            <a:extLst xmlns:a="http://schemas.openxmlformats.org/drawingml/2006/main">
              <a:ext uri="{FF2B5EF4-FFF2-40B4-BE49-F238E27FC236}">
                <a16:creationId xmlns:a16="http://schemas.microsoft.com/office/drawing/2014/main" id="{EC6F0E2F-332A-4E78-AD62-67436D58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80" name="proc-label-3">
            <a:extLst xmlns:a="http://schemas.openxmlformats.org/drawingml/2006/main">
              <a:ext uri="{FF2B5EF4-FFF2-40B4-BE49-F238E27FC236}">
                <a16:creationId xmlns:a16="http://schemas.microsoft.com/office/drawing/2014/main" id="{68270961-E0C4-4967-B696-8C79BA66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ID #</a:t>
            </a:r>
          </a:p>
        </p:txBody>
      </p:sp>
      <p:sp>
        <p:nvSpPr>
          <p:cNvPr id="81" name="proc-3">
            <a:extLst xmlns:a="http://schemas.openxmlformats.org/drawingml/2006/main">
              <a:ext uri="{FF2B5EF4-FFF2-40B4-BE49-F238E27FC236}">
                <a16:creationId xmlns:a16="http://schemas.microsoft.com/office/drawing/2014/main" id="{A14F00C4-649A-4C6A-87DB-B55AC05E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413</a:t>
            </a:r>
          </a:p>
        </p:txBody>
      </p:sp>
      <p:sp>
        <p:nvSpPr>
          <p:cNvPr id="82" name="task-label-3">
            <a:extLst xmlns:a="http://schemas.openxmlformats.org/drawingml/2006/main">
              <a:ext uri="{FF2B5EF4-FFF2-40B4-BE49-F238E27FC236}">
                <a16:creationId xmlns:a16="http://schemas.microsoft.com/office/drawing/2014/main" id="{FEEBA109-F1BE-47CB-9BBD-38CD734D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05250"/>
            <a:ext cx="3743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EA7C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A7CF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83" name="task-line-3-0">
            <a:extLst xmlns:a="http://schemas.openxmlformats.org/drawingml/2006/main">
              <a:ext uri="{FF2B5EF4-FFF2-40B4-BE49-F238E27FC236}">
                <a16:creationId xmlns:a16="http://schemas.microsoft.com/office/drawing/2014/main" id="{A07E62C6-AE31-4918-A1F8-00E9493F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84" name="task-3-0">
            <a:extLst xmlns:a="http://schemas.openxmlformats.org/drawingml/2006/main">
              <a:ext uri="{FF2B5EF4-FFF2-40B4-BE49-F238E27FC236}">
                <a16:creationId xmlns:a16="http://schemas.microsoft.com/office/drawing/2014/main" id="{D170D36E-3C3E-42BA-AD41-317EAAA7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719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DB Schema Setup</a:t>
            </a:r>
          </a:p>
        </p:txBody>
      </p:sp>
      <p:sp>
        <p:nvSpPr>
          <p:cNvPr id="85" name="task-line-3-1">
            <a:extLst xmlns:a="http://schemas.openxmlformats.org/drawingml/2006/main">
              <a:ext uri="{FF2B5EF4-FFF2-40B4-BE49-F238E27FC236}">
                <a16:creationId xmlns:a16="http://schemas.microsoft.com/office/drawing/2014/main" id="{6061964A-0C36-49B0-8924-B58CC9D5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86" name="task-3-1">
            <a:extLst xmlns:a="http://schemas.openxmlformats.org/drawingml/2006/main">
              <a:ext uri="{FF2B5EF4-FFF2-40B4-BE49-F238E27FC236}">
                <a16:creationId xmlns:a16="http://schemas.microsoft.com/office/drawing/2014/main" id="{E9144563-7CC4-44D9-8261-B7A8A9B2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005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Identify Data Sources</a:t>
            </a:r>
          </a:p>
        </p:txBody>
      </p:sp>
      <p:sp>
        <p:nvSpPr>
          <p:cNvPr id="87" name="task-line-3-2">
            <a:extLst xmlns:a="http://schemas.openxmlformats.org/drawingml/2006/main">
              <a:ext uri="{FF2B5EF4-FFF2-40B4-BE49-F238E27FC236}">
                <a16:creationId xmlns:a16="http://schemas.microsoft.com/office/drawing/2014/main" id="{EEA13676-CC11-49C0-93AD-E4BC35D7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88" name="task-3-2">
            <a:extLst xmlns:a="http://schemas.openxmlformats.org/drawingml/2006/main">
              <a:ext uri="{FF2B5EF4-FFF2-40B4-BE49-F238E27FC236}">
                <a16:creationId xmlns:a16="http://schemas.microsoft.com/office/drawing/2014/main" id="{3AB2F020-24D9-4EE7-BC21-BC0A7706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291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Define Comparison Criteria</a:t>
            </a:r>
          </a:p>
        </p:txBody>
      </p:sp>
      <p:sp>
        <p:nvSpPr>
          <p:cNvPr id="89" name="task-line-3-3">
            <a:extLst xmlns:a="http://schemas.openxmlformats.org/drawingml/2006/main">
              <a:ext uri="{FF2B5EF4-FFF2-40B4-BE49-F238E27FC236}">
                <a16:creationId xmlns:a16="http://schemas.microsoft.com/office/drawing/2014/main" id="{264419DA-BBE1-4719-93BB-73DE17D3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3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90" name="task-3-3">
            <a:extLst xmlns:a="http://schemas.openxmlformats.org/drawingml/2006/main">
              <a:ext uri="{FF2B5EF4-FFF2-40B4-BE49-F238E27FC236}">
                <a16:creationId xmlns:a16="http://schemas.microsoft.com/office/drawing/2014/main" id="{078A28F4-0404-42AE-9979-5BC83214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577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Perform Data Matching</a:t>
            </a:r>
          </a:p>
        </p:txBody>
      </p:sp>
      <p:sp>
        <p:nvSpPr>
          <p:cNvPr id="91" name="task-line-3-4">
            <a:extLst xmlns:a="http://schemas.openxmlformats.org/drawingml/2006/main">
              <a:ext uri="{FF2B5EF4-FFF2-40B4-BE49-F238E27FC236}">
                <a16:creationId xmlns:a16="http://schemas.microsoft.com/office/drawing/2014/main" id="{14F45DE1-0F71-4456-84B9-4A8B538D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16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92" name="task-3-4">
            <a:extLst xmlns:a="http://schemas.openxmlformats.org/drawingml/2006/main">
              <a:ext uri="{FF2B5EF4-FFF2-40B4-BE49-F238E27FC236}">
                <a16:creationId xmlns:a16="http://schemas.microsoft.com/office/drawing/2014/main" id="{841781D2-DFBC-450F-91CE-848D504E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863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Analyze Variances and Make Decisions</a:t>
            </a:r>
          </a:p>
        </p:txBody>
      </p:sp>
      <p:sp>
        <p:nvSpPr>
          <p:cNvPr id="93" name="task-line-3-5">
            <a:extLst xmlns:a="http://schemas.openxmlformats.org/drawingml/2006/main">
              <a:ext uri="{FF2B5EF4-FFF2-40B4-BE49-F238E27FC236}">
                <a16:creationId xmlns:a16="http://schemas.microsoft.com/office/drawing/2014/main" id="{DB25D385-E3EF-4540-AC9C-CE7503D3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9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94" name="task-3-5">
            <a:extLst xmlns:a="http://schemas.openxmlformats.org/drawingml/2006/main">
              <a:ext uri="{FF2B5EF4-FFF2-40B4-BE49-F238E27FC236}">
                <a16:creationId xmlns:a16="http://schemas.microsoft.com/office/drawing/2014/main" id="{190F4BE9-E089-4443-9ECC-164554CF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149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Identify Exceptions</a:t>
            </a:r>
          </a:p>
        </p:txBody>
      </p:sp>
      <p:sp>
        <p:nvSpPr>
          <p:cNvPr id="95" name="task-line-3-6">
            <a:extLst xmlns:a="http://schemas.openxmlformats.org/drawingml/2006/main">
              <a:ext uri="{FF2B5EF4-FFF2-40B4-BE49-F238E27FC236}">
                <a16:creationId xmlns:a16="http://schemas.microsoft.com/office/drawing/2014/main" id="{1F2EC4A0-972A-4662-B93D-5E29E48C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96" name="task-3-6">
            <a:extLst xmlns:a="http://schemas.openxmlformats.org/drawingml/2006/main">
              <a:ext uri="{FF2B5EF4-FFF2-40B4-BE49-F238E27FC236}">
                <a16:creationId xmlns:a16="http://schemas.microsoft.com/office/drawing/2014/main" id="{1C76FECC-866F-469C-A9AC-9F6ED683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5435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Validate Final Results</a:t>
            </a:r>
          </a:p>
        </p:txBody>
      </p:sp>
      <p:sp>
        <p:nvSpPr>
          <p:cNvPr id="97" name="task-line-3-7">
            <a:extLst xmlns:a="http://schemas.openxmlformats.org/drawingml/2006/main">
              <a:ext uri="{FF2B5EF4-FFF2-40B4-BE49-F238E27FC236}">
                <a16:creationId xmlns:a16="http://schemas.microsoft.com/office/drawing/2014/main" id="{FFFD9165-019B-4D35-9714-3B701653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48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98" name="task-3-7">
            <a:extLst xmlns:a="http://schemas.openxmlformats.org/drawingml/2006/main">
              <a:ext uri="{FF2B5EF4-FFF2-40B4-BE49-F238E27FC236}">
                <a16:creationId xmlns:a16="http://schemas.microsoft.com/office/drawing/2014/main" id="{0E29D234-766E-4D59-BDA0-3400DB10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721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Review / Approve (Human in the Loop)</a:t>
            </a:r>
          </a:p>
        </p:txBody>
      </p:sp>
      <p:sp>
        <p:nvSpPr>
          <p:cNvPr id="99" name="card-4">
            <a:extLst xmlns:a="http://schemas.openxmlformats.org/drawingml/2006/main">
              <a:ext uri="{FF2B5EF4-FFF2-40B4-BE49-F238E27FC236}">
                <a16:creationId xmlns:a16="http://schemas.microsoft.com/office/drawing/2014/main" id="{352CBED1-74E9-4FA6-9D1E-52690B01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33800"/>
            <a:ext cx="5486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00" name="cap-4">
            <a:extLst xmlns:a="http://schemas.openxmlformats.org/drawingml/2006/main">
              <a:ext uri="{FF2B5EF4-FFF2-40B4-BE49-F238E27FC236}">
                <a16:creationId xmlns:a16="http://schemas.microsoft.com/office/drawing/2014/main" id="{3F91C471-3313-4954-A7B4-5FE2FF5C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33800"/>
            <a:ext cx="1381125" cy="23336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01" name="step-4">
            <a:extLst xmlns:a="http://schemas.openxmlformats.org/drawingml/2006/main">
              <a:ext uri="{FF2B5EF4-FFF2-40B4-BE49-F238E27FC236}">
                <a16:creationId xmlns:a16="http://schemas.microsoft.com/office/drawing/2014/main" id="{FAF11D22-2D37-4073-9F7C-FAD6D71B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29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ef9b0497a405d"/>
          <a:stretch xmlns:a="http://schemas.openxmlformats.org/drawingml/2006/main"/>
        </p:blipFill>
        <p:spPr>
          <a:xfrm xmlns:a="http://schemas.openxmlformats.org/drawingml/2006/main">
            <a:off x="6566647" y="4019550"/>
            <a:ext cx="468406" cy="704850"/>
          </a:xfrm>
          <a:prstGeom xmlns:a="http://schemas.openxmlformats.org/drawingml/2006/main" prst="rect">
            <a:avLst/>
          </a:prstGeom>
        </p:spPr>
      </p:pic>
      <p:sp>
        <p:nvSpPr>
          <p:cNvPr id="103" name="module-4">
            <a:extLst xmlns:a="http://schemas.openxmlformats.org/drawingml/2006/main">
              <a:ext uri="{FF2B5EF4-FFF2-40B4-BE49-F238E27FC236}">
                <a16:creationId xmlns:a16="http://schemas.microsoft.com/office/drawing/2014/main" id="{A5A626E7-792C-4C9A-B217-4A8035DF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7202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Load</a:t>
            </a:r>
          </a:p>
        </p:txBody>
      </p:sp>
      <p:sp>
        <p:nvSpPr>
          <p:cNvPr id="104" name="proc-label-4">
            <a:extLst xmlns:a="http://schemas.openxmlformats.org/drawingml/2006/main">
              <a:ext uri="{FF2B5EF4-FFF2-40B4-BE49-F238E27FC236}">
                <a16:creationId xmlns:a16="http://schemas.microsoft.com/office/drawing/2014/main" id="{EB356231-77F1-4B9F-9E7E-3239E056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76875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ID #</a:t>
            </a:r>
          </a:p>
        </p:txBody>
      </p:sp>
      <p:sp>
        <p:nvSpPr>
          <p:cNvPr id="105" name="proc-4">
            <a:extLst xmlns:a="http://schemas.openxmlformats.org/drawingml/2006/main">
              <a:ext uri="{FF2B5EF4-FFF2-40B4-BE49-F238E27FC236}">
                <a16:creationId xmlns:a16="http://schemas.microsoft.com/office/drawing/2014/main" id="{E16A321A-049E-4899-B090-4D523911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673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409</a:t>
            </a:r>
          </a:p>
        </p:txBody>
      </p:sp>
      <p:sp>
        <p:nvSpPr>
          <p:cNvPr id="106" name="task-label-4">
            <a:extLst xmlns:a="http://schemas.openxmlformats.org/drawingml/2006/main">
              <a:ext uri="{FF2B5EF4-FFF2-40B4-BE49-F238E27FC236}">
                <a16:creationId xmlns:a16="http://schemas.microsoft.com/office/drawing/2014/main" id="{F10D9FB3-4458-4813-A011-80319D74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905250"/>
            <a:ext cx="3743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38A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38A1C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107" name="task-line-4-0">
            <a:extLst xmlns:a="http://schemas.openxmlformats.org/drawingml/2006/main">
              <a:ext uri="{FF2B5EF4-FFF2-40B4-BE49-F238E27FC236}">
                <a16:creationId xmlns:a16="http://schemas.microsoft.com/office/drawing/2014/main" id="{24EC978F-061D-4A95-9862-19983A48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08" name="task-4-0">
            <a:extLst xmlns:a="http://schemas.openxmlformats.org/drawingml/2006/main">
              <a:ext uri="{FF2B5EF4-FFF2-40B4-BE49-F238E27FC236}">
                <a16:creationId xmlns:a16="http://schemas.microsoft.com/office/drawing/2014/main" id="{148EBB55-8D57-4C3C-9335-0ED466D6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719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Establish Source-to-Target Connection</a:t>
            </a:r>
          </a:p>
        </p:txBody>
      </p:sp>
      <p:sp>
        <p:nvSpPr>
          <p:cNvPr id="109" name="task-line-4-1">
            <a:extLst xmlns:a="http://schemas.openxmlformats.org/drawingml/2006/main">
              <a:ext uri="{FF2B5EF4-FFF2-40B4-BE49-F238E27FC236}">
                <a16:creationId xmlns:a16="http://schemas.microsoft.com/office/drawing/2014/main" id="{7E744AD5-682A-44D4-A00C-CA4AA866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55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10" name="task-4-1">
            <a:extLst xmlns:a="http://schemas.openxmlformats.org/drawingml/2006/main">
              <a:ext uri="{FF2B5EF4-FFF2-40B4-BE49-F238E27FC236}">
                <a16:creationId xmlns:a16="http://schemas.microsoft.com/office/drawing/2014/main" id="{57D6EFF5-2235-483E-B34E-E0A8F57C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767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Map Data to Target Structure</a:t>
            </a:r>
          </a:p>
        </p:txBody>
      </p:sp>
      <p:sp>
        <p:nvSpPr>
          <p:cNvPr id="111" name="task-line-4-2">
            <a:extLst xmlns:a="http://schemas.openxmlformats.org/drawingml/2006/main">
              <a:ext uri="{FF2B5EF4-FFF2-40B4-BE49-F238E27FC236}">
                <a16:creationId xmlns:a16="http://schemas.microsoft.com/office/drawing/2014/main" id="{C7ECAEDE-A0FE-492C-879D-E7C2C790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5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12" name="task-4-2">
            <a:extLst xmlns:a="http://schemas.openxmlformats.org/drawingml/2006/main">
              <a:ext uri="{FF2B5EF4-FFF2-40B4-BE49-F238E27FC236}">
                <a16:creationId xmlns:a16="http://schemas.microsoft.com/office/drawing/2014/main" id="{71D39C46-9E56-4541-AFA0-FD38700E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815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Load Data into Target Repository</a:t>
            </a:r>
          </a:p>
        </p:txBody>
      </p:sp>
      <p:sp>
        <p:nvSpPr>
          <p:cNvPr id="113" name="task-line-4-3">
            <a:extLst xmlns:a="http://schemas.openxmlformats.org/drawingml/2006/main">
              <a:ext uri="{FF2B5EF4-FFF2-40B4-BE49-F238E27FC236}">
                <a16:creationId xmlns:a16="http://schemas.microsoft.com/office/drawing/2014/main" id="{86B5EE2B-C8D0-4F47-A7B1-BAC65D4B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16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14" name="task-4-3">
            <a:extLst xmlns:a="http://schemas.openxmlformats.org/drawingml/2006/main">
              <a:ext uri="{FF2B5EF4-FFF2-40B4-BE49-F238E27FC236}">
                <a16:creationId xmlns:a16="http://schemas.microsoft.com/office/drawing/2014/main" id="{64AB71D6-FC29-4324-B29C-9B679DBA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863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Verify Load Completion</a:t>
            </a:r>
          </a:p>
        </p:txBody>
      </p:sp>
      <p:sp>
        <p:nvSpPr>
          <p:cNvPr id="115" name="task-line-4-4">
            <a:extLst xmlns:a="http://schemas.openxmlformats.org/drawingml/2006/main">
              <a:ext uri="{FF2B5EF4-FFF2-40B4-BE49-F238E27FC236}">
                <a16:creationId xmlns:a16="http://schemas.microsoft.com/office/drawing/2014/main" id="{347D4BB3-8F64-46C7-AC33-DB331AB8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467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16" name="task-4-4">
            <a:extLst xmlns:a="http://schemas.openxmlformats.org/drawingml/2006/main">
              <a:ext uri="{FF2B5EF4-FFF2-40B4-BE49-F238E27FC236}">
                <a16:creationId xmlns:a16="http://schemas.microsoft.com/office/drawing/2014/main" id="{5D8326FB-3063-49F6-B0F7-6631584E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3911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Reconcile Data Counts</a:t>
            </a:r>
          </a:p>
        </p:txBody>
      </p:sp>
      <p:sp>
        <p:nvSpPr>
          <p:cNvPr id="117" name="task-line-4-5">
            <a:extLst xmlns:a="http://schemas.openxmlformats.org/drawingml/2006/main">
              <a:ext uri="{FF2B5EF4-FFF2-40B4-BE49-F238E27FC236}">
                <a16:creationId xmlns:a16="http://schemas.microsoft.com/office/drawing/2014/main" id="{BA14F247-F5D7-471E-AD54-7F95CAAC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772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18" name="task-4-5">
            <a:extLst xmlns:a="http://schemas.openxmlformats.org/drawingml/2006/main">
              <a:ext uri="{FF2B5EF4-FFF2-40B4-BE49-F238E27FC236}">
                <a16:creationId xmlns:a16="http://schemas.microsoft.com/office/drawing/2014/main" id="{DA8BA30B-00E4-4F08-B925-EE67A158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6959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Report Final Load Results</a:t>
            </a:r>
          </a:p>
        </p:txBody>
      </p:sp>
    </p:spTree>
    <p:extLst>
      <p:ext uri="{BB962C8B-B14F-4D97-AF65-F5344CB8AC3E}">
        <p14:creationId xmlns:p14="http://schemas.microsoft.com/office/powerpoint/2010/main" val="883520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top-band">
            <a:extLst xmlns:a="http://schemas.openxmlformats.org/drawingml/2006/main">
              <a:ext uri="{FF2B5EF4-FFF2-40B4-BE49-F238E27FC236}">
                <a16:creationId xmlns:a16="http://schemas.microsoft.com/office/drawing/2014/main" id="{E0C34130-66D9-4696-A3EF-421C9847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71A33"/>
            </a:solidFill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027AF5D2-2A33-4044-BF23-D30954DE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269D68-795A-47B5-8BF8-7924BE0C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Medicaid Rate Kernel - Estimation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1711B79-9306-413B-8E6A-EF302E77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9D8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8E8"/>
                </a:solidFill>
                <a:latin typeface="Aptos"/>
                <a:ea typeface="Aptos"/>
                <a:cs typeface="Aptos"/>
              </a:rPr>
              <a:t>File count, pattern count, effort, and cost by module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3D6B979-44A6-4850-9B7D-669A8229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EA"/>
          </a:solidFill>
          <a:ln xmlns:a="http://schemas.openxmlformats.org/drawingml/2006/main" w="0">
            <a:solidFill>
              <a:srgbClr val="D3DFEA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D90E2A8-EB5E-4226-96B4-5757C29C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Medicaid Rate Kernel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8950E242-280A-4FA9-B71F-0E1999D7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d4dc4079a42aa"/>
          <a:stretch xmlns:a="http://schemas.openxmlformats.org/drawingml/2006/main"/>
        </p:blipFill>
        <p:spPr>
          <a:xfrm xmlns:a="http://schemas.openxmlformats.org/drawingml/2006/main">
            <a:off x="10365105" y="6524625"/>
            <a:ext cx="1062990" cy="257175"/>
          </a:xfrm>
          <a:prstGeom xmlns:a="http://schemas.openxmlformats.org/drawingml/2006/main" prst="rect">
            <a:avLst/>
          </a:prstGeom>
        </p:spPr>
      </p:pic>
      <p:sp>
        <p:nvSpPr>
          <p:cNvPr id="9" name="metric-card-0">
            <a:extLst xmlns:a="http://schemas.openxmlformats.org/drawingml/2006/main">
              <a:ext uri="{FF2B5EF4-FFF2-40B4-BE49-F238E27FC236}">
                <a16:creationId xmlns:a16="http://schemas.microsoft.com/office/drawing/2014/main" id="{1986A2B6-92E9-42C5-BFC3-DD06C926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0" name="metric-cap-0">
            <a:extLst xmlns:a="http://schemas.openxmlformats.org/drawingml/2006/main">
              <a:ext uri="{FF2B5EF4-FFF2-40B4-BE49-F238E27FC236}">
                <a16:creationId xmlns:a16="http://schemas.microsoft.com/office/drawing/2014/main" id="{BD77C2B0-864E-42BE-B6E9-923614BF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6bebec08d47ec"/>
          <a:stretch xmlns:a="http://schemas.openxmlformats.org/drawingml/2006/main"/>
        </p:blipFill>
        <p:spPr>
          <a:xfrm xmlns:a="http://schemas.openxmlformats.org/drawingml/2006/main">
            <a:off x="684689" y="1362075"/>
            <a:ext cx="345121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metric-name-0">
            <a:extLst xmlns:a="http://schemas.openxmlformats.org/drawingml/2006/main">
              <a:ext uri="{FF2B5EF4-FFF2-40B4-BE49-F238E27FC236}">
                <a16:creationId xmlns:a16="http://schemas.microsoft.com/office/drawing/2014/main" id="{5E4C426C-9C9D-43B7-854A-57F02A2B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Download</a:t>
            </a:r>
          </a:p>
        </p:txBody>
      </p:sp>
      <p:sp>
        <p:nvSpPr>
          <p:cNvPr id="13" name="label-0-0">
            <a:extLst xmlns:a="http://schemas.openxmlformats.org/drawingml/2006/main">
              <a:ext uri="{FF2B5EF4-FFF2-40B4-BE49-F238E27FC236}">
                <a16:creationId xmlns:a16="http://schemas.microsoft.com/office/drawing/2014/main" id="{A0DDEC87-A1C4-4EFC-94DD-7E1184C2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14" name="value-bg-0-0">
            <a:extLst xmlns:a="http://schemas.openxmlformats.org/drawingml/2006/main">
              <a:ext uri="{FF2B5EF4-FFF2-40B4-BE49-F238E27FC236}">
                <a16:creationId xmlns:a16="http://schemas.microsoft.com/office/drawing/2014/main" id="{80E6C6E6-CB2E-453C-B56C-F2E12D8B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5" name="value-0-0">
            <a:extLst xmlns:a="http://schemas.openxmlformats.org/drawingml/2006/main">
              <a:ext uri="{FF2B5EF4-FFF2-40B4-BE49-F238E27FC236}">
                <a16:creationId xmlns:a16="http://schemas.microsoft.com/office/drawing/2014/main" id="{B1D8A853-6F2D-48C3-8A91-98A21048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4,247</a:t>
            </a:r>
          </a:p>
        </p:txBody>
      </p:sp>
      <p:sp>
        <p:nvSpPr>
          <p:cNvPr id="16" name="label-0-1">
            <a:extLst xmlns:a="http://schemas.openxmlformats.org/drawingml/2006/main">
              <a:ext uri="{FF2B5EF4-FFF2-40B4-BE49-F238E27FC236}">
                <a16:creationId xmlns:a16="http://schemas.microsoft.com/office/drawing/2014/main" id="{C1BE6223-B6D2-4CF9-AB4C-4A126FCA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17" name="value-bg-0-1">
            <a:extLst xmlns:a="http://schemas.openxmlformats.org/drawingml/2006/main">
              <a:ext uri="{FF2B5EF4-FFF2-40B4-BE49-F238E27FC236}">
                <a16:creationId xmlns:a16="http://schemas.microsoft.com/office/drawing/2014/main" id="{9691FDEF-E5EA-4CC4-B79C-D60905A1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8" name="value-0-1">
            <a:extLst xmlns:a="http://schemas.openxmlformats.org/drawingml/2006/main">
              <a:ext uri="{FF2B5EF4-FFF2-40B4-BE49-F238E27FC236}">
                <a16:creationId xmlns:a16="http://schemas.microsoft.com/office/drawing/2014/main" id="{7A7893B3-0F73-473D-A37A-F0DE3DA1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19" name="label-0-2">
            <a:extLst xmlns:a="http://schemas.openxmlformats.org/drawingml/2006/main">
              <a:ext uri="{FF2B5EF4-FFF2-40B4-BE49-F238E27FC236}">
                <a16:creationId xmlns:a16="http://schemas.microsoft.com/office/drawing/2014/main" id="{38F81AD1-DF02-42A6-9165-3E870581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20" name="value-bg-0-2">
            <a:extLst xmlns:a="http://schemas.openxmlformats.org/drawingml/2006/main">
              <a:ext uri="{FF2B5EF4-FFF2-40B4-BE49-F238E27FC236}">
                <a16:creationId xmlns:a16="http://schemas.microsoft.com/office/drawing/2014/main" id="{239E339D-7CB1-4E69-B1EF-AC3B50CB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21" name="value-0-2">
            <a:extLst xmlns:a="http://schemas.openxmlformats.org/drawingml/2006/main">
              <a:ext uri="{FF2B5EF4-FFF2-40B4-BE49-F238E27FC236}">
                <a16:creationId xmlns:a16="http://schemas.microsoft.com/office/drawing/2014/main" id="{50E33F8E-A5B1-4940-B1E0-D43B58A5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63,705</a:t>
            </a:r>
          </a:p>
        </p:txBody>
      </p:sp>
      <p:sp>
        <p:nvSpPr>
          <p:cNvPr id="22" name="label-0-3">
            <a:extLst xmlns:a="http://schemas.openxmlformats.org/drawingml/2006/main">
              <a:ext uri="{FF2B5EF4-FFF2-40B4-BE49-F238E27FC236}">
                <a16:creationId xmlns:a16="http://schemas.microsoft.com/office/drawing/2014/main" id="{00E08EE5-8D98-4212-9F94-5D0285DB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23" name="value-bg-0-3">
            <a:extLst xmlns:a="http://schemas.openxmlformats.org/drawingml/2006/main">
              <a:ext uri="{FF2B5EF4-FFF2-40B4-BE49-F238E27FC236}">
                <a16:creationId xmlns:a16="http://schemas.microsoft.com/office/drawing/2014/main" id="{55F72FE6-D656-42DB-9CBF-0FF6D01C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1769AA"/>
            </a:solidFill>
            <a:prstDash val="solid"/>
          </a:ln>
        </p:spPr>
      </p:sp>
      <p:sp>
        <p:nvSpPr>
          <p:cNvPr id="24" name="value-0-3">
            <a:extLst xmlns:a="http://schemas.openxmlformats.org/drawingml/2006/main">
              <a:ext uri="{FF2B5EF4-FFF2-40B4-BE49-F238E27FC236}">
                <a16:creationId xmlns:a16="http://schemas.microsoft.com/office/drawing/2014/main" id="{3D35D7DC-3A50-4330-A1FC-A6C0F49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$4,140,825</a:t>
            </a:r>
          </a:p>
        </p:txBody>
      </p:sp>
      <p:sp>
        <p:nvSpPr>
          <p:cNvPr id="25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9DE81D70-38FC-4C3D-A47D-47386307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26" name="metric-cap-1">
            <a:extLst xmlns:a="http://schemas.openxmlformats.org/drawingml/2006/main">
              <a:ext uri="{FF2B5EF4-FFF2-40B4-BE49-F238E27FC236}">
                <a16:creationId xmlns:a16="http://schemas.microsoft.com/office/drawing/2014/main" id="{BBE9E66F-7D67-4DAD-8BFC-F59C030A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ac74608d745d3"/>
          <a:stretch xmlns:a="http://schemas.openxmlformats.org/drawingml/2006/main"/>
        </p:blipFill>
        <p:spPr>
          <a:xfrm xmlns:a="http://schemas.openxmlformats.org/drawingml/2006/main">
            <a:off x="2948222" y="1362075"/>
            <a:ext cx="351955" cy="571500"/>
          </a:xfrm>
          <a:prstGeom xmlns:a="http://schemas.openxmlformats.org/drawingml/2006/main" prst="rect">
            <a:avLst/>
          </a:prstGeom>
        </p:spPr>
      </p:pic>
      <p:sp>
        <p:nvSpPr>
          <p:cNvPr id="28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D0E165DB-79A6-49C3-9D5E-B2CBE178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Extraction</a:t>
            </a:r>
          </a:p>
        </p:txBody>
      </p:sp>
      <p:sp>
        <p:nvSpPr>
          <p:cNvPr id="29" name="label-1-0">
            <a:extLst xmlns:a="http://schemas.openxmlformats.org/drawingml/2006/main">
              <a:ext uri="{FF2B5EF4-FFF2-40B4-BE49-F238E27FC236}">
                <a16:creationId xmlns:a16="http://schemas.microsoft.com/office/drawing/2014/main" id="{B890D057-0706-4691-B98F-856488C0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30" name="value-bg-1-0">
            <a:extLst xmlns:a="http://schemas.openxmlformats.org/drawingml/2006/main">
              <a:ext uri="{FF2B5EF4-FFF2-40B4-BE49-F238E27FC236}">
                <a16:creationId xmlns:a16="http://schemas.microsoft.com/office/drawing/2014/main" id="{10472CC2-603F-4EB6-B461-90175EDD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31" name="value-1-0">
            <a:extLst xmlns:a="http://schemas.openxmlformats.org/drawingml/2006/main">
              <a:ext uri="{FF2B5EF4-FFF2-40B4-BE49-F238E27FC236}">
                <a16:creationId xmlns:a16="http://schemas.microsoft.com/office/drawing/2014/main" id="{3CDF4D64-15E6-42B9-BF79-CAA09CE3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32" name="label-1-1">
            <a:extLst xmlns:a="http://schemas.openxmlformats.org/drawingml/2006/main">
              <a:ext uri="{FF2B5EF4-FFF2-40B4-BE49-F238E27FC236}">
                <a16:creationId xmlns:a16="http://schemas.microsoft.com/office/drawing/2014/main" id="{8B4FFCD2-068B-4FB2-B8B4-90BF63BF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33" name="value-bg-1-1">
            <a:extLst xmlns:a="http://schemas.openxmlformats.org/drawingml/2006/main">
              <a:ext uri="{FF2B5EF4-FFF2-40B4-BE49-F238E27FC236}">
                <a16:creationId xmlns:a16="http://schemas.microsoft.com/office/drawing/2014/main" id="{8A567A73-4672-4720-B8D9-0032277F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34" name="value-1-1">
            <a:extLst xmlns:a="http://schemas.openxmlformats.org/drawingml/2006/main">
              <a:ext uri="{FF2B5EF4-FFF2-40B4-BE49-F238E27FC236}">
                <a16:creationId xmlns:a16="http://schemas.microsoft.com/office/drawing/2014/main" id="{9AA677DA-25F3-41D8-80CB-AF844079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35" name="label-1-2">
            <a:extLst xmlns:a="http://schemas.openxmlformats.org/drawingml/2006/main">
              <a:ext uri="{FF2B5EF4-FFF2-40B4-BE49-F238E27FC236}">
                <a16:creationId xmlns:a16="http://schemas.microsoft.com/office/drawing/2014/main" id="{56CD1BD3-8BE1-4D1A-AFC2-99994A15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36" name="value-bg-1-2">
            <a:extLst xmlns:a="http://schemas.openxmlformats.org/drawingml/2006/main">
              <a:ext uri="{FF2B5EF4-FFF2-40B4-BE49-F238E27FC236}">
                <a16:creationId xmlns:a16="http://schemas.microsoft.com/office/drawing/2014/main" id="{686592D9-F9FB-4F9D-9E92-D5903A43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37" name="value-1-2">
            <a:extLst xmlns:a="http://schemas.openxmlformats.org/drawingml/2006/main">
              <a:ext uri="{FF2B5EF4-FFF2-40B4-BE49-F238E27FC236}">
                <a16:creationId xmlns:a16="http://schemas.microsoft.com/office/drawing/2014/main" id="{26A0D653-F757-4B46-8364-B9FFB7B9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14,950</a:t>
            </a:r>
          </a:p>
        </p:txBody>
      </p:sp>
      <p:sp>
        <p:nvSpPr>
          <p:cNvPr id="38" name="label-1-3">
            <a:extLst xmlns:a="http://schemas.openxmlformats.org/drawingml/2006/main">
              <a:ext uri="{FF2B5EF4-FFF2-40B4-BE49-F238E27FC236}">
                <a16:creationId xmlns:a16="http://schemas.microsoft.com/office/drawing/2014/main" id="{328B101E-524D-4DC0-BD67-62B3D312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39" name="value-bg-1-3">
            <a:extLst xmlns:a="http://schemas.openxmlformats.org/drawingml/2006/main">
              <a:ext uri="{FF2B5EF4-FFF2-40B4-BE49-F238E27FC236}">
                <a16:creationId xmlns:a16="http://schemas.microsoft.com/office/drawing/2014/main" id="{4DE3AC36-C1E7-4D2F-BF50-A21208E6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14865F"/>
            </a:solidFill>
            <a:prstDash val="solid"/>
          </a:ln>
        </p:spPr>
      </p:sp>
      <p:sp>
        <p:nvSpPr>
          <p:cNvPr id="40" name="value-1-3">
            <a:extLst xmlns:a="http://schemas.openxmlformats.org/drawingml/2006/main">
              <a:ext uri="{FF2B5EF4-FFF2-40B4-BE49-F238E27FC236}">
                <a16:creationId xmlns:a16="http://schemas.microsoft.com/office/drawing/2014/main" id="{65111CBD-2098-4680-B90C-DEA5D1AD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865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865F"/>
                </a:solidFill>
                <a:latin typeface="Aptos"/>
                <a:ea typeface="Aptos"/>
                <a:cs typeface="Aptos"/>
              </a:rPr>
              <a:t>$971,750</a:t>
            </a:r>
          </a:p>
        </p:txBody>
      </p:sp>
      <p:sp>
        <p:nvSpPr>
          <p:cNvPr id="41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877F98D2-E1A0-4C46-B9C0-61EF9B2D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42" name="metric-cap-2">
            <a:extLst xmlns:a="http://schemas.openxmlformats.org/drawingml/2006/main">
              <a:ext uri="{FF2B5EF4-FFF2-40B4-BE49-F238E27FC236}">
                <a16:creationId xmlns:a16="http://schemas.microsoft.com/office/drawing/2014/main" id="{177790D3-E5F4-4D33-B0E4-63E8CD25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1567289914fa3"/>
          <a:stretch xmlns:a="http://schemas.openxmlformats.org/drawingml/2006/main"/>
        </p:blipFill>
        <p:spPr>
          <a:xfrm xmlns:a="http://schemas.openxmlformats.org/drawingml/2006/main">
            <a:off x="5211774" y="1362075"/>
            <a:ext cx="358752" cy="571500"/>
          </a:xfrm>
          <a:prstGeom xmlns:a="http://schemas.openxmlformats.org/drawingml/2006/main" prst="rect">
            <a:avLst/>
          </a:prstGeom>
        </p:spPr>
      </p:pic>
      <p:sp>
        <p:nvSpPr>
          <p:cNvPr id="44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A37CCBD8-4F5A-4183-B77E-9E3DA08E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6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Interpretation</a:t>
            </a:r>
          </a:p>
        </p:txBody>
      </p:sp>
      <p:sp>
        <p:nvSpPr>
          <p:cNvPr id="45" name="label-2-0">
            <a:extLst xmlns:a="http://schemas.openxmlformats.org/drawingml/2006/main">
              <a:ext uri="{FF2B5EF4-FFF2-40B4-BE49-F238E27FC236}">
                <a16:creationId xmlns:a16="http://schemas.microsoft.com/office/drawing/2014/main" id="{49568C23-50BA-45D2-B885-D159E6D0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46" name="value-bg-2-0">
            <a:extLst xmlns:a="http://schemas.openxmlformats.org/drawingml/2006/main">
              <a:ext uri="{FF2B5EF4-FFF2-40B4-BE49-F238E27FC236}">
                <a16:creationId xmlns:a16="http://schemas.microsoft.com/office/drawing/2014/main" id="{78950EA7-0A5D-4E7A-A7C0-67014BA7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47" name="value-2-0">
            <a:extLst xmlns:a="http://schemas.openxmlformats.org/drawingml/2006/main">
              <a:ext uri="{FF2B5EF4-FFF2-40B4-BE49-F238E27FC236}">
                <a16:creationId xmlns:a16="http://schemas.microsoft.com/office/drawing/2014/main" id="{44CF7197-54BC-4BC0-989F-7B43B784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48" name="label-2-1">
            <a:extLst xmlns:a="http://schemas.openxmlformats.org/drawingml/2006/main">
              <a:ext uri="{FF2B5EF4-FFF2-40B4-BE49-F238E27FC236}">
                <a16:creationId xmlns:a16="http://schemas.microsoft.com/office/drawing/2014/main" id="{2CDA12CE-E729-4F10-9178-767EEE50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49" name="value-bg-2-1">
            <a:extLst xmlns:a="http://schemas.openxmlformats.org/drawingml/2006/main">
              <a:ext uri="{FF2B5EF4-FFF2-40B4-BE49-F238E27FC236}">
                <a16:creationId xmlns:a16="http://schemas.microsoft.com/office/drawing/2014/main" id="{94D59ACF-00BF-4CA2-BB6A-DB86E178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50" name="value-2-1">
            <a:extLst xmlns:a="http://schemas.openxmlformats.org/drawingml/2006/main">
              <a:ext uri="{FF2B5EF4-FFF2-40B4-BE49-F238E27FC236}">
                <a16:creationId xmlns:a16="http://schemas.microsoft.com/office/drawing/2014/main" id="{0B00D6EE-B055-4894-9ADE-24C69952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51" name="label-2-2">
            <a:extLst xmlns:a="http://schemas.openxmlformats.org/drawingml/2006/main">
              <a:ext uri="{FF2B5EF4-FFF2-40B4-BE49-F238E27FC236}">
                <a16:creationId xmlns:a16="http://schemas.microsoft.com/office/drawing/2014/main" id="{5B7CD1DB-A057-4DB0-BF31-127CEEB5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52" name="value-bg-2-2">
            <a:extLst xmlns:a="http://schemas.openxmlformats.org/drawingml/2006/main">
              <a:ext uri="{FF2B5EF4-FFF2-40B4-BE49-F238E27FC236}">
                <a16:creationId xmlns:a16="http://schemas.microsoft.com/office/drawing/2014/main" id="{103C7EAC-6794-4C91-AD7D-D865C903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53" name="value-2-2">
            <a:extLst xmlns:a="http://schemas.openxmlformats.org/drawingml/2006/main">
              <a:ext uri="{FF2B5EF4-FFF2-40B4-BE49-F238E27FC236}">
                <a16:creationId xmlns:a16="http://schemas.microsoft.com/office/drawing/2014/main" id="{631E2996-E9BE-4B35-84F2-220FA396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22,425</a:t>
            </a:r>
          </a:p>
        </p:txBody>
      </p:sp>
      <p:sp>
        <p:nvSpPr>
          <p:cNvPr id="54" name="label-2-3">
            <a:extLst xmlns:a="http://schemas.openxmlformats.org/drawingml/2006/main">
              <a:ext uri="{FF2B5EF4-FFF2-40B4-BE49-F238E27FC236}">
                <a16:creationId xmlns:a16="http://schemas.microsoft.com/office/drawing/2014/main" id="{DB69A7DB-CD99-4F6A-A96E-CABA47F7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55" name="value-bg-2-3">
            <a:extLst xmlns:a="http://schemas.openxmlformats.org/drawingml/2006/main">
              <a:ext uri="{FF2B5EF4-FFF2-40B4-BE49-F238E27FC236}">
                <a16:creationId xmlns:a16="http://schemas.microsoft.com/office/drawing/2014/main" id="{04D82872-8A3A-407E-BC3C-C3D7A224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7048C2"/>
            </a:solidFill>
            <a:prstDash val="solid"/>
          </a:ln>
        </p:spPr>
      </p:sp>
      <p:sp>
        <p:nvSpPr>
          <p:cNvPr id="56" name="value-2-3">
            <a:extLst xmlns:a="http://schemas.openxmlformats.org/drawingml/2006/main">
              <a:ext uri="{FF2B5EF4-FFF2-40B4-BE49-F238E27FC236}">
                <a16:creationId xmlns:a16="http://schemas.microsoft.com/office/drawing/2014/main" id="{FB76006A-7CB4-4EEA-B014-A5F9FA85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048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048C2"/>
                </a:solidFill>
                <a:latin typeface="Aptos"/>
                <a:ea typeface="Aptos"/>
                <a:cs typeface="Aptos"/>
              </a:rPr>
              <a:t>$1,457,625</a:t>
            </a:r>
          </a:p>
        </p:txBody>
      </p:sp>
      <p:sp>
        <p:nvSpPr>
          <p:cNvPr id="57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7B304F48-CEB9-4FA0-AA23-C8FC8C43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58" name="metric-cap-3">
            <a:extLst xmlns:a="http://schemas.openxmlformats.org/drawingml/2006/main">
              <a:ext uri="{FF2B5EF4-FFF2-40B4-BE49-F238E27FC236}">
                <a16:creationId xmlns:a16="http://schemas.microsoft.com/office/drawing/2014/main" id="{4C62331B-0DDC-4652-95FD-07826FF6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400967f6e4c6e"/>
          <a:stretch xmlns:a="http://schemas.openxmlformats.org/drawingml/2006/main"/>
        </p:blipFill>
        <p:spPr>
          <a:xfrm xmlns:a="http://schemas.openxmlformats.org/drawingml/2006/main">
            <a:off x="7471611" y="1362075"/>
            <a:ext cx="372979" cy="571500"/>
          </a:xfrm>
          <a:prstGeom xmlns:a="http://schemas.openxmlformats.org/drawingml/2006/main" prst="rect">
            <a:avLst/>
          </a:prstGeom>
        </p:spPr>
      </p:pic>
      <p:sp>
        <p:nvSpPr>
          <p:cNvPr id="60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2F16E07A-C6E7-4CFF-AAA7-62B11422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1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Comparison</a:t>
            </a:r>
          </a:p>
        </p:txBody>
      </p:sp>
      <p:sp>
        <p:nvSpPr>
          <p:cNvPr id="61" name="label-3-0">
            <a:extLst xmlns:a="http://schemas.openxmlformats.org/drawingml/2006/main">
              <a:ext uri="{FF2B5EF4-FFF2-40B4-BE49-F238E27FC236}">
                <a16:creationId xmlns:a16="http://schemas.microsoft.com/office/drawing/2014/main" id="{BDD13798-43B2-40F8-900A-93692AFB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62" name="value-bg-3-0">
            <a:extLst xmlns:a="http://schemas.openxmlformats.org/drawingml/2006/main">
              <a:ext uri="{FF2B5EF4-FFF2-40B4-BE49-F238E27FC236}">
                <a16:creationId xmlns:a16="http://schemas.microsoft.com/office/drawing/2014/main" id="{27D1E185-1A2A-4770-9022-DCC5A836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63" name="value-3-0">
            <a:extLst xmlns:a="http://schemas.openxmlformats.org/drawingml/2006/main">
              <a:ext uri="{FF2B5EF4-FFF2-40B4-BE49-F238E27FC236}">
                <a16:creationId xmlns:a16="http://schemas.microsoft.com/office/drawing/2014/main" id="{8E20F064-5E76-439E-97ED-BE1A24A0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64" name="label-3-1">
            <a:extLst xmlns:a="http://schemas.openxmlformats.org/drawingml/2006/main">
              <a:ext uri="{FF2B5EF4-FFF2-40B4-BE49-F238E27FC236}">
                <a16:creationId xmlns:a16="http://schemas.microsoft.com/office/drawing/2014/main" id="{8084084A-3B14-4B30-8B0E-2B210A73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65" name="value-bg-3-1">
            <a:extLst xmlns:a="http://schemas.openxmlformats.org/drawingml/2006/main">
              <a:ext uri="{FF2B5EF4-FFF2-40B4-BE49-F238E27FC236}">
                <a16:creationId xmlns:a16="http://schemas.microsoft.com/office/drawing/2014/main" id="{CEC12F30-CEFB-412E-B998-19D5492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66" name="value-3-1">
            <a:extLst xmlns:a="http://schemas.openxmlformats.org/drawingml/2006/main">
              <a:ext uri="{FF2B5EF4-FFF2-40B4-BE49-F238E27FC236}">
                <a16:creationId xmlns:a16="http://schemas.microsoft.com/office/drawing/2014/main" id="{211C3552-A7CA-450A-8625-C252F86C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67" name="label-3-2">
            <a:extLst xmlns:a="http://schemas.openxmlformats.org/drawingml/2006/main">
              <a:ext uri="{FF2B5EF4-FFF2-40B4-BE49-F238E27FC236}">
                <a16:creationId xmlns:a16="http://schemas.microsoft.com/office/drawing/2014/main" id="{4C05A222-0846-4063-8489-EB4217FE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68" name="value-bg-3-2">
            <a:extLst xmlns:a="http://schemas.openxmlformats.org/drawingml/2006/main">
              <a:ext uri="{FF2B5EF4-FFF2-40B4-BE49-F238E27FC236}">
                <a16:creationId xmlns:a16="http://schemas.microsoft.com/office/drawing/2014/main" id="{52AFF71B-A795-4B24-BA02-C802704E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69" name="value-3-2">
            <a:extLst xmlns:a="http://schemas.openxmlformats.org/drawingml/2006/main">
              <a:ext uri="{FF2B5EF4-FFF2-40B4-BE49-F238E27FC236}">
                <a16:creationId xmlns:a16="http://schemas.microsoft.com/office/drawing/2014/main" id="{F36BAC63-9FB1-4953-9AEA-11794E2E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37,375</a:t>
            </a:r>
          </a:p>
        </p:txBody>
      </p:sp>
      <p:sp>
        <p:nvSpPr>
          <p:cNvPr id="70" name="label-3-3">
            <a:extLst xmlns:a="http://schemas.openxmlformats.org/drawingml/2006/main">
              <a:ext uri="{FF2B5EF4-FFF2-40B4-BE49-F238E27FC236}">
                <a16:creationId xmlns:a16="http://schemas.microsoft.com/office/drawing/2014/main" id="{97606A5B-CBDE-4106-A7F7-836DA5B8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71" name="value-bg-3-3">
            <a:extLst xmlns:a="http://schemas.openxmlformats.org/drawingml/2006/main">
              <a:ext uri="{FF2B5EF4-FFF2-40B4-BE49-F238E27FC236}">
                <a16:creationId xmlns:a16="http://schemas.microsoft.com/office/drawing/2014/main" id="{031BE3C3-57E3-4158-BB4E-F8E9E285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1EA7CF"/>
            </a:solidFill>
            <a:prstDash val="solid"/>
          </a:ln>
        </p:spPr>
      </p:sp>
      <p:sp>
        <p:nvSpPr>
          <p:cNvPr id="72" name="value-3-3">
            <a:extLst xmlns:a="http://schemas.openxmlformats.org/drawingml/2006/main">
              <a:ext uri="{FF2B5EF4-FFF2-40B4-BE49-F238E27FC236}">
                <a16:creationId xmlns:a16="http://schemas.microsoft.com/office/drawing/2014/main" id="{90A4CD05-D56E-42D9-A798-959450D8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EA7C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A7CF"/>
                </a:solidFill>
                <a:latin typeface="Aptos"/>
                <a:ea typeface="Aptos"/>
                <a:cs typeface="Aptos"/>
              </a:rPr>
              <a:t>$2,429,375</a:t>
            </a:r>
          </a:p>
        </p:txBody>
      </p:sp>
      <p:sp>
        <p:nvSpPr>
          <p:cNvPr id="73" name="metric-card-4">
            <a:extLst xmlns:a="http://schemas.openxmlformats.org/drawingml/2006/main">
              <a:ext uri="{FF2B5EF4-FFF2-40B4-BE49-F238E27FC236}">
                <a16:creationId xmlns:a16="http://schemas.microsoft.com/office/drawing/2014/main" id="{3B4BE5B3-A251-43BF-BCFA-EE34D331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74" name="metric-cap-4">
            <a:extLst xmlns:a="http://schemas.openxmlformats.org/drawingml/2006/main">
              <a:ext uri="{FF2B5EF4-FFF2-40B4-BE49-F238E27FC236}">
                <a16:creationId xmlns:a16="http://schemas.microsoft.com/office/drawing/2014/main" id="{F4E91BB1-8E27-4F0A-90FE-43308F27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55dca47934b70"/>
          <a:stretch xmlns:a="http://schemas.openxmlformats.org/drawingml/2006/main"/>
        </p:blipFill>
        <p:spPr>
          <a:xfrm xmlns:a="http://schemas.openxmlformats.org/drawingml/2006/main">
            <a:off x="9735156" y="1362075"/>
            <a:ext cx="379789" cy="571500"/>
          </a:xfrm>
          <a:prstGeom xmlns:a="http://schemas.openxmlformats.org/drawingml/2006/main" prst="rect">
            <a:avLst/>
          </a:prstGeom>
        </p:spPr>
      </p:pic>
      <p:sp>
        <p:nvSpPr>
          <p:cNvPr id="76" name="metric-name-4">
            <a:extLst xmlns:a="http://schemas.openxmlformats.org/drawingml/2006/main">
              <a:ext uri="{FF2B5EF4-FFF2-40B4-BE49-F238E27FC236}">
                <a16:creationId xmlns:a16="http://schemas.microsoft.com/office/drawing/2014/main" id="{EB070E18-B5CE-4AAB-A27C-D2F664D1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Load</a:t>
            </a:r>
          </a:p>
        </p:txBody>
      </p:sp>
      <p:sp>
        <p:nvSpPr>
          <p:cNvPr id="77" name="label-4-0">
            <a:extLst xmlns:a="http://schemas.openxmlformats.org/drawingml/2006/main">
              <a:ext uri="{FF2B5EF4-FFF2-40B4-BE49-F238E27FC236}">
                <a16:creationId xmlns:a16="http://schemas.microsoft.com/office/drawing/2014/main" id="{6181B7D3-1231-44CD-880B-11A23D36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78" name="value-bg-4-0">
            <a:extLst xmlns:a="http://schemas.openxmlformats.org/drawingml/2006/main">
              <a:ext uri="{FF2B5EF4-FFF2-40B4-BE49-F238E27FC236}">
                <a16:creationId xmlns:a16="http://schemas.microsoft.com/office/drawing/2014/main" id="{EF4AD7E5-4DA5-4D04-BA19-4941E33E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79" name="value-4-0">
            <a:extLst xmlns:a="http://schemas.openxmlformats.org/drawingml/2006/main">
              <a:ext uri="{FF2B5EF4-FFF2-40B4-BE49-F238E27FC236}">
                <a16:creationId xmlns:a16="http://schemas.microsoft.com/office/drawing/2014/main" id="{993CC4B1-A78A-4FC6-B262-E4F646C3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80" name="label-4-1">
            <a:extLst xmlns:a="http://schemas.openxmlformats.org/drawingml/2006/main">
              <a:ext uri="{FF2B5EF4-FFF2-40B4-BE49-F238E27FC236}">
                <a16:creationId xmlns:a16="http://schemas.microsoft.com/office/drawing/2014/main" id="{A8203AAF-F5FE-421E-96EE-DE79D8DC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81" name="value-bg-4-1">
            <a:extLst xmlns:a="http://schemas.openxmlformats.org/drawingml/2006/main">
              <a:ext uri="{FF2B5EF4-FFF2-40B4-BE49-F238E27FC236}">
                <a16:creationId xmlns:a16="http://schemas.microsoft.com/office/drawing/2014/main" id="{BAB6A112-A544-475B-B42A-EC5C8219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82" name="value-4-1">
            <a:extLst xmlns:a="http://schemas.openxmlformats.org/drawingml/2006/main">
              <a:ext uri="{FF2B5EF4-FFF2-40B4-BE49-F238E27FC236}">
                <a16:creationId xmlns:a16="http://schemas.microsoft.com/office/drawing/2014/main" id="{A5A061C8-FB19-4407-A910-97C86628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83" name="label-4-2">
            <a:extLst xmlns:a="http://schemas.openxmlformats.org/drawingml/2006/main">
              <a:ext uri="{FF2B5EF4-FFF2-40B4-BE49-F238E27FC236}">
                <a16:creationId xmlns:a16="http://schemas.microsoft.com/office/drawing/2014/main" id="{9382E615-E170-4DA6-9146-600CB5F1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84" name="value-bg-4-2">
            <a:extLst xmlns:a="http://schemas.openxmlformats.org/drawingml/2006/main">
              <a:ext uri="{FF2B5EF4-FFF2-40B4-BE49-F238E27FC236}">
                <a16:creationId xmlns:a16="http://schemas.microsoft.com/office/drawing/2014/main" id="{175DC774-80DC-4B0E-953F-0F09D1DC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85" name="value-4-2">
            <a:extLst xmlns:a="http://schemas.openxmlformats.org/drawingml/2006/main">
              <a:ext uri="{FF2B5EF4-FFF2-40B4-BE49-F238E27FC236}">
                <a16:creationId xmlns:a16="http://schemas.microsoft.com/office/drawing/2014/main" id="{22319648-49DE-4C4D-AC27-A5376524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18,688</a:t>
            </a:r>
          </a:p>
        </p:txBody>
      </p:sp>
      <p:sp>
        <p:nvSpPr>
          <p:cNvPr id="86" name="label-4-3">
            <a:extLst xmlns:a="http://schemas.openxmlformats.org/drawingml/2006/main">
              <a:ext uri="{FF2B5EF4-FFF2-40B4-BE49-F238E27FC236}">
                <a16:creationId xmlns:a16="http://schemas.microsoft.com/office/drawing/2014/main" id="{2A51A57E-4DD2-4358-B909-F26497D9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87" name="value-bg-4-3">
            <a:extLst xmlns:a="http://schemas.openxmlformats.org/drawingml/2006/main">
              <a:ext uri="{FF2B5EF4-FFF2-40B4-BE49-F238E27FC236}">
                <a16:creationId xmlns:a16="http://schemas.microsoft.com/office/drawing/2014/main" id="{0398480E-B376-4363-807C-96395194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D38A1C"/>
            </a:solidFill>
            <a:prstDash val="solid"/>
          </a:ln>
        </p:spPr>
      </p:sp>
      <p:sp>
        <p:nvSpPr>
          <p:cNvPr id="88" name="value-4-3">
            <a:extLst xmlns:a="http://schemas.openxmlformats.org/drawingml/2006/main">
              <a:ext uri="{FF2B5EF4-FFF2-40B4-BE49-F238E27FC236}">
                <a16:creationId xmlns:a16="http://schemas.microsoft.com/office/drawing/2014/main" id="{20311355-8164-4EB2-ABC3-6FCA7CB4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38A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38A1C"/>
                </a:solidFill>
                <a:latin typeface="Aptos"/>
                <a:ea typeface="Aptos"/>
                <a:cs typeface="Aptos"/>
              </a:rPr>
              <a:t>$1,214,688</a:t>
            </a:r>
          </a:p>
        </p:txBody>
      </p:sp>
      <p:sp>
        <p:nvSpPr>
          <p:cNvPr id="8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CCD820B-9351-44F0-9EA8-8971E94D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531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Values reproduced exactly from the supplied workbook screenshots.</a:t>
            </a:r>
          </a:p>
        </p:txBody>
      </p:sp>
    </p:spTree>
    <p:extLst>
      <p:ext uri="{BB962C8B-B14F-4D97-AF65-F5344CB8AC3E}">
        <p14:creationId xmlns:p14="http://schemas.microsoft.com/office/powerpoint/2010/main" val="19829096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769cde24840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82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2026-09-10T16:31:17.7960000Z</dcterms:created>
  <dcterms:modified xsi:type="dcterms:W3CDTF">2026-09-10T16:31:17.7960000Z</dcterms:modified>
</coreProperties>
</file>